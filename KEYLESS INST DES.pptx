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ED2_E4163D29.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7" r:id="rId2"/>
    <p:sldId id="262" r:id="rId3"/>
    <p:sldId id="258" r:id="rId4"/>
    <p:sldId id="259" r:id="rId5"/>
    <p:sldId id="3888" r:id="rId6"/>
    <p:sldId id="3916" r:id="rId7"/>
    <p:sldId id="261" r:id="rId8"/>
    <p:sldId id="3887" r:id="rId9"/>
    <p:sldId id="3917" r:id="rId10"/>
    <p:sldId id="3918" r:id="rId11"/>
    <p:sldId id="260" r:id="rId12"/>
    <p:sldId id="3923" r:id="rId13"/>
    <p:sldId id="3889" r:id="rId14"/>
    <p:sldId id="3928" r:id="rId15"/>
    <p:sldId id="1891" r:id="rId16"/>
    <p:sldId id="3929" r:id="rId17"/>
    <p:sldId id="3930" r:id="rId18"/>
    <p:sldId id="3932" r:id="rId19"/>
    <p:sldId id="3933" r:id="rId20"/>
    <p:sldId id="3935" r:id="rId21"/>
    <p:sldId id="1895" r:id="rId22"/>
    <p:sldId id="3794" r:id="rId23"/>
    <p:sldId id="3897" r:id="rId24"/>
    <p:sldId id="3898" r:id="rId25"/>
    <p:sldId id="3890" r:id="rId26"/>
    <p:sldId id="3913" r:id="rId27"/>
    <p:sldId id="3914" r:id="rId28"/>
    <p:sldId id="3915" r:id="rId29"/>
    <p:sldId id="3936" r:id="rId30"/>
    <p:sldId id="3937" r:id="rId31"/>
    <p:sldId id="3938" r:id="rId32"/>
    <p:sldId id="3939" r:id="rId33"/>
    <p:sldId id="3919" r:id="rId34"/>
    <p:sldId id="3920" r:id="rId35"/>
    <p:sldId id="3921" r:id="rId36"/>
    <p:sldId id="3883" r:id="rId37"/>
    <p:sldId id="3877" r:id="rId38"/>
    <p:sldId id="3876" r:id="rId39"/>
    <p:sldId id="3881" r:id="rId40"/>
    <p:sldId id="3891" r:id="rId41"/>
    <p:sldId id="3893" r:id="rId42"/>
    <p:sldId id="3861" r:id="rId43"/>
    <p:sldId id="3922" r:id="rId44"/>
    <p:sldId id="3909" r:id="rId45"/>
    <p:sldId id="3899" r:id="rId46"/>
    <p:sldId id="3882" r:id="rId47"/>
    <p:sldId id="3924" r:id="rId48"/>
    <p:sldId id="3925" r:id="rId49"/>
    <p:sldId id="3926" r:id="rId50"/>
    <p:sldId id="3896" r:id="rId51"/>
    <p:sldId id="2010" r:id="rId52"/>
    <p:sldId id="3948" r:id="rId53"/>
    <p:sldId id="1887" r:id="rId54"/>
    <p:sldId id="3941" r:id="rId55"/>
    <p:sldId id="3942" r:id="rId56"/>
    <p:sldId id="3943" r:id="rId57"/>
    <p:sldId id="3944" r:id="rId58"/>
    <p:sldId id="3945" r:id="rId59"/>
    <p:sldId id="3946" r:id="rId60"/>
    <p:sldId id="3947" r:id="rId61"/>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 Nav" id="{DB13910A-FF22-7F41-9652-C68FC4BD3C7F}">
          <p14:sldIdLst>
            <p14:sldId id="257"/>
            <p14:sldId id="262"/>
            <p14:sldId id="258"/>
          </p14:sldIdLst>
        </p14:section>
        <p14:section name="Keyed Vs Keyless Comparrison" id="{F16131DF-9BA3-3340-BDEB-72F8145FB48A}">
          <p14:sldIdLst>
            <p14:sldId id="259"/>
            <p14:sldId id="3888"/>
            <p14:sldId id="3916"/>
            <p14:sldId id="261"/>
            <p14:sldId id="3887"/>
            <p14:sldId id="3917"/>
            <p14:sldId id="3918"/>
            <p14:sldId id="260"/>
          </p14:sldIdLst>
        </p14:section>
        <p14:section name="Key Type Systems" id="{CEE0A519-2094-7345-897B-E8F7A92D1F06}">
          <p14:sldIdLst>
            <p14:sldId id="3923"/>
            <p14:sldId id="3889"/>
          </p14:sldIdLst>
        </p14:section>
        <p14:section name="Keyless Systems - Key Communication" id="{C8760373-68BE-0E4E-9279-344E4C674555}">
          <p14:sldIdLst>
            <p14:sldId id="3928"/>
            <p14:sldId id="1891"/>
            <p14:sldId id="3929"/>
            <p14:sldId id="3930"/>
            <p14:sldId id="3932"/>
            <p14:sldId id="3933"/>
            <p14:sldId id="3935"/>
            <p14:sldId id="1895"/>
            <p14:sldId id="3794"/>
            <p14:sldId id="3897"/>
          </p14:sldIdLst>
        </p14:section>
        <p14:section name="Key Pairing" id="{C5EE1FD2-1A72-4049-8237-C2FA1772EEC0}">
          <p14:sldIdLst>
            <p14:sldId id="3898"/>
            <p14:sldId id="3890"/>
            <p14:sldId id="3913"/>
            <p14:sldId id="3914"/>
            <p14:sldId id="3915"/>
            <p14:sldId id="3936"/>
            <p14:sldId id="3937"/>
            <p14:sldId id="3938"/>
            <p14:sldId id="3939"/>
          </p14:sldIdLst>
        </p14:section>
        <p14:section name="Immobiliser and Key Diagnostics" id="{5DF929CF-256F-DF44-AF29-A0F364DFD82D}">
          <p14:sldIdLst>
            <p14:sldId id="3919"/>
            <p14:sldId id="3920"/>
            <p14:sldId id="3921"/>
            <p14:sldId id="3883"/>
            <p14:sldId id="3877"/>
            <p14:sldId id="3876"/>
            <p14:sldId id="3881"/>
          </p14:sldIdLst>
        </p14:section>
        <p14:section name="TPMS" id="{137FB87D-7812-8F40-8955-780F60EEC5DB}">
          <p14:sldIdLst>
            <p14:sldId id="3891"/>
            <p14:sldId id="3893"/>
            <p14:sldId id="3861"/>
            <p14:sldId id="3922"/>
            <p14:sldId id="3909"/>
            <p14:sldId id="3899"/>
          </p14:sldIdLst>
        </p14:section>
        <p14:section name="Case Study" id="{52825B8A-FDB2-0547-A19D-ED2AAC32D1A3}">
          <p14:sldIdLst>
            <p14:sldId id="3882"/>
            <p14:sldId id="3924"/>
            <p14:sldId id="3925"/>
            <p14:sldId id="3926"/>
            <p14:sldId id="3896"/>
            <p14:sldId id="2010"/>
          </p14:sldIdLst>
        </p14:section>
        <p14:section name="PDF Reference Questions" id="{3E7253A3-D22E-5F4E-96F0-7CA0B059BE63}">
          <p14:sldIdLst>
            <p14:sldId id="3948"/>
            <p14:sldId id="1887"/>
            <p14:sldId id="3941"/>
            <p14:sldId id="3942"/>
            <p14:sldId id="3943"/>
            <p14:sldId id="3944"/>
            <p14:sldId id="3945"/>
            <p14:sldId id="3946"/>
            <p14:sldId id="39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5823E3-B5EA-E8F7-FA22-A86491C770E8}" name="Ellis Sinclair" initials="ES" userId="S::ellis.sinclair@triumphmotorcycles.com::c2f8d6af-1b96-4bb8-8924-679de1ef183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451"/>
    <p:restoredTop sz="79590"/>
  </p:normalViewPr>
  <p:slideViewPr>
    <p:cSldViewPr snapToGrid="0">
      <p:cViewPr>
        <p:scale>
          <a:sx n="100" d="100"/>
          <a:sy n="100" d="100"/>
        </p:scale>
        <p:origin x="776" y="156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ED2_E4163D29.xml><?xml version="1.0" encoding="utf-8"?>
<p188:cmLst xmlns:a="http://schemas.openxmlformats.org/drawingml/2006/main" xmlns:r="http://schemas.openxmlformats.org/officeDocument/2006/relationships" xmlns:p188="http://schemas.microsoft.com/office/powerpoint/2018/8/main">
  <p188:cm id="{FCCF0CDE-C4D5-4780-B6BB-26D163452C12}" authorId="{A95823E3-B5EA-E8F7-FA22-A86491C770E8}" created="2025-11-27T08:47:20.946">
    <ac:deMkLst xmlns:ac="http://schemas.microsoft.com/office/drawing/2013/main/command">
      <pc:docMk xmlns:pc="http://schemas.microsoft.com/office/powerpoint/2013/main/command"/>
      <pc:sldMk xmlns:pc="http://schemas.microsoft.com/office/powerpoint/2013/main/command" cId="3826662697" sldId="3794"/>
      <ac:picMk id="32" creationId="{00000000-0000-0000-0000-000000000000}"/>
    </ac:deMkLst>
    <p188:txBody>
      <a:bodyPr/>
      <a:lstStyle/>
      <a:p>
        <a:r>
          <a:rPr lang="en-US"/>
          <a:t>not sure what this is .... could replace with power On symbol</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11:22:37.244"/>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68C83-E362-7C4B-8559-6AA9119C96AD}" type="datetimeFigureOut">
              <a:rPr lang="en-IT" smtClean="0"/>
              <a:t>23/06/26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EE8E6-36DD-AA41-8251-AAA9E1AC64BA}" type="slidenum">
              <a:rPr lang="en-IT" smtClean="0"/>
              <a:t>‹#›</a:t>
            </a:fld>
            <a:endParaRPr lang="en-IT"/>
          </a:p>
        </p:txBody>
      </p:sp>
    </p:spTree>
    <p:extLst>
      <p:ext uri="{BB962C8B-B14F-4D97-AF65-F5344CB8AC3E}">
        <p14:creationId xmlns:p14="http://schemas.microsoft.com/office/powerpoint/2010/main" val="3681852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T"/>
          </a:p>
        </p:txBody>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B89EE8E6-36DD-AA41-8251-AAA9E1AC64BA}" type="slidenum">
              <a:rPr lang="en-IT" smtClean="0"/>
              <a:t>7</a:t>
            </a:fld>
            <a:endParaRPr lang="en-IT"/>
          </a:p>
        </p:txBody>
      </p:sp>
    </p:spTree>
    <p:extLst>
      <p:ext uri="{BB962C8B-B14F-4D97-AF65-F5344CB8AC3E}">
        <p14:creationId xmlns:p14="http://schemas.microsoft.com/office/powerpoint/2010/main" val="2660131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T"/>
          </a:p>
        </p:txBody>
      </p:sp>
      <p:sp>
        <p:nvSpPr>
          <p:cNvPr id="3" name="Notes Placeholder 2"/>
          <p:cNvSpPr>
            <a:spLocks noGrp="1"/>
          </p:cNvSpPr>
          <p:nvPr>
            <p:ph type="body" idx="1"/>
          </p:nvPr>
        </p:nvSpPr>
        <p:spPr/>
        <p:txBody>
          <a:bodyPr/>
          <a:lstStyle/>
          <a:p>
            <a:r>
              <a:rPr lang="en-IT" dirty="0"/>
              <a:t>Reveal pairs of options in sequence – learners drop the description into the box they think is correct and hit the validate button. On correct choice the next options appear for the next row – on incorrect they should highlight in some way with an opportunity to try again (I say try, there’s only one other combination possible!) and re-validate.</a:t>
            </a:r>
          </a:p>
        </p:txBody>
      </p:sp>
      <p:sp>
        <p:nvSpPr>
          <p:cNvPr id="4" name="Slide Number Placeholder 3"/>
          <p:cNvSpPr>
            <a:spLocks noGrp="1"/>
          </p:cNvSpPr>
          <p:nvPr>
            <p:ph type="sldNum" sz="quarter" idx="5"/>
          </p:nvPr>
        </p:nvSpPr>
        <p:spPr/>
        <p:txBody>
          <a:bodyPr/>
          <a:lstStyle/>
          <a:p>
            <a:fld id="{B89EE8E6-36DD-AA41-8251-AAA9E1AC64BA}" type="slidenum">
              <a:rPr lang="en-IT" smtClean="0"/>
              <a:t>8</a:t>
            </a:fld>
            <a:endParaRPr lang="en-IT"/>
          </a:p>
        </p:txBody>
      </p:sp>
    </p:spTree>
    <p:extLst>
      <p:ext uri="{BB962C8B-B14F-4D97-AF65-F5344CB8AC3E}">
        <p14:creationId xmlns:p14="http://schemas.microsoft.com/office/powerpoint/2010/main" val="3829913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Random reveals maybe but some of this is crucial grounding – exercise on following slide</a:t>
            </a:r>
          </a:p>
        </p:txBody>
      </p:sp>
      <p:sp>
        <p:nvSpPr>
          <p:cNvPr id="4" name="Slide Number Placeholder 3"/>
          <p:cNvSpPr>
            <a:spLocks noGrp="1"/>
          </p:cNvSpPr>
          <p:nvPr>
            <p:ph type="sldNum" sz="quarter" idx="5"/>
          </p:nvPr>
        </p:nvSpPr>
        <p:spPr/>
        <p:txBody>
          <a:bodyPr/>
          <a:lstStyle/>
          <a:p>
            <a:fld id="{B89EE8E6-36DD-AA41-8251-AAA9E1AC64BA}" type="slidenum">
              <a:rPr lang="en-IT" smtClean="0"/>
              <a:t>9</a:t>
            </a:fld>
            <a:endParaRPr lang="en-IT"/>
          </a:p>
        </p:txBody>
      </p:sp>
    </p:spTree>
    <p:extLst>
      <p:ext uri="{BB962C8B-B14F-4D97-AF65-F5344CB8AC3E}">
        <p14:creationId xmlns:p14="http://schemas.microsoft.com/office/powerpoint/2010/main" val="3103774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Allow several attempts</a:t>
            </a:r>
          </a:p>
          <a:p>
            <a:endParaRPr lang="en-IT" dirty="0"/>
          </a:p>
          <a:p>
            <a:r>
              <a:rPr lang="en-IT" dirty="0"/>
              <a:t>Feedback needs to state “The immobiliser function was only contained within the CCU for early Tiger 1200 models”</a:t>
            </a:r>
          </a:p>
        </p:txBody>
      </p:sp>
      <p:sp>
        <p:nvSpPr>
          <p:cNvPr id="4" name="Slide Number Placeholder 3"/>
          <p:cNvSpPr>
            <a:spLocks noGrp="1"/>
          </p:cNvSpPr>
          <p:nvPr>
            <p:ph type="sldNum" sz="quarter" idx="5"/>
          </p:nvPr>
        </p:nvSpPr>
        <p:spPr/>
        <p:txBody>
          <a:bodyPr/>
          <a:lstStyle/>
          <a:p>
            <a:fld id="{B89EE8E6-36DD-AA41-8251-AAA9E1AC64BA}" type="slidenum">
              <a:rPr lang="en-IT" smtClean="0"/>
              <a:t>10</a:t>
            </a:fld>
            <a:endParaRPr lang="en-IT"/>
          </a:p>
        </p:txBody>
      </p:sp>
    </p:spTree>
    <p:extLst>
      <p:ext uri="{BB962C8B-B14F-4D97-AF65-F5344CB8AC3E}">
        <p14:creationId xmlns:p14="http://schemas.microsoft.com/office/powerpoint/2010/main" val="1621228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T"/>
          </a:p>
        </p:txBody>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B89EE8E6-36DD-AA41-8251-AAA9E1AC64BA}" type="slidenum">
              <a:rPr lang="en-IT" smtClean="0"/>
              <a:t>11</a:t>
            </a:fld>
            <a:endParaRPr lang="en-IT"/>
          </a:p>
        </p:txBody>
      </p:sp>
    </p:spTree>
    <p:extLst>
      <p:ext uri="{BB962C8B-B14F-4D97-AF65-F5344CB8AC3E}">
        <p14:creationId xmlns:p14="http://schemas.microsoft.com/office/powerpoint/2010/main" val="3583465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B89EE8E6-36DD-AA41-8251-AAA9E1AC64BA}" type="slidenum">
              <a:rPr lang="en-IT" smtClean="0"/>
              <a:t>14</a:t>
            </a:fld>
            <a:endParaRPr lang="en-IT"/>
          </a:p>
        </p:txBody>
      </p:sp>
    </p:spTree>
    <p:extLst>
      <p:ext uri="{BB962C8B-B14F-4D97-AF65-F5344CB8AC3E}">
        <p14:creationId xmlns:p14="http://schemas.microsoft.com/office/powerpoint/2010/main" val="3102162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Bits of info</a:t>
            </a:r>
          </a:p>
        </p:txBody>
      </p:sp>
      <p:sp>
        <p:nvSpPr>
          <p:cNvPr id="4" name="Slide Number Placeholder 3"/>
          <p:cNvSpPr>
            <a:spLocks noGrp="1"/>
          </p:cNvSpPr>
          <p:nvPr>
            <p:ph type="sldNum" sz="quarter" idx="5"/>
          </p:nvPr>
        </p:nvSpPr>
        <p:spPr/>
        <p:txBody>
          <a:bodyPr/>
          <a:lstStyle/>
          <a:p>
            <a:fld id="{B89EE8E6-36DD-AA41-8251-AAA9E1AC64BA}" type="slidenum">
              <a:rPr lang="en-IT" smtClean="0"/>
              <a:t>15</a:t>
            </a:fld>
            <a:endParaRPr lang="en-IT"/>
          </a:p>
        </p:txBody>
      </p:sp>
    </p:spTree>
    <p:extLst>
      <p:ext uri="{BB962C8B-B14F-4D97-AF65-F5344CB8AC3E}">
        <p14:creationId xmlns:p14="http://schemas.microsoft.com/office/powerpoint/2010/main" val="2305155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ighlight>
                  <a:srgbClr val="FFFF00"/>
                </a:highlight>
              </a:rPr>
              <a:t>YELLOW - What customer </a:t>
            </a:r>
            <a:r>
              <a:rPr lang="en-GB" dirty="0"/>
              <a:t>perceives as being the </a:t>
            </a:r>
            <a:r>
              <a:rPr lang="en-GB" dirty="0">
                <a:highlight>
                  <a:srgbClr val="FFFF00"/>
                </a:highlight>
              </a:rPr>
              <a:t>state of bike.</a:t>
            </a:r>
          </a:p>
        </p:txBody>
      </p:sp>
      <p:sp>
        <p:nvSpPr>
          <p:cNvPr id="4" name="Slide Number Placeholder 3"/>
          <p:cNvSpPr>
            <a:spLocks noGrp="1"/>
          </p:cNvSpPr>
          <p:nvPr>
            <p:ph type="sldNum" sz="quarter" idx="5"/>
          </p:nvPr>
        </p:nvSpPr>
        <p:spPr/>
        <p:txBody>
          <a:bodyPr/>
          <a:lstStyle/>
          <a:p>
            <a:fld id="{C2E487A9-0061-482D-9381-2C9E80292E7E}" type="slidenum">
              <a:rPr lang="en-GB" smtClean="0"/>
              <a:t>21</a:t>
            </a:fld>
            <a:endParaRPr lang="en-GB"/>
          </a:p>
        </p:txBody>
      </p:sp>
    </p:spTree>
    <p:extLst>
      <p:ext uri="{BB962C8B-B14F-4D97-AF65-F5344CB8AC3E}">
        <p14:creationId xmlns:p14="http://schemas.microsoft.com/office/powerpoint/2010/main" val="296100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the previous</a:t>
            </a:r>
            <a:r>
              <a:rPr lang="en-GB" baseline="0" dirty="0"/>
              <a:t> slide to identify the 8 wake up sequence stages. </a:t>
            </a:r>
          </a:p>
          <a:p>
            <a:r>
              <a:rPr lang="en-GB" b="1" baseline="0" dirty="0"/>
              <a:t>Item 4 Includes instrument wake up.</a:t>
            </a:r>
          </a:p>
          <a:p>
            <a:r>
              <a:rPr lang="en-GB" baseline="0" dirty="0"/>
              <a:t>When KCU wakes the immobiliser light will flash and you will have access to immobiliser diagnostics. </a:t>
            </a:r>
          </a:p>
          <a:p>
            <a:endParaRPr lang="en-GB" baseline="0" dirty="0"/>
          </a:p>
          <a:p>
            <a:r>
              <a:rPr lang="en-GB" baseline="0" dirty="0"/>
              <a:t>‘Play’ this slide in ppt view for best understanding.</a:t>
            </a:r>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C9AEF-663D-4088-BAB7-7BF6E4F0C562}"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21989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B89EE8E6-36DD-AA41-8251-AAA9E1AC64BA}" type="slidenum">
              <a:rPr lang="en-IT" smtClean="0"/>
              <a:t>25</a:t>
            </a:fld>
            <a:endParaRPr lang="en-IT"/>
          </a:p>
        </p:txBody>
      </p:sp>
    </p:spTree>
    <p:extLst>
      <p:ext uri="{BB962C8B-B14F-4D97-AF65-F5344CB8AC3E}">
        <p14:creationId xmlns:p14="http://schemas.microsoft.com/office/powerpoint/2010/main" val="4236763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Suggest we use the whole table here in some way to show the possibilities, but one of them is shown to be the code/cause/solution that the TDT is showing in this example</a:t>
            </a:r>
            <a:endParaRPr lang="en-IT" dirty="0"/>
          </a:p>
        </p:txBody>
      </p:sp>
      <p:sp>
        <p:nvSpPr>
          <p:cNvPr id="4" name="Slide Number Placeholder 3"/>
          <p:cNvSpPr>
            <a:spLocks noGrp="1"/>
          </p:cNvSpPr>
          <p:nvPr>
            <p:ph type="sldNum" sz="quarter" idx="5"/>
          </p:nvPr>
        </p:nvSpPr>
        <p:spPr/>
        <p:txBody>
          <a:bodyPr/>
          <a:lstStyle/>
          <a:p>
            <a:fld id="{B89EE8E6-36DD-AA41-8251-AAA9E1AC64BA}" type="slidenum">
              <a:rPr lang="en-IT" smtClean="0"/>
              <a:t>50</a:t>
            </a:fld>
            <a:endParaRPr lang="en-IT"/>
          </a:p>
        </p:txBody>
      </p:sp>
    </p:spTree>
    <p:extLst>
      <p:ext uri="{BB962C8B-B14F-4D97-AF65-F5344CB8AC3E}">
        <p14:creationId xmlns:p14="http://schemas.microsoft.com/office/powerpoint/2010/main" val="3889113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B050"/>
                </a:solidFill>
                <a:latin typeface="TriumphBrokman" panose="00000500000000000000" pitchFamily="50" charset="0"/>
              </a:rPr>
              <a:t>The old system used to look for the key 10s after pulling away. If it finds it, it will wait 20s before checking again. If it finds it at that time, it will wait 40s…</a:t>
            </a:r>
          </a:p>
          <a:p>
            <a:r>
              <a:rPr lang="en-GB" sz="1200">
                <a:solidFill>
                  <a:srgbClr val="00B050"/>
                </a:solidFill>
                <a:latin typeface="TriumphBrokman" panose="00000500000000000000" pitchFamily="50" charset="0"/>
              </a:rPr>
              <a:t>The duration doubles, up to a limit of 20 mins (1200 seconds).</a:t>
            </a:r>
          </a:p>
          <a:p>
            <a:r>
              <a:rPr lang="en-GB" sz="1200">
                <a:solidFill>
                  <a:srgbClr val="00B050"/>
                </a:solidFill>
                <a:latin typeface="TriumphBrokman" panose="00000500000000000000" pitchFamily="50" charset="0"/>
              </a:rPr>
              <a:t>If the key is ever NOT found, it will keep looking every 10s, if it finds it again the process restarts.</a:t>
            </a:r>
          </a:p>
          <a:p>
            <a:r>
              <a:rPr lang="en-GB" sz="1200">
                <a:solidFill>
                  <a:srgbClr val="00B050"/>
                </a:solidFill>
                <a:latin typeface="TriumphBrokman" panose="00000500000000000000" pitchFamily="50" charset="0"/>
              </a:rPr>
              <a:t>Previously a “missing” key would always be shown for 20 minutes (minimum). Now, the minimum time is 10s.</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C9AEF-663D-4088-BAB7-7BF6E4F0C562}"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43815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69EA2-1CFA-D1A1-DC89-737F5F41F1B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BCF6D6A3-FA77-4875-606D-5A60A29C1B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45C4C10A-DFAB-4D8A-051C-5872D982C441}"/>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5" name="Footer Placeholder 4">
            <a:extLst>
              <a:ext uri="{FF2B5EF4-FFF2-40B4-BE49-F238E27FC236}">
                <a16:creationId xmlns:a16="http://schemas.microsoft.com/office/drawing/2014/main" id="{0CAA0F74-6CDE-F290-28AD-6D29A52A318C}"/>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FA500BDB-92CF-12D8-D535-0D8973E86B16}"/>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309612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378FF-F9AC-5898-E680-473DDA870567}"/>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1E01CAC9-16FE-9390-F2A6-E8AAA14F382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D8E04036-15D6-BFFD-7DC2-DCC04E830B83}"/>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5" name="Footer Placeholder 4">
            <a:extLst>
              <a:ext uri="{FF2B5EF4-FFF2-40B4-BE49-F238E27FC236}">
                <a16:creationId xmlns:a16="http://schemas.microsoft.com/office/drawing/2014/main" id="{84A0E8CD-4949-E8E0-13D5-05BB64D44481}"/>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C117EFC2-418F-3621-9D07-1AF795042C79}"/>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2358421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03192-D5C0-3BB9-E4E6-68782292375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2309C332-3780-6FC3-48D7-6BCB96E23D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FAAC49-772A-666C-EA10-C5619DB4FA55}"/>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5" name="Footer Placeholder 4">
            <a:extLst>
              <a:ext uri="{FF2B5EF4-FFF2-40B4-BE49-F238E27FC236}">
                <a16:creationId xmlns:a16="http://schemas.microsoft.com/office/drawing/2014/main" id="{6A7821D2-FB0C-7445-C369-880B3640ECFF}"/>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254D68B6-7653-2899-A091-6E4F429666A8}"/>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2424030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E1EFA-7206-94E1-2AAA-1BB290D065AF}"/>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0FD78346-E539-63B8-3A69-6F4E8168B0F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E1E00DD9-2851-7043-FB4A-673E7E40049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3E8F1837-58BE-FE8B-7D99-AD3170EF00AC}"/>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6" name="Footer Placeholder 5">
            <a:extLst>
              <a:ext uri="{FF2B5EF4-FFF2-40B4-BE49-F238E27FC236}">
                <a16:creationId xmlns:a16="http://schemas.microsoft.com/office/drawing/2014/main" id="{3A2AC9B9-1DE9-9B0F-16A3-CC043060E572}"/>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30491C0B-D5C6-35B0-143E-CDB6A3AFCD58}"/>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4179830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07991-ECEC-FF8B-0816-D1824DAB821F}"/>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E336175C-9950-94F3-A37F-30D2F083AF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91723AC-953D-F3AA-ACC9-07D8CF4B15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912C6536-7FDA-D2EE-31C3-EBAE643421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634643-7BA3-5B22-87C0-0AE809B9A3B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6902788A-111C-117A-5F0A-9C128940BACD}"/>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8" name="Footer Placeholder 7">
            <a:extLst>
              <a:ext uri="{FF2B5EF4-FFF2-40B4-BE49-F238E27FC236}">
                <a16:creationId xmlns:a16="http://schemas.microsoft.com/office/drawing/2014/main" id="{FF10CDA4-4AD1-78B6-6F2A-96C2C5FAB5ED}"/>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F72F6206-44CD-5C82-0CDB-4F6E358DE1CF}"/>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1679378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0D868-606C-E968-25D4-5B66DB46B343}"/>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A96F2FBB-83A4-5732-1848-F6C06FAB8C10}"/>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4" name="Footer Placeholder 3">
            <a:extLst>
              <a:ext uri="{FF2B5EF4-FFF2-40B4-BE49-F238E27FC236}">
                <a16:creationId xmlns:a16="http://schemas.microsoft.com/office/drawing/2014/main" id="{DF3B3F0E-85FD-125A-AEFC-7335A0B48540}"/>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FF46E7D2-2BDE-C209-471F-F54A967A1559}"/>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249208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2DBF3A-048A-BA2A-F119-6BAA7B1E52DE}"/>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3" name="Footer Placeholder 2">
            <a:extLst>
              <a:ext uri="{FF2B5EF4-FFF2-40B4-BE49-F238E27FC236}">
                <a16:creationId xmlns:a16="http://schemas.microsoft.com/office/drawing/2014/main" id="{F8892B25-3223-3F02-0FAF-6D40D362B1E7}"/>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A0D2AAB0-256E-ACC6-DB0C-FD38CDEEAE8E}"/>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410955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B4FD-85C6-2511-BDA9-380E7C6BBF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E634518D-9FD9-6709-27C8-B185DC53BB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79F06789-2332-BCD5-39E1-EFB3BE5E20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56BCC7-3029-477F-B9F2-DDCDAB150DB9}"/>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6" name="Footer Placeholder 5">
            <a:extLst>
              <a:ext uri="{FF2B5EF4-FFF2-40B4-BE49-F238E27FC236}">
                <a16:creationId xmlns:a16="http://schemas.microsoft.com/office/drawing/2014/main" id="{56B95CD5-76DD-BDE8-6173-7A02AF14D585}"/>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6C18616B-13D1-AA60-6792-DAA89D6AFF78}"/>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216192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1E29B-63CD-8C6A-22D4-9B9B73DF7DB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B360A689-648F-AB2B-D596-B61FF68746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64AB48BD-5DAC-C98A-2E27-A8D4881D8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F1BFAF0-98FA-550C-5462-C928382EE09F}"/>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6" name="Footer Placeholder 5">
            <a:extLst>
              <a:ext uri="{FF2B5EF4-FFF2-40B4-BE49-F238E27FC236}">
                <a16:creationId xmlns:a16="http://schemas.microsoft.com/office/drawing/2014/main" id="{5326E09B-558E-E004-1F57-9443B50F8ABE}"/>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4B0A816D-6B7F-11AC-DD4C-CCBE29DBCDE3}"/>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331418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8683F-4282-328C-56FA-C16468D99FA1}"/>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F9EECFAE-71E8-0B05-D7F7-B73E554EF3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6E52FE40-567A-C843-1BD1-72A317BA32D0}"/>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5" name="Footer Placeholder 4">
            <a:extLst>
              <a:ext uri="{FF2B5EF4-FFF2-40B4-BE49-F238E27FC236}">
                <a16:creationId xmlns:a16="http://schemas.microsoft.com/office/drawing/2014/main" id="{19C062B1-5645-B7CC-3F57-A74177774F85}"/>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754628A6-D006-0049-DEC2-762B954FFC9E}"/>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2854709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DC6315-0E0B-14AF-EAD3-1BAA25C1498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6FF63537-7F6B-6A6D-727A-9014ABE1EE6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63B34CE7-D4AD-53E3-30A8-EDBABAF3A01A}"/>
              </a:ext>
            </a:extLst>
          </p:cNvPr>
          <p:cNvSpPr>
            <a:spLocks noGrp="1"/>
          </p:cNvSpPr>
          <p:nvPr>
            <p:ph type="dt" sz="half" idx="10"/>
          </p:nvPr>
        </p:nvSpPr>
        <p:spPr/>
        <p:txBody>
          <a:bodyPr/>
          <a:lstStyle/>
          <a:p>
            <a:fld id="{03727940-3586-6B4F-B6DB-8B8216171C6A}" type="datetimeFigureOut">
              <a:rPr lang="en-IT" smtClean="0"/>
              <a:t>23/06/26</a:t>
            </a:fld>
            <a:endParaRPr lang="en-IT"/>
          </a:p>
        </p:txBody>
      </p:sp>
      <p:sp>
        <p:nvSpPr>
          <p:cNvPr id="5" name="Footer Placeholder 4">
            <a:extLst>
              <a:ext uri="{FF2B5EF4-FFF2-40B4-BE49-F238E27FC236}">
                <a16:creationId xmlns:a16="http://schemas.microsoft.com/office/drawing/2014/main" id="{A10687F2-A9E8-6E90-96EB-CEBCB5A475EF}"/>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5D0300EA-D93B-C005-48EA-AFD9FEEB73AE}"/>
              </a:ext>
            </a:extLst>
          </p:cNvPr>
          <p:cNvSpPr>
            <a:spLocks noGrp="1"/>
          </p:cNvSpPr>
          <p:nvPr>
            <p:ph type="sldNum" sz="quarter" idx="12"/>
          </p:nvPr>
        </p:nvSpPr>
        <p:spPr/>
        <p:txBody>
          <a:bodyPr/>
          <a:lstStyle/>
          <a:p>
            <a:fld id="{216936F1-BDE3-5F48-B32A-CBFE7FBBE061}" type="slidenum">
              <a:rPr lang="en-IT" smtClean="0"/>
              <a:t>‹#›</a:t>
            </a:fld>
            <a:endParaRPr lang="en-IT"/>
          </a:p>
        </p:txBody>
      </p:sp>
    </p:spTree>
    <p:extLst>
      <p:ext uri="{BB962C8B-B14F-4D97-AF65-F5344CB8AC3E}">
        <p14:creationId xmlns:p14="http://schemas.microsoft.com/office/powerpoint/2010/main" val="2895980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5D8F33-C03F-96CA-B806-8E0EFE10C4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74936074-2299-A426-B61D-5FA4F5B4E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9A8AAC9-08D2-0A8A-D951-FA9C5FDF42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727940-3586-6B4F-B6DB-8B8216171C6A}" type="datetimeFigureOut">
              <a:rPr lang="en-IT" smtClean="0"/>
              <a:t>23/06/26</a:t>
            </a:fld>
            <a:endParaRPr lang="en-IT"/>
          </a:p>
        </p:txBody>
      </p:sp>
      <p:sp>
        <p:nvSpPr>
          <p:cNvPr id="5" name="Footer Placeholder 4">
            <a:extLst>
              <a:ext uri="{FF2B5EF4-FFF2-40B4-BE49-F238E27FC236}">
                <a16:creationId xmlns:a16="http://schemas.microsoft.com/office/drawing/2014/main" id="{164AD07B-5D9B-A42F-EA5C-670C3236F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6C51D8AD-CFE5-2942-DFD5-CEDF650C0B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6936F1-BDE3-5F48-B32A-CBFE7FBBE061}" type="slidenum">
              <a:rPr lang="en-IT" smtClean="0"/>
              <a:t>‹#›</a:t>
            </a:fld>
            <a:endParaRPr lang="en-IT"/>
          </a:p>
        </p:txBody>
      </p:sp>
    </p:spTree>
    <p:extLst>
      <p:ext uri="{BB962C8B-B14F-4D97-AF65-F5344CB8AC3E}">
        <p14:creationId xmlns:p14="http://schemas.microsoft.com/office/powerpoint/2010/main" val="221257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18/10/relationships/comments" Target="../comments/modernComment_ED2_E4163D29.xml"/><Relationship Id="rId7"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60.png"/><Relationship Id="rId4" Type="http://schemas.openxmlformats.org/officeDocument/2006/relationships/customXml" Target="../ink/ink1.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EA95-F1CF-B27C-DA40-2567D7B5A4D6}"/>
              </a:ext>
            </a:extLst>
          </p:cNvPr>
          <p:cNvSpPr>
            <a:spLocks noGrp="1"/>
          </p:cNvSpPr>
          <p:nvPr>
            <p:ph type="title"/>
          </p:nvPr>
        </p:nvSpPr>
        <p:spPr/>
        <p:txBody>
          <a:bodyPr/>
          <a:lstStyle/>
          <a:p>
            <a:r>
              <a:rPr lang="en-IT" dirty="0"/>
              <a:t>Introduction and Welcome</a:t>
            </a:r>
          </a:p>
        </p:txBody>
      </p:sp>
      <p:sp>
        <p:nvSpPr>
          <p:cNvPr id="3" name="Content Placeholder 2">
            <a:extLst>
              <a:ext uri="{FF2B5EF4-FFF2-40B4-BE49-F238E27FC236}">
                <a16:creationId xmlns:a16="http://schemas.microsoft.com/office/drawing/2014/main" id="{68CA5721-CA1C-11BD-9198-54DCE1F7C041}"/>
              </a:ext>
            </a:extLst>
          </p:cNvPr>
          <p:cNvSpPr>
            <a:spLocks noGrp="1"/>
          </p:cNvSpPr>
          <p:nvPr>
            <p:ph idx="1"/>
          </p:nvPr>
        </p:nvSpPr>
        <p:spPr/>
        <p:txBody>
          <a:bodyPr/>
          <a:lstStyle/>
          <a:p>
            <a:r>
              <a:rPr lang="en-IT" dirty="0"/>
              <a:t>What the course aims to do (next slide)</a:t>
            </a:r>
          </a:p>
          <a:p>
            <a:r>
              <a:rPr lang="en-IT" dirty="0"/>
              <a:t>Link to supporting PDF</a:t>
            </a:r>
          </a:p>
          <a:p>
            <a:r>
              <a:rPr lang="en-IT" dirty="0"/>
              <a:t>Reference the TDT guide and the specific SSMs on TOL</a:t>
            </a:r>
          </a:p>
        </p:txBody>
      </p:sp>
    </p:spTree>
    <p:extLst>
      <p:ext uri="{BB962C8B-B14F-4D97-AF65-F5344CB8AC3E}">
        <p14:creationId xmlns:p14="http://schemas.microsoft.com/office/powerpoint/2010/main" val="1990187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2460A-5026-B5E3-7BAE-96252316F6F7}"/>
              </a:ext>
            </a:extLst>
          </p:cNvPr>
          <p:cNvSpPr>
            <a:spLocks noGrp="1"/>
          </p:cNvSpPr>
          <p:nvPr>
            <p:ph type="title"/>
          </p:nvPr>
        </p:nvSpPr>
        <p:spPr/>
        <p:txBody>
          <a:bodyPr/>
          <a:lstStyle/>
          <a:p>
            <a:r>
              <a:rPr lang="en-IT" dirty="0"/>
              <a:t>Intro text</a:t>
            </a:r>
          </a:p>
        </p:txBody>
      </p:sp>
      <p:sp>
        <p:nvSpPr>
          <p:cNvPr id="3" name="Content Placeholder 2">
            <a:extLst>
              <a:ext uri="{FF2B5EF4-FFF2-40B4-BE49-F238E27FC236}">
                <a16:creationId xmlns:a16="http://schemas.microsoft.com/office/drawing/2014/main" id="{45AF53E1-F07C-8B26-144F-AB08777ACA19}"/>
              </a:ext>
            </a:extLst>
          </p:cNvPr>
          <p:cNvSpPr>
            <a:spLocks noGrp="1"/>
          </p:cNvSpPr>
          <p:nvPr>
            <p:ph idx="1"/>
          </p:nvPr>
        </p:nvSpPr>
        <p:spPr/>
        <p:txBody>
          <a:bodyPr/>
          <a:lstStyle/>
          <a:p>
            <a:pPr marL="0" indent="0">
              <a:buNone/>
            </a:pPr>
            <a:r>
              <a:rPr lang="en-GB" dirty="0"/>
              <a:t>The purpose of this eLearning course is to give a more detailed insight into both key and keyless immobiliser systems that Triumph motorcycles use .  For a more general appreciation of the Triumph Diagnostic Tool and user instructions relating to these systems, technicians are recommended to refer to the diagnostic tool user guide that can be found on Triumph Online (TOL)  Service and Technical section .</a:t>
            </a:r>
          </a:p>
          <a:p>
            <a:pPr marL="0" indent="0">
              <a:buNone/>
            </a:pPr>
            <a:endParaRPr lang="en-IT" dirty="0"/>
          </a:p>
        </p:txBody>
      </p:sp>
    </p:spTree>
    <p:extLst>
      <p:ext uri="{BB962C8B-B14F-4D97-AF65-F5344CB8AC3E}">
        <p14:creationId xmlns:p14="http://schemas.microsoft.com/office/powerpoint/2010/main" val="1207984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803A9-A89E-BBF7-B320-D1C4C00E8D6E}"/>
              </a:ext>
            </a:extLst>
          </p:cNvPr>
          <p:cNvSpPr>
            <a:spLocks noGrp="1"/>
          </p:cNvSpPr>
          <p:nvPr>
            <p:ph type="title"/>
          </p:nvPr>
        </p:nvSpPr>
        <p:spPr/>
        <p:txBody>
          <a:bodyPr/>
          <a:lstStyle/>
          <a:p>
            <a:r>
              <a:rPr lang="en-IT" dirty="0"/>
              <a:t>Navigation</a:t>
            </a:r>
          </a:p>
        </p:txBody>
      </p:sp>
      <p:sp>
        <p:nvSpPr>
          <p:cNvPr id="3" name="Content Placeholder 2">
            <a:extLst>
              <a:ext uri="{FF2B5EF4-FFF2-40B4-BE49-F238E27FC236}">
                <a16:creationId xmlns:a16="http://schemas.microsoft.com/office/drawing/2014/main" id="{D8CCAF64-81C5-998C-8891-631F3521C7CE}"/>
              </a:ext>
            </a:extLst>
          </p:cNvPr>
          <p:cNvSpPr>
            <a:spLocks noGrp="1"/>
          </p:cNvSpPr>
          <p:nvPr>
            <p:ph idx="1"/>
          </p:nvPr>
        </p:nvSpPr>
        <p:spPr/>
        <p:txBody>
          <a:bodyPr/>
          <a:lstStyle/>
          <a:p>
            <a:r>
              <a:rPr lang="en-IT" dirty="0"/>
              <a:t>Links to each section – becoming available to open in sequence so jumping back is possible, but not skipping forward.</a:t>
            </a:r>
          </a:p>
        </p:txBody>
      </p:sp>
    </p:spTree>
    <p:extLst>
      <p:ext uri="{BB962C8B-B14F-4D97-AF65-F5344CB8AC3E}">
        <p14:creationId xmlns:p14="http://schemas.microsoft.com/office/powerpoint/2010/main" val="3175074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C0A3-DAFC-CA39-D631-8C20ABCA6BCB}"/>
              </a:ext>
            </a:extLst>
          </p:cNvPr>
          <p:cNvSpPr>
            <a:spLocks noGrp="1"/>
          </p:cNvSpPr>
          <p:nvPr>
            <p:ph type="title"/>
          </p:nvPr>
        </p:nvSpPr>
        <p:spPr/>
        <p:txBody>
          <a:bodyPr/>
          <a:lstStyle/>
          <a:p>
            <a:r>
              <a:rPr lang="en-IT" dirty="0"/>
              <a:t>Key vs Keyless Immobiliser Comparrison</a:t>
            </a:r>
          </a:p>
        </p:txBody>
      </p:sp>
      <p:sp>
        <p:nvSpPr>
          <p:cNvPr id="3" name="Content Placeholder 2">
            <a:extLst>
              <a:ext uri="{FF2B5EF4-FFF2-40B4-BE49-F238E27FC236}">
                <a16:creationId xmlns:a16="http://schemas.microsoft.com/office/drawing/2014/main" id="{8B97FBE6-C7AA-BD33-D46C-734C34B7F3DF}"/>
              </a:ext>
            </a:extLst>
          </p:cNvPr>
          <p:cNvSpPr>
            <a:spLocks noGrp="1"/>
          </p:cNvSpPr>
          <p:nvPr>
            <p:ph idx="1"/>
          </p:nvPr>
        </p:nvSpPr>
        <p:spPr/>
        <p:txBody>
          <a:bodyPr/>
          <a:lstStyle/>
          <a:p>
            <a:r>
              <a:rPr lang="en-IT" dirty="0"/>
              <a:t>In this section we will compare the two types of security system in general terms. </a:t>
            </a:r>
          </a:p>
          <a:p>
            <a:r>
              <a:rPr lang="en-IT" dirty="0"/>
              <a:t>While this will concern the two basic types it should be remembered that there are in fact four different approaches that have been, or are currently, used on Triumph motorcycles</a:t>
            </a:r>
          </a:p>
          <a:p>
            <a:r>
              <a:rPr lang="en-IT" dirty="0"/>
              <a:t>In each case the technician should remember that the customer experience of these systems is one of turning on and starting the motorcycle, but there is a complex security system behind the user interface.</a:t>
            </a:r>
          </a:p>
        </p:txBody>
      </p:sp>
    </p:spTree>
    <p:extLst>
      <p:ext uri="{BB962C8B-B14F-4D97-AF65-F5344CB8AC3E}">
        <p14:creationId xmlns:p14="http://schemas.microsoft.com/office/powerpoint/2010/main" val="3345181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60FC-7668-507C-49AE-64C817FBC107}"/>
              </a:ext>
            </a:extLst>
          </p:cNvPr>
          <p:cNvSpPr>
            <a:spLocks noGrp="1"/>
          </p:cNvSpPr>
          <p:nvPr>
            <p:ph type="title"/>
          </p:nvPr>
        </p:nvSpPr>
        <p:spPr/>
        <p:txBody>
          <a:bodyPr/>
          <a:lstStyle/>
          <a:p>
            <a:r>
              <a:rPr lang="en-IT" dirty="0"/>
              <a:t>Similarities of Key and Keyless Immobiliser</a:t>
            </a:r>
          </a:p>
        </p:txBody>
      </p:sp>
      <p:sp>
        <p:nvSpPr>
          <p:cNvPr id="5" name="Content Placeholder 4">
            <a:extLst>
              <a:ext uri="{FF2B5EF4-FFF2-40B4-BE49-F238E27FC236}">
                <a16:creationId xmlns:a16="http://schemas.microsoft.com/office/drawing/2014/main" id="{239800B4-C600-B4F0-FB94-814A36257CD8}"/>
              </a:ext>
            </a:extLst>
          </p:cNvPr>
          <p:cNvSpPr>
            <a:spLocks noGrp="1"/>
          </p:cNvSpPr>
          <p:nvPr>
            <p:ph idx="1"/>
          </p:nvPr>
        </p:nvSpPr>
        <p:spPr/>
        <p:txBody>
          <a:bodyPr/>
          <a:lstStyle/>
          <a:p>
            <a:r>
              <a:rPr lang="en-IT" dirty="0"/>
              <a:t>They are both means to isolate enge run/start in the event of a theft attempt</a:t>
            </a:r>
          </a:p>
          <a:p>
            <a:r>
              <a:rPr lang="en-IT" dirty="0"/>
              <a:t>Both include a mechanical steering lock function</a:t>
            </a:r>
          </a:p>
          <a:p>
            <a:r>
              <a:rPr lang="en-IT" dirty="0"/>
              <a:t>Both contain the TPMS systems (where fitted as an option)</a:t>
            </a:r>
          </a:p>
          <a:p>
            <a:endParaRPr lang="en-IT" dirty="0"/>
          </a:p>
        </p:txBody>
      </p:sp>
    </p:spTree>
    <p:extLst>
      <p:ext uri="{BB962C8B-B14F-4D97-AF65-F5344CB8AC3E}">
        <p14:creationId xmlns:p14="http://schemas.microsoft.com/office/powerpoint/2010/main" val="293265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63CBD-B21D-4046-55D5-55BD1B837E87}"/>
              </a:ext>
            </a:extLst>
          </p:cNvPr>
          <p:cNvSpPr>
            <a:spLocks noGrp="1"/>
          </p:cNvSpPr>
          <p:nvPr>
            <p:ph type="title"/>
          </p:nvPr>
        </p:nvSpPr>
        <p:spPr/>
        <p:txBody>
          <a:bodyPr/>
          <a:lstStyle/>
          <a:p>
            <a:r>
              <a:rPr lang="en-IT" dirty="0"/>
              <a:t>There are 4 types of immobiliser system used across the model range</a:t>
            </a:r>
          </a:p>
        </p:txBody>
      </p:sp>
      <p:graphicFrame>
        <p:nvGraphicFramePr>
          <p:cNvPr id="6" name="Table 5">
            <a:extLst>
              <a:ext uri="{FF2B5EF4-FFF2-40B4-BE49-F238E27FC236}">
                <a16:creationId xmlns:a16="http://schemas.microsoft.com/office/drawing/2014/main" id="{C6B04A89-2F0F-6F23-C030-630755BE5D09}"/>
              </a:ext>
            </a:extLst>
          </p:cNvPr>
          <p:cNvGraphicFramePr>
            <a:graphicFrameLocks noGrp="1"/>
          </p:cNvGraphicFramePr>
          <p:nvPr/>
        </p:nvGraphicFramePr>
        <p:xfrm>
          <a:off x="838200" y="3690495"/>
          <a:ext cx="10515600" cy="1854200"/>
        </p:xfrm>
        <a:graphic>
          <a:graphicData uri="http://schemas.openxmlformats.org/drawingml/2006/table">
            <a:tbl>
              <a:tblPr>
                <a:tableStyleId>{5C22544A-7EE6-4342-B048-85BDC9FD1C3A}</a:tableStyleId>
              </a:tblPr>
              <a:tblGrid>
                <a:gridCol w="4491446">
                  <a:extLst>
                    <a:ext uri="{9D8B030D-6E8A-4147-A177-3AD203B41FA5}">
                      <a16:colId xmlns:a16="http://schemas.microsoft.com/office/drawing/2014/main" val="238856077"/>
                    </a:ext>
                  </a:extLst>
                </a:gridCol>
                <a:gridCol w="1567543">
                  <a:extLst>
                    <a:ext uri="{9D8B030D-6E8A-4147-A177-3AD203B41FA5}">
                      <a16:colId xmlns:a16="http://schemas.microsoft.com/office/drawing/2014/main" val="1091395614"/>
                    </a:ext>
                  </a:extLst>
                </a:gridCol>
                <a:gridCol w="4456611">
                  <a:extLst>
                    <a:ext uri="{9D8B030D-6E8A-4147-A177-3AD203B41FA5}">
                      <a16:colId xmlns:a16="http://schemas.microsoft.com/office/drawing/2014/main" val="1175589125"/>
                    </a:ext>
                  </a:extLst>
                </a:gridCol>
              </a:tblGrid>
              <a:tr h="370840">
                <a:tc>
                  <a:txBody>
                    <a:bodyPr/>
                    <a:lstStyle/>
                    <a:p>
                      <a:r>
                        <a:rPr lang="en-IT" b="1" dirty="0"/>
                        <a:t>Immobiliser Function Location</a:t>
                      </a:r>
                    </a:p>
                  </a:txBody>
                  <a:tcPr/>
                </a:tc>
                <a:tc>
                  <a:txBody>
                    <a:bodyPr/>
                    <a:lstStyle/>
                    <a:p>
                      <a:r>
                        <a:rPr lang="en-IT" b="1" dirty="0"/>
                        <a:t>Key/Keyless</a:t>
                      </a:r>
                    </a:p>
                  </a:txBody>
                  <a:tcPr/>
                </a:tc>
                <a:tc>
                  <a:txBody>
                    <a:bodyPr/>
                    <a:lstStyle/>
                    <a:p>
                      <a:r>
                        <a:rPr lang="en-IT" b="1" dirty="0"/>
                        <a:t>Example Models</a:t>
                      </a:r>
                    </a:p>
                  </a:txBody>
                  <a:tcPr/>
                </a:tc>
                <a:extLst>
                  <a:ext uri="{0D108BD9-81ED-4DB2-BD59-A6C34878D82A}">
                    <a16:rowId xmlns:a16="http://schemas.microsoft.com/office/drawing/2014/main" val="2854014820"/>
                  </a:ext>
                </a:extLst>
              </a:tr>
              <a:tr h="370840">
                <a:tc>
                  <a:txBody>
                    <a:bodyPr/>
                    <a:lstStyle/>
                    <a:p>
                      <a:r>
                        <a:rPr lang="en-IT" dirty="0"/>
                        <a:t>RCU (Receiver Control Unit)</a:t>
                      </a:r>
                    </a:p>
                  </a:txBody>
                  <a:tcPr/>
                </a:tc>
                <a:tc>
                  <a:txBody>
                    <a:bodyPr/>
                    <a:lstStyle/>
                    <a:p>
                      <a:r>
                        <a:rPr lang="en-IT" dirty="0"/>
                        <a:t>Key</a:t>
                      </a:r>
                    </a:p>
                  </a:txBody>
                  <a:tcPr/>
                </a:tc>
                <a:tc>
                  <a:txBody>
                    <a:bodyPr/>
                    <a:lstStyle/>
                    <a:p>
                      <a:r>
                        <a:rPr lang="en-IT" dirty="0"/>
                        <a:t>Keyed immobiliser models (not 400cc)</a:t>
                      </a:r>
                    </a:p>
                  </a:txBody>
                  <a:tcPr/>
                </a:tc>
                <a:extLst>
                  <a:ext uri="{0D108BD9-81ED-4DB2-BD59-A6C34878D82A}">
                    <a16:rowId xmlns:a16="http://schemas.microsoft.com/office/drawing/2014/main" val="964102010"/>
                  </a:ext>
                </a:extLst>
              </a:tr>
              <a:tr h="370840">
                <a:tc>
                  <a:txBody>
                    <a:bodyPr/>
                    <a:lstStyle/>
                    <a:p>
                      <a:r>
                        <a:rPr lang="en-IT" dirty="0"/>
                        <a:t>CCU (Chassis Control Unit)</a:t>
                      </a:r>
                    </a:p>
                  </a:txBody>
                  <a:tcPr/>
                </a:tc>
                <a:tc>
                  <a:txBody>
                    <a:bodyPr/>
                    <a:lstStyle/>
                    <a:p>
                      <a:r>
                        <a:rPr lang="en-IT" dirty="0"/>
                        <a:t>Keyless</a:t>
                      </a:r>
                    </a:p>
                  </a:txBody>
                  <a:tcPr/>
                </a:tc>
                <a:tc>
                  <a:txBody>
                    <a:bodyPr/>
                    <a:lstStyle/>
                    <a:p>
                      <a:r>
                        <a:rPr lang="en-IT" dirty="0"/>
                        <a:t>Early Tiger Models only</a:t>
                      </a:r>
                    </a:p>
                  </a:txBody>
                  <a:tcPr/>
                </a:tc>
                <a:extLst>
                  <a:ext uri="{0D108BD9-81ED-4DB2-BD59-A6C34878D82A}">
                    <a16:rowId xmlns:a16="http://schemas.microsoft.com/office/drawing/2014/main" val="3017081619"/>
                  </a:ext>
                </a:extLst>
              </a:tr>
              <a:tr h="370840">
                <a:tc>
                  <a:txBody>
                    <a:bodyPr/>
                    <a:lstStyle/>
                    <a:p>
                      <a:r>
                        <a:rPr lang="en-IT" dirty="0"/>
                        <a:t>KCU (Keyless Control Unit)</a:t>
                      </a:r>
                    </a:p>
                  </a:txBody>
                  <a:tcPr/>
                </a:tc>
                <a:tc>
                  <a:txBody>
                    <a:bodyPr/>
                    <a:lstStyle/>
                    <a:p>
                      <a:r>
                        <a:rPr lang="en-IT" dirty="0"/>
                        <a:t>Keyless</a:t>
                      </a:r>
                    </a:p>
                  </a:txBody>
                  <a:tcPr/>
                </a:tc>
                <a:tc>
                  <a:txBody>
                    <a:bodyPr/>
                    <a:lstStyle/>
                    <a:p>
                      <a:r>
                        <a:rPr lang="en-IT" dirty="0"/>
                        <a:t>All other keyless models</a:t>
                      </a:r>
                    </a:p>
                  </a:txBody>
                  <a:tcPr/>
                </a:tc>
                <a:extLst>
                  <a:ext uri="{0D108BD9-81ED-4DB2-BD59-A6C34878D82A}">
                    <a16:rowId xmlns:a16="http://schemas.microsoft.com/office/drawing/2014/main" val="3085402567"/>
                  </a:ext>
                </a:extLst>
              </a:tr>
              <a:tr h="370840">
                <a:tc>
                  <a:txBody>
                    <a:bodyPr/>
                    <a:lstStyle/>
                    <a:p>
                      <a:r>
                        <a:rPr lang="en-IT" dirty="0"/>
                        <a:t>Immobiliser</a:t>
                      </a:r>
                    </a:p>
                  </a:txBody>
                  <a:tcPr/>
                </a:tc>
                <a:tc>
                  <a:txBody>
                    <a:bodyPr/>
                    <a:lstStyle/>
                    <a:p>
                      <a:r>
                        <a:rPr lang="en-IT" dirty="0"/>
                        <a:t>Key</a:t>
                      </a:r>
                    </a:p>
                  </a:txBody>
                  <a:tcPr/>
                </a:tc>
                <a:tc>
                  <a:txBody>
                    <a:bodyPr/>
                    <a:lstStyle/>
                    <a:p>
                      <a:r>
                        <a:rPr lang="en-IT" dirty="0"/>
                        <a:t>400cc models</a:t>
                      </a:r>
                    </a:p>
                  </a:txBody>
                  <a:tcPr/>
                </a:tc>
                <a:extLst>
                  <a:ext uri="{0D108BD9-81ED-4DB2-BD59-A6C34878D82A}">
                    <a16:rowId xmlns:a16="http://schemas.microsoft.com/office/drawing/2014/main" val="3076653577"/>
                  </a:ext>
                </a:extLst>
              </a:tr>
            </a:tbl>
          </a:graphicData>
        </a:graphic>
      </p:graphicFrame>
      <p:sp>
        <p:nvSpPr>
          <p:cNvPr id="3" name="TextBox 2">
            <a:extLst>
              <a:ext uri="{FF2B5EF4-FFF2-40B4-BE49-F238E27FC236}">
                <a16:creationId xmlns:a16="http://schemas.microsoft.com/office/drawing/2014/main" id="{6EA58312-2FD7-1C82-9607-DAE744CCA000}"/>
              </a:ext>
            </a:extLst>
          </p:cNvPr>
          <p:cNvSpPr txBox="1"/>
          <p:nvPr/>
        </p:nvSpPr>
        <p:spPr>
          <a:xfrm>
            <a:off x="1332411" y="2377440"/>
            <a:ext cx="1494320" cy="369332"/>
          </a:xfrm>
          <a:prstGeom prst="rect">
            <a:avLst/>
          </a:prstGeom>
          <a:noFill/>
        </p:spPr>
        <p:txBody>
          <a:bodyPr wrap="none" rtlCol="0">
            <a:spAutoFit/>
          </a:bodyPr>
          <a:lstStyle/>
          <a:p>
            <a:r>
              <a:rPr lang="en-IT" dirty="0"/>
              <a:t>Comment…?</a:t>
            </a:r>
          </a:p>
        </p:txBody>
      </p:sp>
    </p:spTree>
    <p:extLst>
      <p:ext uri="{BB962C8B-B14F-4D97-AF65-F5344CB8AC3E}">
        <p14:creationId xmlns:p14="http://schemas.microsoft.com/office/powerpoint/2010/main" val="3251150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B3B3F-790C-A409-29AF-0C8506A06490}"/>
              </a:ext>
            </a:extLst>
          </p:cNvPr>
          <p:cNvSpPr>
            <a:spLocks noGrp="1"/>
          </p:cNvSpPr>
          <p:nvPr>
            <p:ph sz="half" idx="1"/>
          </p:nvPr>
        </p:nvSpPr>
        <p:spPr>
          <a:xfrm>
            <a:off x="838199" y="1829209"/>
            <a:ext cx="5181600" cy="4765766"/>
          </a:xfrm>
        </p:spPr>
        <p:txBody>
          <a:bodyPr>
            <a:normAutofit fontScale="70000" lnSpcReduction="20000"/>
          </a:bodyPr>
          <a:lstStyle/>
          <a:p>
            <a:pPr marL="0" indent="0">
              <a:buNone/>
            </a:pPr>
            <a:r>
              <a:rPr lang="en-GB" dirty="0"/>
              <a:t>KEY System – </a:t>
            </a:r>
          </a:p>
          <a:p>
            <a:r>
              <a:rPr lang="en-GB" dirty="0"/>
              <a:t>In a traditional key-operated motorcycle ignition system, the rider inserts a physical key into the ignition slot. </a:t>
            </a:r>
          </a:p>
          <a:p>
            <a:r>
              <a:rPr lang="en-GB" dirty="0"/>
              <a:t>The antenna ring, integrated around the key barrel, reads the RFID (Radio Frequency Identification) signal embedded in the key. </a:t>
            </a:r>
          </a:p>
          <a:p>
            <a:r>
              <a:rPr lang="en-GB" dirty="0"/>
              <a:t>Once the key is turned, the antenna relays this data to the receiver control unit (RCU), which interfaces with the immobilizer system. </a:t>
            </a:r>
          </a:p>
          <a:p>
            <a:r>
              <a:rPr lang="en-GB" dirty="0"/>
              <a:t>Upon verifying the correct key, the immobilizer disengages, allowing the ECU (electronic control unit) to activate the electronic fuel injection system (</a:t>
            </a:r>
            <a:r>
              <a:rPr lang="en-GB" dirty="0" err="1"/>
              <a:t>efi</a:t>
            </a:r>
            <a:r>
              <a:rPr lang="en-GB" dirty="0"/>
              <a:t>). </a:t>
            </a:r>
          </a:p>
          <a:p>
            <a:r>
              <a:rPr lang="en-GB" dirty="0"/>
              <a:t>With fuel delivery enabled, the engine control system enables </a:t>
            </a:r>
            <a:r>
              <a:rPr lang="en-GB" dirty="0" err="1"/>
              <a:t>efi</a:t>
            </a:r>
            <a:r>
              <a:rPr lang="en-GB" dirty="0"/>
              <a:t>, and the motorcycle is allowed to start.</a:t>
            </a:r>
          </a:p>
          <a:p>
            <a:endParaRPr lang="en-IT" dirty="0"/>
          </a:p>
        </p:txBody>
      </p:sp>
      <p:sp>
        <p:nvSpPr>
          <p:cNvPr id="4" name="Content Placeholder 3">
            <a:extLst>
              <a:ext uri="{FF2B5EF4-FFF2-40B4-BE49-F238E27FC236}">
                <a16:creationId xmlns:a16="http://schemas.microsoft.com/office/drawing/2014/main" id="{E54349B7-84AE-F021-38C6-7D4087809D17}"/>
              </a:ext>
            </a:extLst>
          </p:cNvPr>
          <p:cNvSpPr>
            <a:spLocks noGrp="1"/>
          </p:cNvSpPr>
          <p:nvPr>
            <p:ph sz="half" idx="2"/>
          </p:nvPr>
        </p:nvSpPr>
        <p:spPr>
          <a:xfrm>
            <a:off x="6172203" y="1949156"/>
            <a:ext cx="5727354" cy="4525872"/>
          </a:xfrm>
        </p:spPr>
        <p:txBody>
          <a:bodyPr>
            <a:normAutofit fontScale="70000" lnSpcReduction="20000"/>
          </a:bodyPr>
          <a:lstStyle/>
          <a:p>
            <a:pPr marL="0" indent="0">
              <a:buNone/>
            </a:pPr>
            <a:r>
              <a:rPr lang="en-GB" dirty="0"/>
              <a:t>KEYLESS System –</a:t>
            </a:r>
          </a:p>
          <a:p>
            <a:r>
              <a:rPr lang="en-GB" dirty="0"/>
              <a:t> In contrast, a keyless motorcycle ignition system relies on proximity technology. </a:t>
            </a:r>
          </a:p>
          <a:p>
            <a:r>
              <a:rPr lang="en-GB" dirty="0"/>
              <a:t>The rider carries a smart fob, which emits a secure radio frequency signal. When the rider approaches within a 1m radius, the onboard receiver unit detects the fob’s signal. </a:t>
            </a:r>
          </a:p>
          <a:p>
            <a:r>
              <a:rPr lang="en-GB" dirty="0"/>
              <a:t>As the rider presses the start button, the system autonomously authenticates the fob with a secure set of handshake sequences. </a:t>
            </a:r>
          </a:p>
          <a:p>
            <a:r>
              <a:rPr lang="en-GB" dirty="0"/>
              <a:t>Once validated, the RCU or CCU (chassis control unit) or KCU (keyless control unit), this will depend on system and model, authorizes the </a:t>
            </a:r>
            <a:r>
              <a:rPr lang="en-GB" dirty="0" err="1"/>
              <a:t>efi</a:t>
            </a:r>
            <a:r>
              <a:rPr lang="en-GB" dirty="0"/>
              <a:t> ECU to enable ignition and fuel delivery.</a:t>
            </a:r>
          </a:p>
          <a:p>
            <a:r>
              <a:rPr lang="en-GB" dirty="0"/>
              <a:t> Thus, the motorcycle starts without physical key insertion, relying instead on encrypted proximity communication.</a:t>
            </a:r>
          </a:p>
          <a:p>
            <a:endParaRPr lang="en-IT" dirty="0"/>
          </a:p>
        </p:txBody>
      </p:sp>
      <p:sp>
        <p:nvSpPr>
          <p:cNvPr id="2" name="Title 1">
            <a:extLst>
              <a:ext uri="{FF2B5EF4-FFF2-40B4-BE49-F238E27FC236}">
                <a16:creationId xmlns:a16="http://schemas.microsoft.com/office/drawing/2014/main" id="{005115C2-2E43-E259-1F8D-2F558E4FBDFE}"/>
              </a:ext>
            </a:extLst>
          </p:cNvPr>
          <p:cNvSpPr>
            <a:spLocks noGrp="1"/>
          </p:cNvSpPr>
          <p:nvPr>
            <p:ph type="title"/>
          </p:nvPr>
        </p:nvSpPr>
        <p:spPr>
          <a:xfrm>
            <a:off x="838200" y="365125"/>
            <a:ext cx="10515600" cy="1325563"/>
          </a:xfrm>
        </p:spPr>
        <p:txBody>
          <a:bodyPr/>
          <a:lstStyle/>
          <a:p>
            <a:r>
              <a:rPr lang="en-IT" dirty="0"/>
              <a:t>Principal Differences of Key and Keyless Immobiliser / Ignition System</a:t>
            </a:r>
          </a:p>
        </p:txBody>
      </p:sp>
    </p:spTree>
    <p:extLst>
      <p:ext uri="{BB962C8B-B14F-4D97-AF65-F5344CB8AC3E}">
        <p14:creationId xmlns:p14="http://schemas.microsoft.com/office/powerpoint/2010/main" val="531519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1D2C476-D34B-3D7E-EEED-3301A32987FF}"/>
              </a:ext>
            </a:extLst>
          </p:cNvPr>
          <p:cNvGraphicFramePr>
            <a:graphicFrameLocks noGrp="1"/>
          </p:cNvGraphicFramePr>
          <p:nvPr>
            <p:ph idx="1"/>
            <p:extLst>
              <p:ext uri="{D42A27DB-BD31-4B8C-83A1-F6EECF244321}">
                <p14:modId xmlns:p14="http://schemas.microsoft.com/office/powerpoint/2010/main" val="3381574229"/>
              </p:ext>
            </p:extLst>
          </p:nvPr>
        </p:nvGraphicFramePr>
        <p:xfrm>
          <a:off x="800100" y="1100942"/>
          <a:ext cx="10121901" cy="5230682"/>
        </p:xfrm>
        <a:graphic>
          <a:graphicData uri="http://schemas.openxmlformats.org/drawingml/2006/table">
            <a:tbl>
              <a:tblPr/>
              <a:tblGrid>
                <a:gridCol w="3373967">
                  <a:extLst>
                    <a:ext uri="{9D8B030D-6E8A-4147-A177-3AD203B41FA5}">
                      <a16:colId xmlns:a16="http://schemas.microsoft.com/office/drawing/2014/main" val="207137073"/>
                    </a:ext>
                  </a:extLst>
                </a:gridCol>
                <a:gridCol w="3373967">
                  <a:extLst>
                    <a:ext uri="{9D8B030D-6E8A-4147-A177-3AD203B41FA5}">
                      <a16:colId xmlns:a16="http://schemas.microsoft.com/office/drawing/2014/main" val="1193147661"/>
                    </a:ext>
                  </a:extLst>
                </a:gridCol>
                <a:gridCol w="3373967">
                  <a:extLst>
                    <a:ext uri="{9D8B030D-6E8A-4147-A177-3AD203B41FA5}">
                      <a16:colId xmlns:a16="http://schemas.microsoft.com/office/drawing/2014/main" val="3081701510"/>
                    </a:ext>
                  </a:extLst>
                </a:gridCol>
              </a:tblGrid>
              <a:tr h="0">
                <a:tc>
                  <a:txBody>
                    <a:bodyPr/>
                    <a:lstStyle/>
                    <a:p>
                      <a:pPr>
                        <a:buNone/>
                      </a:pPr>
                      <a:r>
                        <a:rPr lang="en-GB" sz="1600" b="1" dirty="0"/>
                        <a:t>Feature</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Key Ignition System</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b="1" dirty="0"/>
                        <a:t>Keyless Ignition System</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1510846"/>
                  </a:ext>
                </a:extLst>
              </a:tr>
              <a:tr h="615562">
                <a:tc>
                  <a:txBody>
                    <a:bodyPr/>
                    <a:lstStyle/>
                    <a:p>
                      <a:pPr>
                        <a:buNone/>
                      </a:pPr>
                      <a:r>
                        <a:rPr lang="en-GB" sz="1600" b="1" dirty="0"/>
                        <a:t>Authentication Method</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Physical RFID key detection</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Proximity-based encrypted fob communication</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8088408"/>
                  </a:ext>
                </a:extLst>
              </a:tr>
              <a:tr h="615562">
                <a:tc>
                  <a:txBody>
                    <a:bodyPr/>
                    <a:lstStyle/>
                    <a:p>
                      <a:pPr>
                        <a:buNone/>
                      </a:pPr>
                      <a:r>
                        <a:rPr lang="en-GB" sz="1600" b="1" dirty="0"/>
                        <a:t>Security</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Moderate (key can be lost or copied)</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High (encryption and proximity add security)</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4021182"/>
                  </a:ext>
                </a:extLst>
              </a:tr>
              <a:tr h="615562">
                <a:tc>
                  <a:txBody>
                    <a:bodyPr/>
                    <a:lstStyle/>
                    <a:p>
                      <a:pPr>
                        <a:buNone/>
                      </a:pPr>
                      <a:r>
                        <a:rPr lang="en-GB" sz="1600" b="1" dirty="0"/>
                        <a:t>Complexity of Use</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Simple, traditional operation</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Slightly more complex, automatic detection</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1641225"/>
                  </a:ext>
                </a:extLst>
              </a:tr>
              <a:tr h="615562">
                <a:tc>
                  <a:txBody>
                    <a:bodyPr/>
                    <a:lstStyle/>
                    <a:p>
                      <a:pPr>
                        <a:buNone/>
                      </a:pPr>
                      <a:r>
                        <a:rPr lang="en-GB" sz="1600" b="1" dirty="0"/>
                        <a:t>Reliability</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Proven, long-term technology</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Dependent on battery in fob</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5688372"/>
                  </a:ext>
                </a:extLst>
              </a:tr>
              <a:tr h="615562">
                <a:tc>
                  <a:txBody>
                    <a:bodyPr/>
                    <a:lstStyle/>
                    <a:p>
                      <a:pPr>
                        <a:buNone/>
                      </a:pPr>
                      <a:r>
                        <a:rPr lang="en-GB" sz="1600" b="1" dirty="0"/>
                        <a:t>Convenience</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Requires manual key insertion</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Seamless, no physical action needed</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3613984"/>
                  </a:ext>
                </a:extLst>
              </a:tr>
              <a:tr h="615562">
                <a:tc>
                  <a:txBody>
                    <a:bodyPr/>
                    <a:lstStyle/>
                    <a:p>
                      <a:pPr>
                        <a:buNone/>
                      </a:pPr>
                      <a:r>
                        <a:rPr lang="en-GB" sz="1600" b="1" dirty="0"/>
                        <a:t>Vulnerability to Theft</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Key duplication possible</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Potential fob hacking, relay attacks unless key is ‘off’</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8058394"/>
                  </a:ext>
                </a:extLst>
              </a:tr>
              <a:tr h="615562">
                <a:tc>
                  <a:txBody>
                    <a:bodyPr/>
                    <a:lstStyle/>
                    <a:p>
                      <a:pPr>
                        <a:buNone/>
                      </a:pPr>
                      <a:r>
                        <a:rPr lang="en-GB" sz="1600" b="1" dirty="0"/>
                        <a:t>Cost</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Lower, simple mechanical components</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Higher, advanced electronic modules</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3968773"/>
                  </a:ext>
                </a:extLst>
              </a:tr>
              <a:tr h="615562">
                <a:tc>
                  <a:txBody>
                    <a:bodyPr/>
                    <a:lstStyle/>
                    <a:p>
                      <a:pPr>
                        <a:buNone/>
                      </a:pPr>
                      <a:r>
                        <a:rPr lang="en-GB" sz="1600" b="1" dirty="0"/>
                        <a:t>Maintenance</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a:t>Low, minimal wear parts</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600" dirty="0"/>
                        <a:t>Medium, fob battery replacement required</a:t>
                      </a:r>
                    </a:p>
                  </a:txBody>
                  <a:tcPr marL="62345" marR="62345" marT="31173" marB="31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0910128"/>
                  </a:ext>
                </a:extLst>
              </a:tr>
            </a:tbl>
          </a:graphicData>
        </a:graphic>
      </p:graphicFrame>
      <p:sp>
        <p:nvSpPr>
          <p:cNvPr id="7" name="Rectangle 6">
            <a:extLst>
              <a:ext uri="{FF2B5EF4-FFF2-40B4-BE49-F238E27FC236}">
                <a16:creationId xmlns:a16="http://schemas.microsoft.com/office/drawing/2014/main" id="{A52E87BF-6BFB-2CBA-A24F-13EC3359F685}"/>
              </a:ext>
            </a:extLst>
          </p:cNvPr>
          <p:cNvSpPr/>
          <p:nvPr/>
        </p:nvSpPr>
        <p:spPr>
          <a:xfrm>
            <a:off x="4191000" y="228600"/>
            <a:ext cx="33401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8" name="Rectangle 7">
            <a:extLst>
              <a:ext uri="{FF2B5EF4-FFF2-40B4-BE49-F238E27FC236}">
                <a16:creationId xmlns:a16="http://schemas.microsoft.com/office/drawing/2014/main" id="{412BB2E1-F270-FB5F-112D-3DEDFDB60C46}"/>
              </a:ext>
            </a:extLst>
          </p:cNvPr>
          <p:cNvSpPr/>
          <p:nvPr/>
        </p:nvSpPr>
        <p:spPr>
          <a:xfrm>
            <a:off x="7531100" y="228600"/>
            <a:ext cx="33401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9" name="Right Arrow 8">
            <a:extLst>
              <a:ext uri="{FF2B5EF4-FFF2-40B4-BE49-F238E27FC236}">
                <a16:creationId xmlns:a16="http://schemas.microsoft.com/office/drawing/2014/main" id="{533C084B-1D2D-4D8E-CE64-A95BF98C7DC4}"/>
              </a:ext>
            </a:extLst>
          </p:cNvPr>
          <p:cNvSpPr/>
          <p:nvPr/>
        </p:nvSpPr>
        <p:spPr>
          <a:xfrm>
            <a:off x="11036300" y="1460500"/>
            <a:ext cx="444500" cy="5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0" name="Right Arrow 9">
            <a:extLst>
              <a:ext uri="{FF2B5EF4-FFF2-40B4-BE49-F238E27FC236}">
                <a16:creationId xmlns:a16="http://schemas.microsoft.com/office/drawing/2014/main" id="{C300C43F-EAB5-8883-9E30-76C98015F4C2}"/>
              </a:ext>
            </a:extLst>
          </p:cNvPr>
          <p:cNvSpPr/>
          <p:nvPr/>
        </p:nvSpPr>
        <p:spPr>
          <a:xfrm>
            <a:off x="11036300" y="2019300"/>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1" name="Right Arrow 10">
            <a:extLst>
              <a:ext uri="{FF2B5EF4-FFF2-40B4-BE49-F238E27FC236}">
                <a16:creationId xmlns:a16="http://schemas.microsoft.com/office/drawing/2014/main" id="{F38EE1B1-6A44-7258-69CD-3A0F2F5B6558}"/>
              </a:ext>
            </a:extLst>
          </p:cNvPr>
          <p:cNvSpPr/>
          <p:nvPr/>
        </p:nvSpPr>
        <p:spPr>
          <a:xfrm>
            <a:off x="11036300" y="2654300"/>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2" name="Right Arrow 11">
            <a:extLst>
              <a:ext uri="{FF2B5EF4-FFF2-40B4-BE49-F238E27FC236}">
                <a16:creationId xmlns:a16="http://schemas.microsoft.com/office/drawing/2014/main" id="{A579C271-091F-CFD8-349B-A137335EEFFC}"/>
              </a:ext>
            </a:extLst>
          </p:cNvPr>
          <p:cNvSpPr/>
          <p:nvPr/>
        </p:nvSpPr>
        <p:spPr>
          <a:xfrm>
            <a:off x="11036300" y="3289300"/>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3" name="Right Arrow 12">
            <a:extLst>
              <a:ext uri="{FF2B5EF4-FFF2-40B4-BE49-F238E27FC236}">
                <a16:creationId xmlns:a16="http://schemas.microsoft.com/office/drawing/2014/main" id="{83B757EA-8658-9C48-AE88-2C7302F8D81A}"/>
              </a:ext>
            </a:extLst>
          </p:cNvPr>
          <p:cNvSpPr/>
          <p:nvPr/>
        </p:nvSpPr>
        <p:spPr>
          <a:xfrm>
            <a:off x="11036300" y="3924300"/>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4" name="Right Arrow 13">
            <a:extLst>
              <a:ext uri="{FF2B5EF4-FFF2-40B4-BE49-F238E27FC236}">
                <a16:creationId xmlns:a16="http://schemas.microsoft.com/office/drawing/2014/main" id="{D4A97F99-C3F3-3993-F0F6-4A8FCE059E39}"/>
              </a:ext>
            </a:extLst>
          </p:cNvPr>
          <p:cNvSpPr/>
          <p:nvPr/>
        </p:nvSpPr>
        <p:spPr>
          <a:xfrm>
            <a:off x="11036300" y="4559301"/>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5" name="Right Arrow 14">
            <a:extLst>
              <a:ext uri="{FF2B5EF4-FFF2-40B4-BE49-F238E27FC236}">
                <a16:creationId xmlns:a16="http://schemas.microsoft.com/office/drawing/2014/main" id="{0B2ED7DC-100E-8539-5294-31AF4EB0DDE4}"/>
              </a:ext>
            </a:extLst>
          </p:cNvPr>
          <p:cNvSpPr/>
          <p:nvPr/>
        </p:nvSpPr>
        <p:spPr>
          <a:xfrm>
            <a:off x="11036300" y="5194302"/>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6" name="Right Arrow 15">
            <a:extLst>
              <a:ext uri="{FF2B5EF4-FFF2-40B4-BE49-F238E27FC236}">
                <a16:creationId xmlns:a16="http://schemas.microsoft.com/office/drawing/2014/main" id="{D509F03F-7FB0-F90A-D480-872E8AECE5E8}"/>
              </a:ext>
            </a:extLst>
          </p:cNvPr>
          <p:cNvSpPr/>
          <p:nvPr/>
        </p:nvSpPr>
        <p:spPr>
          <a:xfrm>
            <a:off x="11036300" y="5823624"/>
            <a:ext cx="444500" cy="5080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Tree>
    <p:extLst>
      <p:ext uri="{BB962C8B-B14F-4D97-AF65-F5344CB8AC3E}">
        <p14:creationId xmlns:p14="http://schemas.microsoft.com/office/powerpoint/2010/main" val="1225616874"/>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A0584-5C88-BA7A-E37F-755190024EB9}"/>
              </a:ext>
            </a:extLst>
          </p:cNvPr>
          <p:cNvSpPr>
            <a:spLocks noGrp="1"/>
          </p:cNvSpPr>
          <p:nvPr>
            <p:ph type="title"/>
          </p:nvPr>
        </p:nvSpPr>
        <p:spPr/>
        <p:txBody>
          <a:bodyPr/>
          <a:lstStyle/>
          <a:p>
            <a:r>
              <a:rPr lang="en-IT" dirty="0"/>
              <a:t>Summary of the Immobiliser Systems</a:t>
            </a:r>
          </a:p>
        </p:txBody>
      </p:sp>
      <p:graphicFrame>
        <p:nvGraphicFramePr>
          <p:cNvPr id="5" name="Object 4">
            <a:extLst>
              <a:ext uri="{FF2B5EF4-FFF2-40B4-BE49-F238E27FC236}">
                <a16:creationId xmlns:a16="http://schemas.microsoft.com/office/drawing/2014/main" id="{CD87DD3C-AE2B-6DF0-50AD-BC5B1DFD6534}"/>
              </a:ext>
            </a:extLst>
          </p:cNvPr>
          <p:cNvGraphicFramePr>
            <a:graphicFrameLocks noChangeAspect="1"/>
          </p:cNvGraphicFramePr>
          <p:nvPr>
            <p:extLst>
              <p:ext uri="{D42A27DB-BD31-4B8C-83A1-F6EECF244321}">
                <p14:modId xmlns:p14="http://schemas.microsoft.com/office/powerpoint/2010/main" val="2850122295"/>
              </p:ext>
            </p:extLst>
          </p:nvPr>
        </p:nvGraphicFramePr>
        <p:xfrm>
          <a:off x="449599" y="2106954"/>
          <a:ext cx="11742401" cy="1707400"/>
        </p:xfrm>
        <a:graphic>
          <a:graphicData uri="http://schemas.openxmlformats.org/presentationml/2006/ole">
            <mc:AlternateContent xmlns:mc="http://schemas.openxmlformats.org/markup-compatibility/2006">
              <mc:Choice xmlns:v="urn:schemas-microsoft-com:vml" Requires="v">
                <p:oleObj name="Worksheet" r:id="rId3" imgW="9258300" imgH="1346200" progId="Excel.Sheet.12">
                  <p:embed/>
                </p:oleObj>
              </mc:Choice>
              <mc:Fallback>
                <p:oleObj name="Worksheet" r:id="rId3" imgW="9258300" imgH="1346200" progId="Excel.Sheet.12">
                  <p:embed/>
                  <p:pic>
                    <p:nvPicPr>
                      <p:cNvPr id="0" name=""/>
                      <p:cNvPicPr/>
                      <p:nvPr/>
                    </p:nvPicPr>
                    <p:blipFill>
                      <a:blip r:embed="rId4"/>
                      <a:stretch>
                        <a:fillRect/>
                      </a:stretch>
                    </p:blipFill>
                    <p:spPr>
                      <a:xfrm>
                        <a:off x="449599" y="2106954"/>
                        <a:ext cx="11742401" cy="1707400"/>
                      </a:xfrm>
                      <a:prstGeom prst="rect">
                        <a:avLst/>
                      </a:prstGeom>
                    </p:spPr>
                  </p:pic>
                </p:oleObj>
              </mc:Fallback>
            </mc:AlternateContent>
          </a:graphicData>
        </a:graphic>
      </p:graphicFrame>
    </p:spTree>
    <p:extLst>
      <p:ext uri="{BB962C8B-B14F-4D97-AF65-F5344CB8AC3E}">
        <p14:creationId xmlns:p14="http://schemas.microsoft.com/office/powerpoint/2010/main" val="3051672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B1469-D4C4-2C45-FBCF-66659E6402F3}"/>
              </a:ext>
            </a:extLst>
          </p:cNvPr>
          <p:cNvSpPr>
            <a:spLocks noGrp="1"/>
          </p:cNvSpPr>
          <p:nvPr>
            <p:ph type="title"/>
          </p:nvPr>
        </p:nvSpPr>
        <p:spPr>
          <a:xfrm>
            <a:off x="649904" y="587607"/>
            <a:ext cx="10515600" cy="718087"/>
          </a:xfrm>
        </p:spPr>
        <p:txBody>
          <a:bodyPr/>
          <a:lstStyle/>
          <a:p>
            <a:r>
              <a:rPr lang="en-IT" dirty="0"/>
              <a:t>Some Principal Differences </a:t>
            </a:r>
          </a:p>
        </p:txBody>
      </p:sp>
      <p:sp>
        <p:nvSpPr>
          <p:cNvPr id="4" name="Rectangle 3">
            <a:extLst>
              <a:ext uri="{FF2B5EF4-FFF2-40B4-BE49-F238E27FC236}">
                <a16:creationId xmlns:a16="http://schemas.microsoft.com/office/drawing/2014/main" id="{93CB380C-CF18-7FEB-12C0-E29728FB0064}"/>
              </a:ext>
            </a:extLst>
          </p:cNvPr>
          <p:cNvSpPr/>
          <p:nvPr/>
        </p:nvSpPr>
        <p:spPr>
          <a:xfrm>
            <a:off x="879676" y="2930712"/>
            <a:ext cx="5028028" cy="30737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T" dirty="0"/>
              <a:t>Key Systems</a:t>
            </a:r>
          </a:p>
        </p:txBody>
      </p:sp>
      <p:sp>
        <p:nvSpPr>
          <p:cNvPr id="5" name="Rectangle 4">
            <a:extLst>
              <a:ext uri="{FF2B5EF4-FFF2-40B4-BE49-F238E27FC236}">
                <a16:creationId xmlns:a16="http://schemas.microsoft.com/office/drawing/2014/main" id="{5EADCDB6-4845-275B-F3AE-6B808B85FEB3}"/>
              </a:ext>
            </a:extLst>
          </p:cNvPr>
          <p:cNvSpPr/>
          <p:nvPr/>
        </p:nvSpPr>
        <p:spPr>
          <a:xfrm>
            <a:off x="6137476" y="2930710"/>
            <a:ext cx="5028028" cy="3073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T" dirty="0"/>
              <a:t>Keyless Systems</a:t>
            </a:r>
          </a:p>
        </p:txBody>
      </p:sp>
      <p:sp>
        <p:nvSpPr>
          <p:cNvPr id="6" name="Rectangle 5">
            <a:extLst>
              <a:ext uri="{FF2B5EF4-FFF2-40B4-BE49-F238E27FC236}">
                <a16:creationId xmlns:a16="http://schemas.microsoft.com/office/drawing/2014/main" id="{33EB1B18-325C-8169-17E5-3B77F3858870}"/>
              </a:ext>
            </a:extLst>
          </p:cNvPr>
          <p:cNvSpPr/>
          <p:nvPr/>
        </p:nvSpPr>
        <p:spPr>
          <a:xfrm>
            <a:off x="3850011" y="1986049"/>
            <a:ext cx="4032434" cy="718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7" name="Rectangle 6">
            <a:extLst>
              <a:ext uri="{FF2B5EF4-FFF2-40B4-BE49-F238E27FC236}">
                <a16:creationId xmlns:a16="http://schemas.microsoft.com/office/drawing/2014/main" id="{4FB99580-D3A3-A8E1-E817-AAFBAE1BBDC5}"/>
              </a:ext>
            </a:extLst>
          </p:cNvPr>
          <p:cNvSpPr/>
          <p:nvPr/>
        </p:nvSpPr>
        <p:spPr>
          <a:xfrm>
            <a:off x="1220818" y="3597754"/>
            <a:ext cx="3997569" cy="570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dirty="0"/>
              <a:t>RCU (Receiver Control Unit)</a:t>
            </a:r>
          </a:p>
        </p:txBody>
      </p:sp>
      <p:sp>
        <p:nvSpPr>
          <p:cNvPr id="8" name="Rectangle 7">
            <a:extLst>
              <a:ext uri="{FF2B5EF4-FFF2-40B4-BE49-F238E27FC236}">
                <a16:creationId xmlns:a16="http://schemas.microsoft.com/office/drawing/2014/main" id="{60F80CAE-C1C6-3E7A-6A35-868A1DBB919B}"/>
              </a:ext>
            </a:extLst>
          </p:cNvPr>
          <p:cNvSpPr/>
          <p:nvPr/>
        </p:nvSpPr>
        <p:spPr>
          <a:xfrm>
            <a:off x="6367249" y="3513933"/>
            <a:ext cx="3997569" cy="570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dirty="0"/>
              <a:t>CCU (Chassis Control Unit)</a:t>
            </a:r>
          </a:p>
        </p:txBody>
      </p:sp>
      <p:sp>
        <p:nvSpPr>
          <p:cNvPr id="9" name="Rectangle 8">
            <a:extLst>
              <a:ext uri="{FF2B5EF4-FFF2-40B4-BE49-F238E27FC236}">
                <a16:creationId xmlns:a16="http://schemas.microsoft.com/office/drawing/2014/main" id="{6C8FEB90-6EC3-17EE-D57D-AFBB6B880156}"/>
              </a:ext>
            </a:extLst>
          </p:cNvPr>
          <p:cNvSpPr/>
          <p:nvPr/>
        </p:nvSpPr>
        <p:spPr>
          <a:xfrm>
            <a:off x="6367248" y="4168667"/>
            <a:ext cx="3997569" cy="570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dirty="0"/>
              <a:t>KCU (Keyless Control Unit)</a:t>
            </a:r>
          </a:p>
        </p:txBody>
      </p:sp>
      <p:sp>
        <p:nvSpPr>
          <p:cNvPr id="10" name="Rectangle 9">
            <a:extLst>
              <a:ext uri="{FF2B5EF4-FFF2-40B4-BE49-F238E27FC236}">
                <a16:creationId xmlns:a16="http://schemas.microsoft.com/office/drawing/2014/main" id="{4D324461-A566-D025-798B-CB6679BF784D}"/>
              </a:ext>
            </a:extLst>
          </p:cNvPr>
          <p:cNvSpPr/>
          <p:nvPr/>
        </p:nvSpPr>
        <p:spPr>
          <a:xfrm>
            <a:off x="1220817" y="4319309"/>
            <a:ext cx="3997569" cy="570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dirty="0"/>
              <a:t>Max memorised keys: 4</a:t>
            </a:r>
          </a:p>
        </p:txBody>
      </p:sp>
      <p:sp>
        <p:nvSpPr>
          <p:cNvPr id="11" name="Rectangle 10">
            <a:extLst>
              <a:ext uri="{FF2B5EF4-FFF2-40B4-BE49-F238E27FC236}">
                <a16:creationId xmlns:a16="http://schemas.microsoft.com/office/drawing/2014/main" id="{01BCA027-7B14-5532-B470-67A8FFBD5B8C}"/>
              </a:ext>
            </a:extLst>
          </p:cNvPr>
          <p:cNvSpPr/>
          <p:nvPr/>
        </p:nvSpPr>
        <p:spPr>
          <a:xfrm>
            <a:off x="6367247" y="4823402"/>
            <a:ext cx="3997569" cy="570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dirty="0"/>
              <a:t>Max memorised keys: 3</a:t>
            </a:r>
          </a:p>
        </p:txBody>
      </p:sp>
      <p:sp>
        <p:nvSpPr>
          <p:cNvPr id="12" name="Rectangle 11">
            <a:extLst>
              <a:ext uri="{FF2B5EF4-FFF2-40B4-BE49-F238E27FC236}">
                <a16:creationId xmlns:a16="http://schemas.microsoft.com/office/drawing/2014/main" id="{FC4FC107-34AE-C05A-1304-AFC90368B465}"/>
              </a:ext>
            </a:extLst>
          </p:cNvPr>
          <p:cNvSpPr/>
          <p:nvPr/>
        </p:nvSpPr>
        <p:spPr>
          <a:xfrm>
            <a:off x="8711418" y="6130272"/>
            <a:ext cx="2642382" cy="4947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dirty="0"/>
              <a:t>Submit</a:t>
            </a:r>
          </a:p>
        </p:txBody>
      </p:sp>
      <p:sp>
        <p:nvSpPr>
          <p:cNvPr id="3" name="TextBox 2">
            <a:extLst>
              <a:ext uri="{FF2B5EF4-FFF2-40B4-BE49-F238E27FC236}">
                <a16:creationId xmlns:a16="http://schemas.microsoft.com/office/drawing/2014/main" id="{1B1F4D1F-76E1-B52E-D7CC-B27B19F1F706}"/>
              </a:ext>
            </a:extLst>
          </p:cNvPr>
          <p:cNvSpPr txBox="1"/>
          <p:nvPr/>
        </p:nvSpPr>
        <p:spPr>
          <a:xfrm>
            <a:off x="879676" y="1509772"/>
            <a:ext cx="9056069" cy="369332"/>
          </a:xfrm>
          <a:prstGeom prst="rect">
            <a:avLst/>
          </a:prstGeom>
          <a:noFill/>
        </p:spPr>
        <p:txBody>
          <a:bodyPr wrap="none" rtlCol="0">
            <a:spAutoFit/>
          </a:bodyPr>
          <a:lstStyle/>
          <a:p>
            <a:r>
              <a:rPr lang="en-IT" dirty="0"/>
              <a:t>For which immobiliser systems are these components / facts true? Drag to the correct box:</a:t>
            </a:r>
          </a:p>
        </p:txBody>
      </p:sp>
    </p:spTree>
    <p:extLst>
      <p:ext uri="{BB962C8B-B14F-4D97-AF65-F5344CB8AC3E}">
        <p14:creationId xmlns:p14="http://schemas.microsoft.com/office/powerpoint/2010/main" val="590972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F94BA-48DE-7957-156C-BA00E041DCCC}"/>
              </a:ext>
            </a:extLst>
          </p:cNvPr>
          <p:cNvSpPr/>
          <p:nvPr/>
        </p:nvSpPr>
        <p:spPr>
          <a:xfrm>
            <a:off x="325395" y="3099026"/>
            <a:ext cx="3579340" cy="30622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lang="en-IT" dirty="0"/>
              <a:t>Keyed Immobiliser System</a:t>
            </a:r>
          </a:p>
        </p:txBody>
      </p:sp>
      <p:sp>
        <p:nvSpPr>
          <p:cNvPr id="12" name="Rectangle 11">
            <a:extLst>
              <a:ext uri="{FF2B5EF4-FFF2-40B4-BE49-F238E27FC236}">
                <a16:creationId xmlns:a16="http://schemas.microsoft.com/office/drawing/2014/main" id="{20FA415F-810E-043D-A275-3729D90AA312}"/>
              </a:ext>
            </a:extLst>
          </p:cNvPr>
          <p:cNvSpPr/>
          <p:nvPr/>
        </p:nvSpPr>
        <p:spPr>
          <a:xfrm>
            <a:off x="8287266" y="3099026"/>
            <a:ext cx="3579340" cy="30622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t"/>
          <a:lstStyle/>
          <a:p>
            <a:r>
              <a:rPr lang="en-IT" dirty="0"/>
              <a:t>Keyless Immobiliser System</a:t>
            </a:r>
          </a:p>
        </p:txBody>
      </p:sp>
      <p:sp>
        <p:nvSpPr>
          <p:cNvPr id="13" name="Rectangle 12">
            <a:extLst>
              <a:ext uri="{FF2B5EF4-FFF2-40B4-BE49-F238E27FC236}">
                <a16:creationId xmlns:a16="http://schemas.microsoft.com/office/drawing/2014/main" id="{34170986-310D-8A9A-3952-5BCF2EAAB50D}"/>
              </a:ext>
            </a:extLst>
          </p:cNvPr>
          <p:cNvSpPr/>
          <p:nvPr/>
        </p:nvSpPr>
        <p:spPr>
          <a:xfrm>
            <a:off x="4306330" y="3099026"/>
            <a:ext cx="3579340" cy="3062229"/>
          </a:xfrm>
          <a:prstGeom prst="rect">
            <a:avLst/>
          </a:prstGeom>
        </p:spPr>
        <p:style>
          <a:lnRef idx="2">
            <a:schemeClr val="dk1"/>
          </a:lnRef>
          <a:fillRef idx="1">
            <a:schemeClr val="lt1"/>
          </a:fillRef>
          <a:effectRef idx="0">
            <a:schemeClr val="dk1"/>
          </a:effectRef>
          <a:fontRef idx="minor">
            <a:schemeClr val="dk1"/>
          </a:fontRef>
        </p:style>
        <p:txBody>
          <a:bodyPr rtlCol="0" anchor="t"/>
          <a:lstStyle/>
          <a:p>
            <a:r>
              <a:rPr lang="en-IT" dirty="0"/>
              <a:t>All Immobiliser Systems</a:t>
            </a:r>
          </a:p>
        </p:txBody>
      </p:sp>
      <p:sp>
        <p:nvSpPr>
          <p:cNvPr id="14" name="Rectangle 13">
            <a:extLst>
              <a:ext uri="{FF2B5EF4-FFF2-40B4-BE49-F238E27FC236}">
                <a16:creationId xmlns:a16="http://schemas.microsoft.com/office/drawing/2014/main" id="{547DFD5E-3AC1-B989-3CAB-3CE5A2C146D0}"/>
              </a:ext>
            </a:extLst>
          </p:cNvPr>
          <p:cNvSpPr/>
          <p:nvPr/>
        </p:nvSpPr>
        <p:spPr>
          <a:xfrm>
            <a:off x="4609070" y="354387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Passive Key</a:t>
            </a:r>
          </a:p>
        </p:txBody>
      </p:sp>
      <p:sp>
        <p:nvSpPr>
          <p:cNvPr id="16" name="Rectangle 15">
            <a:extLst>
              <a:ext uri="{FF2B5EF4-FFF2-40B4-BE49-F238E27FC236}">
                <a16:creationId xmlns:a16="http://schemas.microsoft.com/office/drawing/2014/main" id="{C8911C95-477B-724A-C1AA-C681F86EC715}"/>
              </a:ext>
            </a:extLst>
          </p:cNvPr>
          <p:cNvSpPr/>
          <p:nvPr/>
        </p:nvSpPr>
        <p:spPr>
          <a:xfrm>
            <a:off x="8590006" y="354387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Active Key</a:t>
            </a:r>
          </a:p>
        </p:txBody>
      </p:sp>
      <p:sp>
        <p:nvSpPr>
          <p:cNvPr id="17" name="Rectangle 16">
            <a:extLst>
              <a:ext uri="{FF2B5EF4-FFF2-40B4-BE49-F238E27FC236}">
                <a16:creationId xmlns:a16="http://schemas.microsoft.com/office/drawing/2014/main" id="{93298B30-63C1-FE11-EFE1-C4F66F45AF4A}"/>
              </a:ext>
            </a:extLst>
          </p:cNvPr>
          <p:cNvSpPr/>
          <p:nvPr/>
        </p:nvSpPr>
        <p:spPr>
          <a:xfrm>
            <a:off x="8590006" y="403814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KCU (or CCU)</a:t>
            </a:r>
          </a:p>
        </p:txBody>
      </p:sp>
      <p:sp>
        <p:nvSpPr>
          <p:cNvPr id="18" name="Rectangle 17">
            <a:extLst>
              <a:ext uri="{FF2B5EF4-FFF2-40B4-BE49-F238E27FC236}">
                <a16:creationId xmlns:a16="http://schemas.microsoft.com/office/drawing/2014/main" id="{796B32EF-47B9-BF72-BABE-180FE3239230}"/>
              </a:ext>
            </a:extLst>
          </p:cNvPr>
          <p:cNvSpPr/>
          <p:nvPr/>
        </p:nvSpPr>
        <p:spPr>
          <a:xfrm>
            <a:off x="628135" y="354387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RCU</a:t>
            </a:r>
          </a:p>
        </p:txBody>
      </p:sp>
      <p:sp>
        <p:nvSpPr>
          <p:cNvPr id="19" name="Rectangle 18">
            <a:extLst>
              <a:ext uri="{FF2B5EF4-FFF2-40B4-BE49-F238E27FC236}">
                <a16:creationId xmlns:a16="http://schemas.microsoft.com/office/drawing/2014/main" id="{0A080D4F-4A07-A4A1-67C2-2CA78D2C0333}"/>
              </a:ext>
            </a:extLst>
          </p:cNvPr>
          <p:cNvSpPr/>
          <p:nvPr/>
        </p:nvSpPr>
        <p:spPr>
          <a:xfrm>
            <a:off x="4609070" y="4038139"/>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TPMS function</a:t>
            </a:r>
          </a:p>
        </p:txBody>
      </p:sp>
      <p:sp>
        <p:nvSpPr>
          <p:cNvPr id="20" name="Rectangle 19">
            <a:extLst>
              <a:ext uri="{FF2B5EF4-FFF2-40B4-BE49-F238E27FC236}">
                <a16:creationId xmlns:a16="http://schemas.microsoft.com/office/drawing/2014/main" id="{7DD1705A-C0A7-1FB7-6351-25A7B636FA41}"/>
              </a:ext>
            </a:extLst>
          </p:cNvPr>
          <p:cNvSpPr/>
          <p:nvPr/>
        </p:nvSpPr>
        <p:spPr>
          <a:xfrm>
            <a:off x="8590006" y="453241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Electronic Steering lock</a:t>
            </a:r>
          </a:p>
        </p:txBody>
      </p:sp>
      <p:sp>
        <p:nvSpPr>
          <p:cNvPr id="21" name="Rectangle 20">
            <a:extLst>
              <a:ext uri="{FF2B5EF4-FFF2-40B4-BE49-F238E27FC236}">
                <a16:creationId xmlns:a16="http://schemas.microsoft.com/office/drawing/2014/main" id="{49D74DF7-8D19-E2D5-97D8-E0CB203F7DC1}"/>
              </a:ext>
            </a:extLst>
          </p:cNvPr>
          <p:cNvSpPr/>
          <p:nvPr/>
        </p:nvSpPr>
        <p:spPr>
          <a:xfrm>
            <a:off x="628135" y="4044316"/>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Mechanical Steering lock</a:t>
            </a:r>
          </a:p>
        </p:txBody>
      </p:sp>
      <p:sp>
        <p:nvSpPr>
          <p:cNvPr id="22" name="Rectangle 21">
            <a:extLst>
              <a:ext uri="{FF2B5EF4-FFF2-40B4-BE49-F238E27FC236}">
                <a16:creationId xmlns:a16="http://schemas.microsoft.com/office/drawing/2014/main" id="{FE517B05-DA06-29B9-0C5E-10FD3F4EBBDA}"/>
              </a:ext>
            </a:extLst>
          </p:cNvPr>
          <p:cNvSpPr/>
          <p:nvPr/>
        </p:nvSpPr>
        <p:spPr>
          <a:xfrm>
            <a:off x="8590006" y="552095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LF Antenna</a:t>
            </a:r>
          </a:p>
        </p:txBody>
      </p:sp>
      <p:sp>
        <p:nvSpPr>
          <p:cNvPr id="23" name="Rectangle 22">
            <a:extLst>
              <a:ext uri="{FF2B5EF4-FFF2-40B4-BE49-F238E27FC236}">
                <a16:creationId xmlns:a16="http://schemas.microsoft.com/office/drawing/2014/main" id="{DBB9345A-77EE-F5BC-6889-F705A2DE0518}"/>
              </a:ext>
            </a:extLst>
          </p:cNvPr>
          <p:cNvSpPr/>
          <p:nvPr/>
        </p:nvSpPr>
        <p:spPr>
          <a:xfrm>
            <a:off x="8590006" y="502668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Fuel Filler Cap</a:t>
            </a:r>
          </a:p>
        </p:txBody>
      </p:sp>
      <p:sp>
        <p:nvSpPr>
          <p:cNvPr id="24" name="Rectangle 23">
            <a:extLst>
              <a:ext uri="{FF2B5EF4-FFF2-40B4-BE49-F238E27FC236}">
                <a16:creationId xmlns:a16="http://schemas.microsoft.com/office/drawing/2014/main" id="{C3302D0B-E84D-80CA-7C07-57760C3F90EB}"/>
              </a:ext>
            </a:extLst>
          </p:cNvPr>
          <p:cNvSpPr/>
          <p:nvPr/>
        </p:nvSpPr>
        <p:spPr>
          <a:xfrm>
            <a:off x="628134" y="4532410"/>
            <a:ext cx="2973860" cy="407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T" dirty="0"/>
              <a:t>Antenna Ring</a:t>
            </a:r>
          </a:p>
        </p:txBody>
      </p:sp>
      <p:sp>
        <p:nvSpPr>
          <p:cNvPr id="2" name="Title 1">
            <a:extLst>
              <a:ext uri="{FF2B5EF4-FFF2-40B4-BE49-F238E27FC236}">
                <a16:creationId xmlns:a16="http://schemas.microsoft.com/office/drawing/2014/main" id="{7748D1ED-BB9B-7604-D1E8-D9E879923418}"/>
              </a:ext>
            </a:extLst>
          </p:cNvPr>
          <p:cNvSpPr>
            <a:spLocks noGrp="1"/>
          </p:cNvSpPr>
          <p:nvPr>
            <p:ph type="title"/>
          </p:nvPr>
        </p:nvSpPr>
        <p:spPr>
          <a:xfrm>
            <a:off x="649904" y="587607"/>
            <a:ext cx="10515600" cy="718087"/>
          </a:xfrm>
        </p:spPr>
        <p:txBody>
          <a:bodyPr/>
          <a:lstStyle/>
          <a:p>
            <a:r>
              <a:rPr lang="en-IT" dirty="0"/>
              <a:t>Differences in Components of the Systems</a:t>
            </a:r>
          </a:p>
        </p:txBody>
      </p:sp>
      <p:sp>
        <p:nvSpPr>
          <p:cNvPr id="3" name="Rectangle 2">
            <a:extLst>
              <a:ext uri="{FF2B5EF4-FFF2-40B4-BE49-F238E27FC236}">
                <a16:creationId xmlns:a16="http://schemas.microsoft.com/office/drawing/2014/main" id="{E6560076-0143-D1C2-1CE5-3611CB1ED98B}"/>
              </a:ext>
            </a:extLst>
          </p:cNvPr>
          <p:cNvSpPr/>
          <p:nvPr/>
        </p:nvSpPr>
        <p:spPr>
          <a:xfrm>
            <a:off x="3850011" y="1986049"/>
            <a:ext cx="4032434" cy="718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4" name="TextBox 3">
            <a:extLst>
              <a:ext uri="{FF2B5EF4-FFF2-40B4-BE49-F238E27FC236}">
                <a16:creationId xmlns:a16="http://schemas.microsoft.com/office/drawing/2014/main" id="{1EFB1BA4-5E94-942F-97A7-8B532BD90FB1}"/>
              </a:ext>
            </a:extLst>
          </p:cNvPr>
          <p:cNvSpPr txBox="1"/>
          <p:nvPr/>
        </p:nvSpPr>
        <p:spPr>
          <a:xfrm>
            <a:off x="879676" y="1509772"/>
            <a:ext cx="8254824" cy="369332"/>
          </a:xfrm>
          <a:prstGeom prst="rect">
            <a:avLst/>
          </a:prstGeom>
          <a:noFill/>
        </p:spPr>
        <p:txBody>
          <a:bodyPr wrap="none" rtlCol="0">
            <a:spAutoFit/>
          </a:bodyPr>
          <a:lstStyle/>
          <a:p>
            <a:r>
              <a:rPr lang="en-IT" dirty="0"/>
              <a:t>Which components belong to which  immobiliser system? Drag to the correct box:</a:t>
            </a:r>
          </a:p>
        </p:txBody>
      </p:sp>
    </p:spTree>
    <p:extLst>
      <p:ext uri="{BB962C8B-B14F-4D97-AF65-F5344CB8AC3E}">
        <p14:creationId xmlns:p14="http://schemas.microsoft.com/office/powerpoint/2010/main" val="2783202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BDA01-E173-E4AC-33AD-4FC3FB6FB1AD}"/>
              </a:ext>
            </a:extLst>
          </p:cNvPr>
          <p:cNvSpPr>
            <a:spLocks noGrp="1"/>
          </p:cNvSpPr>
          <p:nvPr>
            <p:ph type="title"/>
          </p:nvPr>
        </p:nvSpPr>
        <p:spPr/>
        <p:txBody>
          <a:bodyPr/>
          <a:lstStyle/>
          <a:p>
            <a:r>
              <a:rPr lang="en-IT" dirty="0"/>
              <a:t>Key Type Immobiliser Systems</a:t>
            </a:r>
          </a:p>
        </p:txBody>
      </p:sp>
      <p:sp>
        <p:nvSpPr>
          <p:cNvPr id="3" name="Content Placeholder 2">
            <a:extLst>
              <a:ext uri="{FF2B5EF4-FFF2-40B4-BE49-F238E27FC236}">
                <a16:creationId xmlns:a16="http://schemas.microsoft.com/office/drawing/2014/main" id="{2715850D-9D5B-A7E3-740E-B7C9FB507E14}"/>
              </a:ext>
            </a:extLst>
          </p:cNvPr>
          <p:cNvSpPr>
            <a:spLocks noGrp="1"/>
          </p:cNvSpPr>
          <p:nvPr>
            <p:ph idx="1"/>
          </p:nvPr>
        </p:nvSpPr>
        <p:spPr/>
        <p:txBody>
          <a:bodyPr/>
          <a:lstStyle/>
          <a:p>
            <a:pPr marL="0" indent="0">
              <a:buNone/>
            </a:pPr>
            <a:r>
              <a:rPr lang="en-IT" dirty="0"/>
              <a:t>Those models that rely on a physical key to turn the motorcycle on also use a transponder recognition system to ensure that a theft that relies on the overcoming the mechanical security of the key barrel will still be thwarted by a second, electronic layer of security that means critical functions (engine management and starting) will not respond.</a:t>
            </a:r>
          </a:p>
        </p:txBody>
      </p:sp>
    </p:spTree>
    <p:extLst>
      <p:ext uri="{BB962C8B-B14F-4D97-AF65-F5344CB8AC3E}">
        <p14:creationId xmlns:p14="http://schemas.microsoft.com/office/powerpoint/2010/main" val="782381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6A2F3-1139-ECDF-1613-4E650A460A10}"/>
              </a:ext>
            </a:extLst>
          </p:cNvPr>
          <p:cNvSpPr>
            <a:spLocks noGrp="1"/>
          </p:cNvSpPr>
          <p:nvPr>
            <p:ph type="title"/>
          </p:nvPr>
        </p:nvSpPr>
        <p:spPr/>
        <p:txBody>
          <a:bodyPr/>
          <a:lstStyle/>
          <a:p>
            <a:r>
              <a:rPr lang="en-IT" dirty="0"/>
              <a:t>Some Details</a:t>
            </a:r>
          </a:p>
        </p:txBody>
      </p:sp>
      <p:sp>
        <p:nvSpPr>
          <p:cNvPr id="3" name="Content Placeholder 2">
            <a:extLst>
              <a:ext uri="{FF2B5EF4-FFF2-40B4-BE49-F238E27FC236}">
                <a16:creationId xmlns:a16="http://schemas.microsoft.com/office/drawing/2014/main" id="{2635B846-1A26-494C-B747-074883D795EC}"/>
              </a:ext>
            </a:extLst>
          </p:cNvPr>
          <p:cNvSpPr>
            <a:spLocks noGrp="1"/>
          </p:cNvSpPr>
          <p:nvPr>
            <p:ph idx="1"/>
          </p:nvPr>
        </p:nvSpPr>
        <p:spPr/>
        <p:txBody>
          <a:bodyPr>
            <a:normAutofit fontScale="92500" lnSpcReduction="20000"/>
          </a:bodyPr>
          <a:lstStyle/>
          <a:p>
            <a:r>
              <a:rPr lang="en-GB" dirty="0"/>
              <a:t>Transponder in key 125Khz</a:t>
            </a:r>
          </a:p>
          <a:p>
            <a:r>
              <a:rPr lang="en-GB" dirty="0"/>
              <a:t>Comms / paired with RCU (receiver control unit) / Immobiliser </a:t>
            </a:r>
          </a:p>
          <a:p>
            <a:r>
              <a:rPr lang="en-GB" dirty="0"/>
              <a:t>Keys must be separated with RCU via antenna ring</a:t>
            </a:r>
          </a:p>
          <a:p>
            <a:r>
              <a:rPr lang="en-GB" dirty="0"/>
              <a:t>Max 4 keys per bike (depending on model)</a:t>
            </a:r>
          </a:p>
          <a:p>
            <a:r>
              <a:rPr lang="en-GB" dirty="0"/>
              <a:t>TPMS also is paired to the RCU (if fitted)</a:t>
            </a:r>
          </a:p>
          <a:p>
            <a:r>
              <a:rPr lang="en-GB" dirty="0"/>
              <a:t>TDT required to pair keys / immobiliser / TPMS</a:t>
            </a:r>
          </a:p>
          <a:p>
            <a:r>
              <a:rPr lang="en-GB" dirty="0"/>
              <a:t>Cut keys available to order from Triumph </a:t>
            </a:r>
            <a:r>
              <a:rPr lang="en-GB" u="sng" dirty="0"/>
              <a:t>for certain models only (see </a:t>
            </a:r>
            <a:r>
              <a:rPr lang="en-GB" u="sng" dirty="0" err="1"/>
              <a:t>epc</a:t>
            </a:r>
            <a:r>
              <a:rPr lang="en-GB" u="sng" dirty="0"/>
              <a:t> for details) </a:t>
            </a:r>
            <a:r>
              <a:rPr lang="en-GB" dirty="0"/>
              <a:t>As a rule, generally smart ‘keyless’ keys do not have blank key blade support, whereas immobilisers and seat locks do.</a:t>
            </a:r>
          </a:p>
          <a:p>
            <a:r>
              <a:rPr lang="en-GB" dirty="0"/>
              <a:t>If all keys lost, replacement immobiliser, keys and lockset will be required</a:t>
            </a:r>
          </a:p>
          <a:p>
            <a:endParaRPr lang="en-IT" dirty="0"/>
          </a:p>
        </p:txBody>
      </p:sp>
    </p:spTree>
    <p:extLst>
      <p:ext uri="{BB962C8B-B14F-4D97-AF65-F5344CB8AC3E}">
        <p14:creationId xmlns:p14="http://schemas.microsoft.com/office/powerpoint/2010/main" val="3810179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9F69B-4361-E469-9A46-AFE69DA66C27}"/>
              </a:ext>
            </a:extLst>
          </p:cNvPr>
          <p:cNvSpPr>
            <a:spLocks noGrp="1"/>
          </p:cNvSpPr>
          <p:nvPr>
            <p:ph type="title"/>
          </p:nvPr>
        </p:nvSpPr>
        <p:spPr/>
        <p:txBody>
          <a:bodyPr/>
          <a:lstStyle/>
          <a:p>
            <a:r>
              <a:rPr lang="en-IT" dirty="0"/>
              <a:t>Keyless intro</a:t>
            </a:r>
          </a:p>
        </p:txBody>
      </p:sp>
      <p:sp>
        <p:nvSpPr>
          <p:cNvPr id="3" name="Content Placeholder 2">
            <a:extLst>
              <a:ext uri="{FF2B5EF4-FFF2-40B4-BE49-F238E27FC236}">
                <a16:creationId xmlns:a16="http://schemas.microsoft.com/office/drawing/2014/main" id="{D672CB42-2E56-6B61-3160-3049052BFC2B}"/>
              </a:ext>
            </a:extLst>
          </p:cNvPr>
          <p:cNvSpPr>
            <a:spLocks noGrp="1"/>
          </p:cNvSpPr>
          <p:nvPr>
            <p:ph idx="1"/>
          </p:nvPr>
        </p:nvSpPr>
        <p:spPr/>
        <p:txBody>
          <a:bodyPr/>
          <a:lstStyle/>
          <a:p>
            <a:pPr marL="0" indent="0">
              <a:buNone/>
            </a:pPr>
            <a:r>
              <a:rPr lang="en-IT" dirty="0"/>
              <a:t>Many models are now available with a keyless ignition system, where the motorcycle can be turned on without having to insert the key in a traditional ignitions switch.</a:t>
            </a:r>
          </a:p>
          <a:p>
            <a:pPr marL="0" indent="0">
              <a:buNone/>
            </a:pPr>
            <a:r>
              <a:rPr lang="en-IT" dirty="0"/>
              <a:t>The rider carries the actual key with them in proximity to the motorcycle, which has two low frequency antennae that can detect the UHF radio frequency emitted by the key.</a:t>
            </a:r>
          </a:p>
          <a:p>
            <a:pPr marL="0" indent="0">
              <a:buNone/>
            </a:pPr>
            <a:r>
              <a:rPr lang="en-IT" dirty="0"/>
              <a:t>Tpically this function is controlled by a dedicated control module that is connected to the CAN bus: The KCU (keyless control unit)*</a:t>
            </a:r>
          </a:p>
        </p:txBody>
      </p:sp>
      <p:sp>
        <p:nvSpPr>
          <p:cNvPr id="4" name="TextBox 3">
            <a:extLst>
              <a:ext uri="{FF2B5EF4-FFF2-40B4-BE49-F238E27FC236}">
                <a16:creationId xmlns:a16="http://schemas.microsoft.com/office/drawing/2014/main" id="{F7F0A2E0-A996-937F-903C-F18BF6732C5F}"/>
              </a:ext>
            </a:extLst>
          </p:cNvPr>
          <p:cNvSpPr txBox="1"/>
          <p:nvPr/>
        </p:nvSpPr>
        <p:spPr>
          <a:xfrm>
            <a:off x="729049" y="6351373"/>
            <a:ext cx="9258112" cy="369332"/>
          </a:xfrm>
          <a:prstGeom prst="rect">
            <a:avLst/>
          </a:prstGeom>
          <a:noFill/>
        </p:spPr>
        <p:txBody>
          <a:bodyPr wrap="none" rtlCol="0">
            <a:spAutoFit/>
          </a:bodyPr>
          <a:lstStyle/>
          <a:p>
            <a:r>
              <a:rPr lang="en-IT" dirty="0"/>
              <a:t>* Some early Tiger 1200 models incorporated the function into the CCU (chassis control unit)</a:t>
            </a:r>
          </a:p>
        </p:txBody>
      </p:sp>
    </p:spTree>
    <p:extLst>
      <p:ext uri="{BB962C8B-B14F-4D97-AF65-F5344CB8AC3E}">
        <p14:creationId xmlns:p14="http://schemas.microsoft.com/office/powerpoint/2010/main" val="2572929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D669BF-E359-FCF4-D328-D808EB7996B1}"/>
              </a:ext>
            </a:extLst>
          </p:cNvPr>
          <p:cNvPicPr>
            <a:picLocks noChangeAspect="1"/>
          </p:cNvPicPr>
          <p:nvPr/>
        </p:nvPicPr>
        <p:blipFill>
          <a:blip r:embed="rId3"/>
          <a:stretch>
            <a:fillRect/>
          </a:stretch>
        </p:blipFill>
        <p:spPr>
          <a:xfrm rot="5400000">
            <a:off x="3916053" y="-2062727"/>
            <a:ext cx="669006" cy="1672513"/>
          </a:xfrm>
          <a:prstGeom prst="rect">
            <a:avLst/>
          </a:prstGeom>
        </p:spPr>
      </p:pic>
      <p:pic>
        <p:nvPicPr>
          <p:cNvPr id="7" name="Picture 6" descr="A close up of a key&#10;&#10;AI-generated content may be incorrect.">
            <a:extLst>
              <a:ext uri="{FF2B5EF4-FFF2-40B4-BE49-F238E27FC236}">
                <a16:creationId xmlns:a16="http://schemas.microsoft.com/office/drawing/2014/main" id="{C36C0153-4046-E194-83DE-1249A62450B9}"/>
              </a:ext>
            </a:extLst>
          </p:cNvPr>
          <p:cNvPicPr>
            <a:picLocks noChangeAspect="1"/>
          </p:cNvPicPr>
          <p:nvPr/>
        </p:nvPicPr>
        <p:blipFill>
          <a:blip r:embed="rId4"/>
          <a:stretch>
            <a:fillRect/>
          </a:stretch>
        </p:blipFill>
        <p:spPr>
          <a:xfrm rot="5400000">
            <a:off x="1901640" y="-2032499"/>
            <a:ext cx="669006" cy="1612061"/>
          </a:xfrm>
          <a:prstGeom prst="rect">
            <a:avLst/>
          </a:prstGeom>
        </p:spPr>
      </p:pic>
      <p:sp>
        <p:nvSpPr>
          <p:cNvPr id="4" name="Rectangle 3">
            <a:extLst>
              <a:ext uri="{FF2B5EF4-FFF2-40B4-BE49-F238E27FC236}">
                <a16:creationId xmlns:a16="http://schemas.microsoft.com/office/drawing/2014/main" id="{615422D3-2E67-074D-36E0-419A883C6313}"/>
              </a:ext>
            </a:extLst>
          </p:cNvPr>
          <p:cNvSpPr/>
          <p:nvPr/>
        </p:nvSpPr>
        <p:spPr>
          <a:xfrm>
            <a:off x="328748" y="1221774"/>
            <a:ext cx="4997014" cy="220722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The key recognition process is initiated by the KCU energising the external LF antenna). There are two methods of communication from the key to the KCU, either via UHF (for “smart” keys) or LF (as a backup method for “smart” keys and used for “non-smart” keys). </a:t>
            </a:r>
          </a:p>
        </p:txBody>
      </p:sp>
      <p:sp>
        <p:nvSpPr>
          <p:cNvPr id="6" name="Rectangle 5">
            <a:extLst>
              <a:ext uri="{FF2B5EF4-FFF2-40B4-BE49-F238E27FC236}">
                <a16:creationId xmlns:a16="http://schemas.microsoft.com/office/drawing/2014/main" id="{A2CCA519-F051-0C18-6B32-D7FA68300212}"/>
              </a:ext>
            </a:extLst>
          </p:cNvPr>
          <p:cNvSpPr/>
          <p:nvPr/>
        </p:nvSpPr>
        <p:spPr>
          <a:xfrm>
            <a:off x="3244427" y="3688491"/>
            <a:ext cx="4684241" cy="2248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GB" dirty="0"/>
              <a:t>The key recognition process is initiated by the KCU energising the external LF antenna(e). There are two methods of communication from the key to the KCU, either via UHF (for “smart” keys) or LF (as a backup method for “smart” keys and used for “non-smart” keys). </a:t>
            </a:r>
          </a:p>
        </p:txBody>
      </p:sp>
      <p:sp>
        <p:nvSpPr>
          <p:cNvPr id="10" name="Rectangle 9">
            <a:extLst>
              <a:ext uri="{FF2B5EF4-FFF2-40B4-BE49-F238E27FC236}">
                <a16:creationId xmlns:a16="http://schemas.microsoft.com/office/drawing/2014/main" id="{72AA31E9-D06B-CC98-89B1-C9BE748B6202}"/>
              </a:ext>
            </a:extLst>
          </p:cNvPr>
          <p:cNvSpPr/>
          <p:nvPr/>
        </p:nvSpPr>
        <p:spPr>
          <a:xfrm>
            <a:off x="8201929" y="4551163"/>
            <a:ext cx="3388709" cy="220722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GB" dirty="0"/>
              <a:t>The key recognition is based on a mutual identification and authentication between the transponder and the RCU KCU or CCU. </a:t>
            </a:r>
          </a:p>
        </p:txBody>
      </p:sp>
      <p:sp>
        <p:nvSpPr>
          <p:cNvPr id="14" name="Title 1">
            <a:extLst>
              <a:ext uri="{FF2B5EF4-FFF2-40B4-BE49-F238E27FC236}">
                <a16:creationId xmlns:a16="http://schemas.microsoft.com/office/drawing/2014/main" id="{9F0AF221-87D7-81CD-C2DF-9B86D869F6DD}"/>
              </a:ext>
            </a:extLst>
          </p:cNvPr>
          <p:cNvSpPr>
            <a:spLocks noGrp="1"/>
          </p:cNvSpPr>
          <p:nvPr>
            <p:ph type="title"/>
          </p:nvPr>
        </p:nvSpPr>
        <p:spPr>
          <a:xfrm>
            <a:off x="328748" y="249645"/>
            <a:ext cx="10515600" cy="862784"/>
          </a:xfrm>
        </p:spPr>
        <p:txBody>
          <a:bodyPr>
            <a:normAutofit/>
          </a:bodyPr>
          <a:lstStyle/>
          <a:p>
            <a:r>
              <a:rPr lang="en-GB" dirty="0"/>
              <a:t>Key to Control Unit Communication</a:t>
            </a:r>
          </a:p>
        </p:txBody>
      </p:sp>
    </p:spTree>
    <p:extLst>
      <p:ext uri="{BB962C8B-B14F-4D97-AF65-F5344CB8AC3E}">
        <p14:creationId xmlns:p14="http://schemas.microsoft.com/office/powerpoint/2010/main" val="151417325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34F2-66DA-0D97-BFED-C220D6A5F4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CCEEC7-14E7-8090-06A0-89568B986023}"/>
              </a:ext>
            </a:extLst>
          </p:cNvPr>
          <p:cNvSpPr>
            <a:spLocks noGrp="1"/>
          </p:cNvSpPr>
          <p:nvPr>
            <p:ph idx="1"/>
          </p:nvPr>
        </p:nvSpPr>
        <p:spPr>
          <a:xfrm>
            <a:off x="414745" y="6608355"/>
            <a:ext cx="11362509" cy="4351338"/>
          </a:xfrm>
        </p:spPr>
        <p:txBody>
          <a:bodyPr>
            <a:noAutofit/>
          </a:bodyPr>
          <a:lstStyle/>
          <a:p>
            <a:endParaRPr lang="en-GB" sz="1600" dirty="0"/>
          </a:p>
          <a:p>
            <a:pPr marL="0" indent="0">
              <a:buNone/>
            </a:pPr>
            <a:endParaRPr lang="en-GB" sz="1600" dirty="0"/>
          </a:p>
          <a:p>
            <a:pPr marL="0" indent="0">
              <a:buNone/>
            </a:pPr>
            <a:endParaRPr lang="en-GB" sz="1600" dirty="0"/>
          </a:p>
          <a:p>
            <a:endParaRPr lang="en-GB" sz="1600" dirty="0"/>
          </a:p>
          <a:p>
            <a:r>
              <a:rPr lang="en-GB" sz="1600" dirty="0"/>
              <a:t>Point of interest - In a motorcycle keyless ignition system, UHF (ultra-high frequency) and LF (low frequency) are two distinct communication bands. LF, typically around 125 kHz, is used for the initial authentication, as it offers better range for close-proximity detection and is less prone to interference. UHF, either 315 or 434 MHz range, is used for active communication once the system is engaged, allowing for longer range and more secure data transfer. In short, LF handles proximity sensing, while UHF supports the ongoing communication once the key is near.</a:t>
            </a:r>
          </a:p>
          <a:p>
            <a:endParaRPr lang="en-GB" sz="1600" dirty="0"/>
          </a:p>
        </p:txBody>
      </p:sp>
      <p:pic>
        <p:nvPicPr>
          <p:cNvPr id="5" name="Picture 4">
            <a:extLst>
              <a:ext uri="{FF2B5EF4-FFF2-40B4-BE49-F238E27FC236}">
                <a16:creationId xmlns:a16="http://schemas.microsoft.com/office/drawing/2014/main" id="{FAEE2800-D379-09D2-AB4E-45C1AA1EA03A}"/>
              </a:ext>
            </a:extLst>
          </p:cNvPr>
          <p:cNvPicPr>
            <a:picLocks noChangeAspect="1"/>
          </p:cNvPicPr>
          <p:nvPr/>
        </p:nvPicPr>
        <p:blipFill>
          <a:blip r:embed="rId2"/>
          <a:stretch>
            <a:fillRect/>
          </a:stretch>
        </p:blipFill>
        <p:spPr>
          <a:xfrm rot="5400000">
            <a:off x="6276194" y="1477115"/>
            <a:ext cx="669006" cy="1672513"/>
          </a:xfrm>
          <a:prstGeom prst="rect">
            <a:avLst/>
          </a:prstGeom>
        </p:spPr>
      </p:pic>
      <p:pic>
        <p:nvPicPr>
          <p:cNvPr id="7" name="Picture 6" descr="A close up of a key&#10;&#10;AI-generated content may be incorrect.">
            <a:extLst>
              <a:ext uri="{FF2B5EF4-FFF2-40B4-BE49-F238E27FC236}">
                <a16:creationId xmlns:a16="http://schemas.microsoft.com/office/drawing/2014/main" id="{D6C84C0B-1040-CC32-15DA-7E67C8407DAF}"/>
              </a:ext>
            </a:extLst>
          </p:cNvPr>
          <p:cNvPicPr>
            <a:picLocks noChangeAspect="1"/>
          </p:cNvPicPr>
          <p:nvPr/>
        </p:nvPicPr>
        <p:blipFill>
          <a:blip r:embed="rId3"/>
          <a:stretch>
            <a:fillRect/>
          </a:stretch>
        </p:blipFill>
        <p:spPr>
          <a:xfrm rot="5400000">
            <a:off x="9315695" y="1472551"/>
            <a:ext cx="669006" cy="1612061"/>
          </a:xfrm>
          <a:prstGeom prst="rect">
            <a:avLst/>
          </a:prstGeom>
        </p:spPr>
      </p:pic>
      <p:sp>
        <p:nvSpPr>
          <p:cNvPr id="11" name="Rectangle 10">
            <a:extLst>
              <a:ext uri="{FF2B5EF4-FFF2-40B4-BE49-F238E27FC236}">
                <a16:creationId xmlns:a16="http://schemas.microsoft.com/office/drawing/2014/main" id="{6EE0C911-8EA4-B55A-1BB4-FFD28EB076F2}"/>
              </a:ext>
            </a:extLst>
          </p:cNvPr>
          <p:cNvSpPr/>
          <p:nvPr/>
        </p:nvSpPr>
        <p:spPr>
          <a:xfrm>
            <a:off x="297723" y="1494427"/>
            <a:ext cx="5065109" cy="19345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GB" dirty="0"/>
              <a:t>The key recognition process is initiated by the KCU energising the external LF antenna(e). There are two methods of communication from the key to the KCU, either via UHF (for “smart” keys) or LF (as a backup method for “smart” keys and used for “non-smart” keys). </a:t>
            </a:r>
          </a:p>
        </p:txBody>
      </p:sp>
      <p:sp>
        <p:nvSpPr>
          <p:cNvPr id="9" name="TextBox 8">
            <a:extLst>
              <a:ext uri="{FF2B5EF4-FFF2-40B4-BE49-F238E27FC236}">
                <a16:creationId xmlns:a16="http://schemas.microsoft.com/office/drawing/2014/main" id="{FA28EE34-0F5A-47B3-CCB1-CE9E90A1B7BF}"/>
              </a:ext>
            </a:extLst>
          </p:cNvPr>
          <p:cNvSpPr txBox="1"/>
          <p:nvPr/>
        </p:nvSpPr>
        <p:spPr>
          <a:xfrm>
            <a:off x="5586548" y="1494427"/>
            <a:ext cx="6098058" cy="369332"/>
          </a:xfrm>
          <a:prstGeom prst="rect">
            <a:avLst/>
          </a:prstGeom>
          <a:noFill/>
        </p:spPr>
        <p:txBody>
          <a:bodyPr wrap="square">
            <a:spAutoFit/>
          </a:bodyPr>
          <a:lstStyle/>
          <a:p>
            <a:r>
              <a:rPr lang="en-GB" sz="1800" dirty="0"/>
              <a:t>“non-smart” keys.                              “smart” keys</a:t>
            </a:r>
          </a:p>
        </p:txBody>
      </p:sp>
      <p:sp>
        <p:nvSpPr>
          <p:cNvPr id="13" name="TextBox 12">
            <a:extLst>
              <a:ext uri="{FF2B5EF4-FFF2-40B4-BE49-F238E27FC236}">
                <a16:creationId xmlns:a16="http://schemas.microsoft.com/office/drawing/2014/main" id="{8AEAA8C6-0924-49A9-5254-0F6654C15CD8}"/>
              </a:ext>
            </a:extLst>
          </p:cNvPr>
          <p:cNvSpPr txBox="1"/>
          <p:nvPr/>
        </p:nvSpPr>
        <p:spPr>
          <a:xfrm>
            <a:off x="2072847" y="3465460"/>
            <a:ext cx="5575986"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GB" sz="1800" dirty="0"/>
              <a:t>The key recognition process must remain transparent for the rider, and therefore the time taken to authenticate the key should be as short as practicable. The overall time before the key authentication result is available should be a maximum of approximately 5 seconds. The nominal time before the key authentication result is available however is 200ms. </a:t>
            </a:r>
            <a:endParaRPr lang="en-IT" dirty="0"/>
          </a:p>
        </p:txBody>
      </p:sp>
      <p:sp>
        <p:nvSpPr>
          <p:cNvPr id="15" name="TextBox 14">
            <a:extLst>
              <a:ext uri="{FF2B5EF4-FFF2-40B4-BE49-F238E27FC236}">
                <a16:creationId xmlns:a16="http://schemas.microsoft.com/office/drawing/2014/main" id="{8001D34D-AF5F-0BDD-F743-BBB69488FE81}"/>
              </a:ext>
            </a:extLst>
          </p:cNvPr>
          <p:cNvSpPr txBox="1"/>
          <p:nvPr/>
        </p:nvSpPr>
        <p:spPr>
          <a:xfrm>
            <a:off x="7793710" y="4342623"/>
            <a:ext cx="4237652"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dirty="0"/>
              <a:t>The first key identification process should be of “smart” keys (via UHF, then LF), followed by any paired “non-smart” keys (via LF only). In addition, if multiple LF antennas are present, the key identification process should poll for each key via each antenna, before attempting to identify a different key. </a:t>
            </a:r>
          </a:p>
        </p:txBody>
      </p:sp>
      <p:sp>
        <p:nvSpPr>
          <p:cNvPr id="18" name="Title 1">
            <a:extLst>
              <a:ext uri="{FF2B5EF4-FFF2-40B4-BE49-F238E27FC236}">
                <a16:creationId xmlns:a16="http://schemas.microsoft.com/office/drawing/2014/main" id="{E8CD01C6-6402-6758-6FA7-5BB8446433D2}"/>
              </a:ext>
            </a:extLst>
          </p:cNvPr>
          <p:cNvSpPr txBox="1">
            <a:spLocks/>
          </p:cNvSpPr>
          <p:nvPr/>
        </p:nvSpPr>
        <p:spPr>
          <a:xfrm>
            <a:off x="328748" y="249645"/>
            <a:ext cx="10515600" cy="8627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Key to Control Unit Communication</a:t>
            </a:r>
          </a:p>
        </p:txBody>
      </p:sp>
    </p:spTree>
    <p:extLst>
      <p:ext uri="{BB962C8B-B14F-4D97-AF65-F5344CB8AC3E}">
        <p14:creationId xmlns:p14="http://schemas.microsoft.com/office/powerpoint/2010/main" val="933471320"/>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F3FA-5CB9-3DE7-12E5-0B3970BEF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4F188-EF1D-8EE0-7260-34DF4C6A2F40}"/>
              </a:ext>
            </a:extLst>
          </p:cNvPr>
          <p:cNvSpPr>
            <a:spLocks noGrp="1"/>
          </p:cNvSpPr>
          <p:nvPr>
            <p:ph type="title"/>
          </p:nvPr>
        </p:nvSpPr>
        <p:spPr>
          <a:xfrm>
            <a:off x="328748" y="249645"/>
            <a:ext cx="10515600" cy="862784"/>
          </a:xfrm>
        </p:spPr>
        <p:txBody>
          <a:bodyPr>
            <a:normAutofit/>
          </a:bodyPr>
          <a:lstStyle/>
          <a:p>
            <a:r>
              <a:rPr lang="en-GB" dirty="0"/>
              <a:t>Key to Control Unit Communication</a:t>
            </a:r>
          </a:p>
        </p:txBody>
      </p:sp>
      <p:sp>
        <p:nvSpPr>
          <p:cNvPr id="3" name="Content Placeholder 2">
            <a:extLst>
              <a:ext uri="{FF2B5EF4-FFF2-40B4-BE49-F238E27FC236}">
                <a16:creationId xmlns:a16="http://schemas.microsoft.com/office/drawing/2014/main" id="{687E3C3F-4470-56C5-8529-97D1C97588AC}"/>
              </a:ext>
            </a:extLst>
          </p:cNvPr>
          <p:cNvSpPr>
            <a:spLocks noGrp="1"/>
          </p:cNvSpPr>
          <p:nvPr>
            <p:ph idx="1"/>
          </p:nvPr>
        </p:nvSpPr>
        <p:spPr>
          <a:xfrm>
            <a:off x="686197" y="4806885"/>
            <a:ext cx="9841363" cy="459710"/>
          </a:xfrm>
        </p:spPr>
        <p:txBody>
          <a:bodyPr>
            <a:noAutofit/>
          </a:bodyPr>
          <a:lstStyle/>
          <a:p>
            <a:pPr marL="0" indent="0">
              <a:buNone/>
            </a:pPr>
            <a:r>
              <a:rPr lang="en-GB" sz="1600" dirty="0"/>
              <a:t> In short, LF handles proximity sensing, while UHF supports the ongoing communication once the key is near.</a:t>
            </a:r>
          </a:p>
        </p:txBody>
      </p:sp>
      <p:pic>
        <p:nvPicPr>
          <p:cNvPr id="5" name="Picture 4">
            <a:extLst>
              <a:ext uri="{FF2B5EF4-FFF2-40B4-BE49-F238E27FC236}">
                <a16:creationId xmlns:a16="http://schemas.microsoft.com/office/drawing/2014/main" id="{0323C991-EABF-6633-BB62-2FAE88F623C2}"/>
              </a:ext>
            </a:extLst>
          </p:cNvPr>
          <p:cNvPicPr>
            <a:picLocks noChangeAspect="1"/>
          </p:cNvPicPr>
          <p:nvPr/>
        </p:nvPicPr>
        <p:blipFill>
          <a:blip r:embed="rId2"/>
          <a:stretch>
            <a:fillRect/>
          </a:stretch>
        </p:blipFill>
        <p:spPr>
          <a:xfrm rot="5400000">
            <a:off x="3916053" y="-2062727"/>
            <a:ext cx="669006" cy="1672513"/>
          </a:xfrm>
          <a:prstGeom prst="rect">
            <a:avLst/>
          </a:prstGeom>
        </p:spPr>
      </p:pic>
      <p:pic>
        <p:nvPicPr>
          <p:cNvPr id="7" name="Picture 6" descr="A close up of a key&#10;&#10;AI-generated content may be incorrect.">
            <a:extLst>
              <a:ext uri="{FF2B5EF4-FFF2-40B4-BE49-F238E27FC236}">
                <a16:creationId xmlns:a16="http://schemas.microsoft.com/office/drawing/2014/main" id="{1A5991AC-BCE0-2CFF-27F3-6E384C92CC90}"/>
              </a:ext>
            </a:extLst>
          </p:cNvPr>
          <p:cNvPicPr>
            <a:picLocks noChangeAspect="1"/>
          </p:cNvPicPr>
          <p:nvPr/>
        </p:nvPicPr>
        <p:blipFill>
          <a:blip r:embed="rId3"/>
          <a:stretch>
            <a:fillRect/>
          </a:stretch>
        </p:blipFill>
        <p:spPr>
          <a:xfrm rot="5400000">
            <a:off x="1901640" y="-2032499"/>
            <a:ext cx="669006" cy="1612061"/>
          </a:xfrm>
          <a:prstGeom prst="rect">
            <a:avLst/>
          </a:prstGeom>
        </p:spPr>
      </p:pic>
      <p:sp>
        <p:nvSpPr>
          <p:cNvPr id="9" name="TextBox 8">
            <a:extLst>
              <a:ext uri="{FF2B5EF4-FFF2-40B4-BE49-F238E27FC236}">
                <a16:creationId xmlns:a16="http://schemas.microsoft.com/office/drawing/2014/main" id="{EF1B5100-1A85-D404-DD61-CCD39CD6B3C6}"/>
              </a:ext>
            </a:extLst>
          </p:cNvPr>
          <p:cNvSpPr txBox="1"/>
          <p:nvPr/>
        </p:nvSpPr>
        <p:spPr>
          <a:xfrm>
            <a:off x="658791" y="1943994"/>
            <a:ext cx="4948087" cy="2031325"/>
          </a:xfrm>
          <a:prstGeom prst="rect">
            <a:avLst/>
          </a:prstGeom>
          <a:noFill/>
        </p:spPr>
        <p:txBody>
          <a:bodyPr wrap="square">
            <a:spAutoFit/>
          </a:bodyPr>
          <a:lstStyle/>
          <a:p>
            <a:r>
              <a:rPr lang="en-GB" sz="1800" dirty="0"/>
              <a:t>Point of interest - In a motorcycle keyless ignition system, UHF (ultra-high frequency) and LF (low frequency) are two distinct communication bands. LF, typically around 125 kHz, is used for the initial authentication, as it offers better range for close-proximity detection and is less prone to interference. </a:t>
            </a:r>
            <a:endParaRPr lang="en-IT" dirty="0"/>
          </a:p>
        </p:txBody>
      </p:sp>
      <p:sp>
        <p:nvSpPr>
          <p:cNvPr id="13" name="TextBox 12">
            <a:extLst>
              <a:ext uri="{FF2B5EF4-FFF2-40B4-BE49-F238E27FC236}">
                <a16:creationId xmlns:a16="http://schemas.microsoft.com/office/drawing/2014/main" id="{66ADCB5C-EF80-AC08-B67A-2D50E5162EF9}"/>
              </a:ext>
            </a:extLst>
          </p:cNvPr>
          <p:cNvSpPr txBox="1"/>
          <p:nvPr/>
        </p:nvSpPr>
        <p:spPr>
          <a:xfrm>
            <a:off x="6585124" y="2254039"/>
            <a:ext cx="4649229" cy="1200329"/>
          </a:xfrm>
          <a:prstGeom prst="rect">
            <a:avLst/>
          </a:prstGeom>
          <a:noFill/>
        </p:spPr>
        <p:txBody>
          <a:bodyPr wrap="square">
            <a:spAutoFit/>
          </a:bodyPr>
          <a:lstStyle/>
          <a:p>
            <a:r>
              <a:rPr lang="en-GB" sz="1800" dirty="0"/>
              <a:t>UHF, either 315 or 434 MHz range, is used for active communication once the system is engaged, allowing for longer range and more secure data transfer.</a:t>
            </a:r>
            <a:endParaRPr lang="en-IT" dirty="0"/>
          </a:p>
        </p:txBody>
      </p:sp>
    </p:spTree>
    <p:extLst>
      <p:ext uri="{BB962C8B-B14F-4D97-AF65-F5344CB8AC3E}">
        <p14:creationId xmlns:p14="http://schemas.microsoft.com/office/powerpoint/2010/main" val="1039477745"/>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7F830D-F7CE-ADF0-B547-6902F5221F6F}"/>
              </a:ext>
            </a:extLst>
          </p:cNvPr>
          <p:cNvSpPr>
            <a:spLocks noChangeArrowheads="1"/>
          </p:cNvSpPr>
          <p:nvPr/>
        </p:nvSpPr>
        <p:spPr bwMode="auto">
          <a:xfrm>
            <a:off x="787400" y="1720841"/>
            <a:ext cx="102870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T" altLang="en-IT" sz="1800" b="1" i="0" u="none" strike="noStrike" cap="none" normalizeH="0" baseline="0" dirty="0">
                <a:ln>
                  <a:noFill/>
                </a:ln>
                <a:solidFill>
                  <a:srgbClr val="000000"/>
                </a:solidFill>
                <a:effectLst/>
                <a:latin typeface="Arial" panose="020B0604020202020204" pitchFamily="34" charset="0"/>
              </a:rPr>
              <a:t>Question:</a:t>
            </a:r>
            <a:br>
              <a:rPr kumimoji="0" lang="en-IT" altLang="en-IT" sz="1800" b="0" i="0" u="none" strike="noStrike" cap="none" normalizeH="0" baseline="0" dirty="0">
                <a:ln>
                  <a:noFill/>
                </a:ln>
                <a:solidFill>
                  <a:srgbClr val="000000"/>
                </a:solidFill>
                <a:effectLst/>
                <a:latin typeface="Arial" panose="020B0604020202020204" pitchFamily="34" charset="0"/>
              </a:rPr>
            </a:br>
            <a:r>
              <a:rPr kumimoji="0" lang="en-IT" altLang="en-IT" sz="1800" b="0" i="0" u="none" strike="noStrike" cap="none" normalizeH="0" baseline="0" dirty="0">
                <a:ln>
                  <a:noFill/>
                </a:ln>
                <a:solidFill>
                  <a:srgbClr val="000000"/>
                </a:solidFill>
                <a:effectLst/>
                <a:latin typeface="Arial" panose="020B0604020202020204" pitchFamily="34" charset="0"/>
              </a:rPr>
              <a:t>What allows a rider to start a motorcycle fitted with a keyless ignition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IT" altLang="en-IT"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IT" altLang="en-IT" sz="1800" b="1" i="0" u="none" strike="noStrike" cap="none" normalizeH="0" baseline="0" dirty="0">
                <a:ln>
                  <a:noFill/>
                </a:ln>
                <a:solidFill>
                  <a:srgbClr val="000000"/>
                </a:solidFill>
                <a:effectLst/>
                <a:latin typeface="Arial" panose="020B0604020202020204" pitchFamily="34" charset="0"/>
              </a:rPr>
              <a:t>Options:</a:t>
            </a:r>
            <a:endParaRPr kumimoji="0" lang="en-IT" altLang="en-IT"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The key transmits its identity wirelessly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The ignition switch reads a magnetic strip inside the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The motorcycle stores the rider's fingerprint.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The key must physically fit into the barrel of the ignition switch and the teeth be in the correct format.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IT" altLang="en-IT" sz="18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IT" altLang="en-IT" sz="1800" b="1" i="0" u="none" strike="noStrike" cap="none" normalizeH="0" baseline="0" dirty="0">
                <a:ln>
                  <a:noFill/>
                </a:ln>
                <a:solidFill>
                  <a:srgbClr val="000000"/>
                </a:solidFill>
                <a:effectLst/>
                <a:latin typeface="Arial" panose="020B0604020202020204" pitchFamily="34" charset="0"/>
              </a:rPr>
              <a:t>Feedback:</a:t>
            </a:r>
            <a:br>
              <a:rPr kumimoji="0" lang="en-IT" altLang="en-IT" sz="1800" b="0" i="0" u="none" strike="noStrike" cap="none" normalizeH="0" baseline="0" dirty="0">
                <a:ln>
                  <a:noFill/>
                </a:ln>
                <a:solidFill>
                  <a:srgbClr val="000000"/>
                </a:solidFill>
                <a:effectLst/>
                <a:latin typeface="Arial" panose="020B0604020202020204" pitchFamily="34" charset="0"/>
              </a:rPr>
            </a:br>
            <a:r>
              <a:rPr kumimoji="0" lang="en-IT" altLang="en-IT" sz="1800" b="0" i="0" u="none" strike="noStrike" cap="none" normalizeH="0" baseline="0" dirty="0">
                <a:ln>
                  <a:noFill/>
                </a:ln>
                <a:solidFill>
                  <a:srgbClr val="000000"/>
                </a:solidFill>
                <a:effectLst/>
                <a:latin typeface="Arial" panose="020B0604020202020204" pitchFamily="34" charset="0"/>
              </a:rPr>
              <a:t>Correct. The key communicates wirelessly with the motorcycle when it is within range.</a:t>
            </a:r>
            <a:endParaRPr kumimoji="0" lang="en-IT" altLang="en-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3761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31B2F0-66C8-E0A4-D666-A28483D06C93}"/>
              </a:ext>
            </a:extLst>
          </p:cNvPr>
          <p:cNvSpPr>
            <a:spLocks noChangeArrowheads="1"/>
          </p:cNvSpPr>
          <p:nvPr/>
        </p:nvSpPr>
        <p:spPr bwMode="auto">
          <a:xfrm>
            <a:off x="1054100" y="1842691"/>
            <a:ext cx="105537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T" altLang="en-IT" sz="1800" b="1" i="0" u="none" strike="noStrike" cap="none" normalizeH="0" baseline="0" dirty="0">
                <a:ln>
                  <a:noFill/>
                </a:ln>
                <a:solidFill>
                  <a:srgbClr val="000000"/>
                </a:solidFill>
                <a:effectLst/>
                <a:latin typeface="Arial" panose="020B0604020202020204" pitchFamily="34" charset="0"/>
              </a:rPr>
              <a:t>Question:</a:t>
            </a:r>
            <a:br>
              <a:rPr kumimoji="0" lang="en-IT" altLang="en-IT" sz="1800" b="0" i="0" u="none" strike="noStrike" cap="none" normalizeH="0" baseline="0" dirty="0">
                <a:ln>
                  <a:noFill/>
                </a:ln>
                <a:solidFill>
                  <a:srgbClr val="000000"/>
                </a:solidFill>
                <a:effectLst/>
                <a:latin typeface="Arial" panose="020B0604020202020204" pitchFamily="34" charset="0"/>
              </a:rPr>
            </a:br>
            <a:r>
              <a:rPr kumimoji="0" lang="en-IT" altLang="en-IT" sz="1800" b="0" i="0" u="none" strike="noStrike" cap="none" normalizeH="0" baseline="0" dirty="0">
                <a:ln>
                  <a:noFill/>
                </a:ln>
                <a:solidFill>
                  <a:srgbClr val="000000"/>
                </a:solidFill>
                <a:effectLst/>
                <a:latin typeface="Arial" panose="020B0604020202020204" pitchFamily="34" charset="0"/>
              </a:rPr>
              <a:t>Which of the following are involved in recognising a valid key?</a:t>
            </a:r>
            <a:endParaRPr kumimoji="0" lang="en-IT" altLang="en-IT"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IT" altLang="en-IT" sz="1800" b="0" i="1" u="none" strike="noStrike" cap="none" normalizeH="0" baseline="0" dirty="0">
                <a:ln>
                  <a:noFill/>
                </a:ln>
                <a:solidFill>
                  <a:srgbClr val="000000"/>
                </a:solidFill>
                <a:effectLst/>
                <a:latin typeface="Arial" panose="020B0604020202020204" pitchFamily="34" charset="0"/>
              </a:rPr>
              <a:t>(Select all that apply.)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IT" altLang="en-IT"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 LF antenna(s)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 The key (transponder)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 Keyless Control Unit (KCU)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Engine oil pressure switch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IT" altLang="en-IT" sz="1800" b="0" i="0" u="none" strike="noStrike" cap="none" normalizeH="0" baseline="0" dirty="0">
                <a:ln>
                  <a:noFill/>
                </a:ln>
                <a:solidFill>
                  <a:srgbClr val="000000"/>
                </a:solidFill>
                <a:effectLst/>
                <a:latin typeface="Arial" panose="020B0604020202020204" pitchFamily="34" charset="0"/>
              </a:rPr>
              <a:t>Clutch switch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IT" altLang="en-IT" sz="18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IT" altLang="en-IT" sz="1800" b="1" i="0" u="none" strike="noStrike" cap="none" normalizeH="0" baseline="0" dirty="0">
                <a:ln>
                  <a:noFill/>
                </a:ln>
                <a:solidFill>
                  <a:srgbClr val="000000"/>
                </a:solidFill>
                <a:effectLst/>
                <a:latin typeface="Arial" panose="020B0604020202020204" pitchFamily="34" charset="0"/>
              </a:rPr>
              <a:t>Feedback:</a:t>
            </a:r>
            <a:br>
              <a:rPr kumimoji="0" lang="en-IT" altLang="en-IT" sz="1800" b="0" i="0" u="none" strike="noStrike" cap="none" normalizeH="0" baseline="0" dirty="0">
                <a:ln>
                  <a:noFill/>
                </a:ln>
                <a:solidFill>
                  <a:srgbClr val="000000"/>
                </a:solidFill>
                <a:effectLst/>
                <a:latin typeface="Arial" panose="020B0604020202020204" pitchFamily="34" charset="0"/>
              </a:rPr>
            </a:br>
            <a:r>
              <a:rPr kumimoji="0" lang="en-IT" altLang="en-IT" sz="1800" b="0" i="0" u="none" strike="noStrike" cap="none" normalizeH="0" baseline="0" dirty="0">
                <a:ln>
                  <a:noFill/>
                </a:ln>
                <a:solidFill>
                  <a:srgbClr val="000000"/>
                </a:solidFill>
                <a:effectLst/>
                <a:latin typeface="Arial" panose="020B0604020202020204" pitchFamily="34" charset="0"/>
              </a:rPr>
              <a:t>The LF antenna initiates communication, the key responds, and the KCU authenticates the key before allowing operation.</a:t>
            </a:r>
            <a:endParaRPr kumimoji="0" lang="en-IT" altLang="en-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5782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7B0FB0-3782-65D1-4232-FE420F3328D0}"/>
              </a:ext>
            </a:extLst>
          </p:cNvPr>
          <p:cNvSpPr txBox="1"/>
          <p:nvPr/>
        </p:nvSpPr>
        <p:spPr>
          <a:xfrm>
            <a:off x="1676400" y="1443841"/>
            <a:ext cx="8445500" cy="3693319"/>
          </a:xfrm>
          <a:prstGeom prst="rect">
            <a:avLst/>
          </a:prstGeom>
          <a:noFill/>
        </p:spPr>
        <p:txBody>
          <a:bodyPr wrap="square">
            <a:spAutoFit/>
          </a:bodyPr>
          <a:lstStyle/>
          <a:p>
            <a:r>
              <a:rPr lang="en-IT" b="1" dirty="0"/>
              <a:t>Question</a:t>
            </a:r>
            <a:r>
              <a:rPr lang="en-IT" dirty="0"/>
              <a:t>:</a:t>
            </a:r>
          </a:p>
          <a:p>
            <a:r>
              <a:rPr lang="en-IT" dirty="0"/>
              <a:t>What is the purpose of the communication between the key and the KCU?</a:t>
            </a:r>
          </a:p>
          <a:p>
            <a:endParaRPr lang="en-IT" dirty="0"/>
          </a:p>
          <a:p>
            <a:r>
              <a:rPr lang="en-IT" b="1" dirty="0"/>
              <a:t>Options</a:t>
            </a:r>
            <a:r>
              <a:rPr lang="en-IT" dirty="0"/>
              <a:t>:</a:t>
            </a:r>
          </a:p>
          <a:p>
            <a:endParaRPr lang="en-IT" dirty="0"/>
          </a:p>
          <a:p>
            <a:r>
              <a:rPr lang="en-IT" dirty="0"/>
              <a:t>To check the key’s of the correct type.</a:t>
            </a:r>
          </a:p>
          <a:p>
            <a:r>
              <a:rPr lang="en-IT" dirty="0"/>
              <a:t>To exchange a mutual authentication before enabling the system. ✅</a:t>
            </a:r>
          </a:p>
          <a:p>
            <a:r>
              <a:rPr lang="en-IT" dirty="0"/>
              <a:t>To upload service history to the motorcycle.</a:t>
            </a:r>
          </a:p>
          <a:p>
            <a:r>
              <a:rPr lang="en-IT" dirty="0"/>
              <a:t>To synchronise the instruments.</a:t>
            </a:r>
          </a:p>
          <a:p>
            <a:endParaRPr lang="en-IT" dirty="0"/>
          </a:p>
          <a:p>
            <a:r>
              <a:rPr lang="en-IT" b="1" dirty="0"/>
              <a:t>Feedback</a:t>
            </a:r>
            <a:r>
              <a:rPr lang="en-IT" dirty="0"/>
              <a:t>:</a:t>
            </a:r>
          </a:p>
          <a:p>
            <a:r>
              <a:rPr lang="en-IT" dirty="0"/>
              <a:t>Correct. The motorcycle only enables operation after successfully authenticating the key.</a:t>
            </a:r>
          </a:p>
        </p:txBody>
      </p:sp>
    </p:spTree>
    <p:extLst>
      <p:ext uri="{BB962C8B-B14F-4D97-AF65-F5344CB8AC3E}">
        <p14:creationId xmlns:p14="http://schemas.microsoft.com/office/powerpoint/2010/main" val="318090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592538"/>
            <a:ext cx="10972800" cy="658085"/>
          </a:xfrm>
        </p:spPr>
        <p:txBody>
          <a:bodyPr>
            <a:normAutofit fontScale="90000"/>
          </a:bodyPr>
          <a:lstStyle/>
          <a:p>
            <a:r>
              <a:rPr lang="en-GB" dirty="0"/>
              <a:t>Example – keyless system ignition-on process</a:t>
            </a:r>
            <a:br>
              <a:rPr lang="en-GB" dirty="0"/>
            </a:br>
            <a:r>
              <a:rPr lang="en-GB" sz="1600" dirty="0">
                <a:highlight>
                  <a:srgbClr val="FFFF00"/>
                </a:highlight>
              </a:rPr>
              <a:t>YELLOW - </a:t>
            </a:r>
            <a:r>
              <a:rPr lang="en-GB" sz="1600" dirty="0"/>
              <a:t>What customer perceives as being the state of bike. </a:t>
            </a:r>
            <a:r>
              <a:rPr lang="en-GB" sz="1600" dirty="0">
                <a:highlight>
                  <a:srgbClr val="00FFFF"/>
                </a:highlight>
              </a:rPr>
              <a:t>BLUE </a:t>
            </a:r>
            <a:r>
              <a:rPr lang="en-GB" sz="1600" dirty="0"/>
              <a:t>– Actual state of bike.</a:t>
            </a:r>
            <a:br>
              <a:rPr lang="en-GB" dirty="0">
                <a:highlight>
                  <a:srgbClr val="FFFF00"/>
                </a:highlight>
              </a:rPr>
            </a:br>
            <a:endParaRPr lang="en-GB" dirty="0"/>
          </a:p>
        </p:txBody>
      </p:sp>
      <p:sp>
        <p:nvSpPr>
          <p:cNvPr id="5" name="Content Placeholder 4"/>
          <p:cNvSpPr>
            <a:spLocks noGrp="1"/>
          </p:cNvSpPr>
          <p:nvPr>
            <p:ph idx="1"/>
          </p:nvPr>
        </p:nvSpPr>
        <p:spPr>
          <a:xfrm>
            <a:off x="2063552" y="1220754"/>
            <a:ext cx="9985109" cy="4800535"/>
          </a:xfrm>
          <a:ln w="25400">
            <a:solidFill>
              <a:schemeClr val="tx1"/>
            </a:solidFill>
          </a:ln>
        </p:spPr>
        <p:txBody>
          <a:bodyPr>
            <a:normAutofit fontScale="85000" lnSpcReduction="20000"/>
          </a:bodyPr>
          <a:lstStyle/>
          <a:p>
            <a:pPr marL="457189" indent="-457189">
              <a:buFont typeface="+mj-lt"/>
              <a:buAutoNum type="arabicPeriod"/>
            </a:pPr>
            <a:r>
              <a:rPr lang="en-GB" dirty="0">
                <a:highlight>
                  <a:srgbClr val="00FFFF"/>
                </a:highlight>
              </a:rPr>
              <a:t>User presses either “power” or “start” button</a:t>
            </a:r>
            <a:endParaRPr lang="en-GB" sz="2667" dirty="0">
              <a:highlight>
                <a:srgbClr val="00FFFF"/>
              </a:highlight>
            </a:endParaRPr>
          </a:p>
          <a:p>
            <a:pPr marL="457189" indent="-457189">
              <a:buFont typeface="+mj-lt"/>
              <a:buAutoNum type="arabicPeriod"/>
            </a:pPr>
            <a:r>
              <a:rPr lang="en-GB" dirty="0">
                <a:highlight>
                  <a:srgbClr val="00FFFF"/>
                </a:highlight>
              </a:rPr>
              <a:t>Keyless control unit (KCU) wakes up</a:t>
            </a:r>
            <a:endParaRPr lang="en-GB" sz="2667" dirty="0">
              <a:highlight>
                <a:srgbClr val="00FFFF"/>
              </a:highlight>
            </a:endParaRPr>
          </a:p>
          <a:p>
            <a:pPr marL="457189" indent="-457189">
              <a:buFont typeface="+mj-lt"/>
              <a:buAutoNum type="arabicPeriod"/>
            </a:pPr>
            <a:r>
              <a:rPr lang="en-GB" dirty="0">
                <a:highlight>
                  <a:srgbClr val="00FFFF"/>
                </a:highlight>
              </a:rPr>
              <a:t>KCU checks for recognised key being available and for matching ESL identification.</a:t>
            </a:r>
            <a:endParaRPr lang="en-GB" sz="2667" dirty="0">
              <a:highlight>
                <a:srgbClr val="00FFFF"/>
              </a:highlight>
            </a:endParaRPr>
          </a:p>
          <a:p>
            <a:pPr marL="457189" indent="-457189">
              <a:buFont typeface="+mj-lt"/>
              <a:buAutoNum type="arabicPeriod"/>
            </a:pPr>
            <a:r>
              <a:rPr lang="en-GB" dirty="0">
                <a:highlight>
                  <a:srgbClr val="00FFFF"/>
                </a:highlight>
              </a:rPr>
              <a:t>If the KCU finds a recognised key and confirms the ESL identification, it will apply power to the “12v ignition” input to all other components</a:t>
            </a:r>
            <a:endParaRPr lang="en-GB" sz="2667" dirty="0">
              <a:highlight>
                <a:srgbClr val="00FFFF"/>
              </a:highlight>
            </a:endParaRPr>
          </a:p>
          <a:p>
            <a:pPr marL="457189" indent="-457189">
              <a:buFont typeface="+mj-lt"/>
              <a:buAutoNum type="arabicPeriod"/>
            </a:pPr>
            <a:r>
              <a:rPr lang="en-GB" dirty="0">
                <a:highlight>
                  <a:srgbClr val="00FFFF"/>
                </a:highlight>
              </a:rPr>
              <a:t>All other components wake up simultaneously, except ECU which will only wake up if the kill switch is in the “run” position</a:t>
            </a:r>
            <a:endParaRPr lang="en-GB" sz="2667" dirty="0">
              <a:highlight>
                <a:srgbClr val="00FFFF"/>
              </a:highlight>
            </a:endParaRPr>
          </a:p>
          <a:p>
            <a:pPr marL="457189" indent="-457189">
              <a:buFont typeface="+mj-lt"/>
              <a:buAutoNum type="arabicPeriod"/>
            </a:pPr>
            <a:r>
              <a:rPr lang="en-GB" dirty="0">
                <a:highlight>
                  <a:srgbClr val="00FFFF"/>
                </a:highlight>
              </a:rPr>
              <a:t>When ECU wakes, it queries key authentication state from KCU (KCU responds key is authenticated)</a:t>
            </a:r>
            <a:endParaRPr lang="en-GB" sz="2667" dirty="0">
              <a:highlight>
                <a:srgbClr val="00FFFF"/>
              </a:highlight>
            </a:endParaRPr>
          </a:p>
          <a:p>
            <a:pPr marL="457189" indent="-457189">
              <a:buFont typeface="+mj-lt"/>
              <a:buAutoNum type="arabicPeriod"/>
            </a:pPr>
            <a:r>
              <a:rPr lang="en-GB" dirty="0">
                <a:highlight>
                  <a:srgbClr val="00FFFF"/>
                </a:highlight>
              </a:rPr>
              <a:t>ECU and KCU then exchange security keys as final step of immobiliser functionality</a:t>
            </a:r>
            <a:endParaRPr lang="en-GB" sz="2667" dirty="0">
              <a:highlight>
                <a:srgbClr val="00FFFF"/>
              </a:highlight>
            </a:endParaRPr>
          </a:p>
          <a:p>
            <a:pPr marL="457189" indent="-457189">
              <a:buFont typeface="+mj-lt"/>
              <a:buAutoNum type="arabicPeriod"/>
            </a:pPr>
            <a:endParaRPr lang="en-GB" dirty="0">
              <a:highlight>
                <a:srgbClr val="00FFFF"/>
              </a:highlight>
            </a:endParaRPr>
          </a:p>
          <a:p>
            <a:pPr marL="457189" indent="-457189">
              <a:buFont typeface="+mj-lt"/>
              <a:buAutoNum type="arabicPeriod"/>
            </a:pPr>
            <a:r>
              <a:rPr lang="en-GB" dirty="0">
                <a:highlight>
                  <a:srgbClr val="00FFFF"/>
                </a:highlight>
              </a:rPr>
              <a:t>If ECU-KCU exchange is OK, engine can be started.</a:t>
            </a:r>
            <a:endParaRPr lang="en-GB" sz="2667" dirty="0">
              <a:highlight>
                <a:srgbClr val="00FFFF"/>
              </a:highlight>
            </a:endParaRPr>
          </a:p>
          <a:p>
            <a:endParaRPr lang="en-GB" dirty="0"/>
          </a:p>
        </p:txBody>
      </p:sp>
      <p:grpSp>
        <p:nvGrpSpPr>
          <p:cNvPr id="3" name="Group 2"/>
          <p:cNvGrpSpPr/>
          <p:nvPr/>
        </p:nvGrpSpPr>
        <p:grpSpPr>
          <a:xfrm>
            <a:off x="143339" y="1124745"/>
            <a:ext cx="1920213" cy="4896544"/>
            <a:chOff x="107504" y="915566"/>
            <a:chExt cx="1440160" cy="3672408"/>
          </a:xfrm>
        </p:grpSpPr>
        <p:sp>
          <p:nvSpPr>
            <p:cNvPr id="2" name="Rectangle 1"/>
            <p:cNvSpPr/>
            <p:nvPr/>
          </p:nvSpPr>
          <p:spPr>
            <a:xfrm>
              <a:off x="107504" y="915566"/>
              <a:ext cx="1440160" cy="1584176"/>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dirty="0">
                  <a:solidFill>
                    <a:sysClr val="windowText" lastClr="000000"/>
                  </a:solidFill>
                  <a:highlight>
                    <a:srgbClr val="FFFF00"/>
                  </a:highlight>
                  <a:latin typeface="Calibri"/>
                </a:rPr>
                <a:t>BIKE IS “OFF”</a:t>
              </a:r>
            </a:p>
          </p:txBody>
        </p:sp>
        <p:sp>
          <p:nvSpPr>
            <p:cNvPr id="6" name="Rectangle 5"/>
            <p:cNvSpPr/>
            <p:nvPr/>
          </p:nvSpPr>
          <p:spPr>
            <a:xfrm>
              <a:off x="107504" y="2499742"/>
              <a:ext cx="1440160" cy="151216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dirty="0">
                  <a:solidFill>
                    <a:sysClr val="windowText" lastClr="000000"/>
                  </a:solidFill>
                  <a:highlight>
                    <a:srgbClr val="FFFF00"/>
                  </a:highlight>
                  <a:latin typeface="Calibri"/>
                </a:rPr>
                <a:t>BIKE IS “ON”</a:t>
              </a:r>
            </a:p>
          </p:txBody>
        </p:sp>
        <p:sp>
          <p:nvSpPr>
            <p:cNvPr id="7" name="Rectangle 6"/>
            <p:cNvSpPr/>
            <p:nvPr/>
          </p:nvSpPr>
          <p:spPr>
            <a:xfrm>
              <a:off x="107504" y="4011910"/>
              <a:ext cx="1440160" cy="57606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dirty="0">
                  <a:solidFill>
                    <a:sysClr val="windowText" lastClr="000000"/>
                  </a:solidFill>
                  <a:highlight>
                    <a:srgbClr val="FFFF00"/>
                  </a:highlight>
                  <a:latin typeface="Calibri"/>
                </a:rPr>
                <a:t>BIKE CAN START</a:t>
              </a:r>
            </a:p>
          </p:txBody>
        </p:sp>
      </p:grpSp>
      <p:cxnSp>
        <p:nvCxnSpPr>
          <p:cNvPr id="9" name="Straight Connector 8">
            <a:extLst>
              <a:ext uri="{FF2B5EF4-FFF2-40B4-BE49-F238E27FC236}">
                <a16:creationId xmlns:a16="http://schemas.microsoft.com/office/drawing/2014/main" id="{13021BE1-C1AF-ED06-2934-16DBCEF67516}"/>
              </a:ext>
            </a:extLst>
          </p:cNvPr>
          <p:cNvCxnSpPr>
            <a:cxnSpLocks/>
          </p:cNvCxnSpPr>
          <p:nvPr/>
        </p:nvCxnSpPr>
        <p:spPr>
          <a:xfrm>
            <a:off x="2063552" y="3236980"/>
            <a:ext cx="99851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8CBD6D4-7E52-5609-03DE-5AEC96C9E192}"/>
              </a:ext>
            </a:extLst>
          </p:cNvPr>
          <p:cNvCxnSpPr>
            <a:cxnSpLocks/>
          </p:cNvCxnSpPr>
          <p:nvPr/>
        </p:nvCxnSpPr>
        <p:spPr>
          <a:xfrm>
            <a:off x="2063552" y="5253204"/>
            <a:ext cx="99851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170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4CC69B-E8CF-4593-861F-54606BDD2451}"/>
              </a:ext>
            </a:extLst>
          </p:cNvPr>
          <p:cNvPicPr>
            <a:picLocks noChangeAspect="1"/>
          </p:cNvPicPr>
          <p:nvPr/>
        </p:nvPicPr>
        <p:blipFill>
          <a:blip r:embed="rId4"/>
          <a:stretch>
            <a:fillRect/>
          </a:stretch>
        </p:blipFill>
        <p:spPr>
          <a:xfrm>
            <a:off x="2763231" y="1135666"/>
            <a:ext cx="6665537" cy="4608976"/>
          </a:xfrm>
          <a:prstGeom prst="rect">
            <a:avLst/>
          </a:prstGeom>
        </p:spPr>
      </p:pic>
      <p:sp>
        <p:nvSpPr>
          <p:cNvPr id="2" name="Title 1"/>
          <p:cNvSpPr>
            <a:spLocks noGrp="1"/>
          </p:cNvSpPr>
          <p:nvPr>
            <p:ph type="title"/>
          </p:nvPr>
        </p:nvSpPr>
        <p:spPr>
          <a:xfrm>
            <a:off x="143339" y="452672"/>
            <a:ext cx="10972800" cy="658085"/>
          </a:xfrm>
        </p:spPr>
        <p:txBody>
          <a:bodyPr>
            <a:normAutofit fontScale="90000"/>
          </a:bodyPr>
          <a:lstStyle/>
          <a:p>
            <a:r>
              <a:rPr lang="en-GB" sz="2667" dirty="0"/>
              <a:t>Wake Up Sequence – </a:t>
            </a:r>
            <a:r>
              <a:rPr lang="en-GB" sz="2667" dirty="0">
                <a:highlight>
                  <a:srgbClr val="FFFF00"/>
                </a:highlight>
              </a:rPr>
              <a:t>note don’t mix item number up with stage number</a:t>
            </a:r>
            <a:br>
              <a:rPr lang="en-GB" sz="2667" dirty="0"/>
            </a:br>
            <a:r>
              <a:rPr lang="en-GB" sz="1600" dirty="0"/>
              <a:t>(Use with previous slide)</a:t>
            </a:r>
            <a:endParaRPr lang="en-GB" sz="2667" dirty="0"/>
          </a:p>
        </p:txBody>
      </p:sp>
      <p:sp>
        <p:nvSpPr>
          <p:cNvPr id="8" name="Rectangle 7"/>
          <p:cNvSpPr/>
          <p:nvPr/>
        </p:nvSpPr>
        <p:spPr>
          <a:xfrm>
            <a:off x="7720484" y="4408735"/>
            <a:ext cx="1447856" cy="12831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10" name="Oval 9"/>
          <p:cNvSpPr/>
          <p:nvPr/>
        </p:nvSpPr>
        <p:spPr>
          <a:xfrm>
            <a:off x="6863781" y="5473517"/>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7</a:t>
            </a:r>
          </a:p>
        </p:txBody>
      </p:sp>
      <p:sp>
        <p:nvSpPr>
          <p:cNvPr id="11" name="Rectangle 10"/>
          <p:cNvSpPr/>
          <p:nvPr/>
        </p:nvSpPr>
        <p:spPr>
          <a:xfrm>
            <a:off x="3088883" y="1240693"/>
            <a:ext cx="1107149" cy="13261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12" name="Oval 11"/>
          <p:cNvSpPr/>
          <p:nvPr/>
        </p:nvSpPr>
        <p:spPr>
          <a:xfrm>
            <a:off x="2691955" y="847765"/>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3</a:t>
            </a:r>
          </a:p>
        </p:txBody>
      </p:sp>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55336" y="1307362"/>
            <a:ext cx="1509283" cy="16773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13"/>
          <p:cNvSpPr/>
          <p:nvPr/>
        </p:nvSpPr>
        <p:spPr>
          <a:xfrm>
            <a:off x="10149813" y="1307361"/>
            <a:ext cx="1536171" cy="16773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15" name="Oval 14"/>
          <p:cNvSpPr/>
          <p:nvPr/>
        </p:nvSpPr>
        <p:spPr>
          <a:xfrm>
            <a:off x="10581861" y="731297"/>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4</a:t>
            </a:r>
          </a:p>
        </p:txBody>
      </p:sp>
      <p:sp>
        <p:nvSpPr>
          <p:cNvPr id="19" name="Rectangle 18"/>
          <p:cNvSpPr/>
          <p:nvPr/>
        </p:nvSpPr>
        <p:spPr>
          <a:xfrm>
            <a:off x="5276662" y="1268905"/>
            <a:ext cx="1100553" cy="12065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20" name="Oval 19"/>
          <p:cNvSpPr/>
          <p:nvPr/>
        </p:nvSpPr>
        <p:spPr>
          <a:xfrm>
            <a:off x="6103939" y="868700"/>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3</a:t>
            </a:r>
          </a:p>
        </p:txBody>
      </p:sp>
      <p:sp>
        <p:nvSpPr>
          <p:cNvPr id="22" name="Rectangle 21"/>
          <p:cNvSpPr/>
          <p:nvPr/>
        </p:nvSpPr>
        <p:spPr>
          <a:xfrm>
            <a:off x="5193182" y="4422687"/>
            <a:ext cx="1485972" cy="12691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23" name="Oval 22"/>
          <p:cNvSpPr/>
          <p:nvPr/>
        </p:nvSpPr>
        <p:spPr>
          <a:xfrm>
            <a:off x="4676237" y="4645691"/>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6</a:t>
            </a:r>
          </a:p>
        </p:txBody>
      </p:sp>
      <p:sp>
        <p:nvSpPr>
          <p:cNvPr id="24" name="Rectangle 23"/>
          <p:cNvSpPr/>
          <p:nvPr/>
        </p:nvSpPr>
        <p:spPr>
          <a:xfrm>
            <a:off x="3088822" y="4444895"/>
            <a:ext cx="1293089" cy="12334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25" name="Rectangle 24"/>
          <p:cNvSpPr/>
          <p:nvPr/>
        </p:nvSpPr>
        <p:spPr>
          <a:xfrm>
            <a:off x="8061190" y="1289225"/>
            <a:ext cx="1107151" cy="12065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26" name="Oval 25"/>
          <p:cNvSpPr/>
          <p:nvPr/>
        </p:nvSpPr>
        <p:spPr>
          <a:xfrm>
            <a:off x="3453457" y="4002572"/>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2</a:t>
            </a:r>
          </a:p>
        </p:txBody>
      </p:sp>
      <p:sp>
        <p:nvSpPr>
          <p:cNvPr id="27" name="Oval 26"/>
          <p:cNvSpPr/>
          <p:nvPr/>
        </p:nvSpPr>
        <p:spPr>
          <a:xfrm>
            <a:off x="8718029" y="928915"/>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2</a:t>
            </a:r>
          </a:p>
        </p:txBody>
      </p:sp>
      <p:pic>
        <p:nvPicPr>
          <p:cNvPr id="4" name="Content Placeholder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5414" y="2566285"/>
            <a:ext cx="1876541" cy="1055555"/>
          </a:xfrm>
          <a:prstGeom prst="rect">
            <a:avLst/>
          </a:prstGeom>
        </p:spPr>
      </p:pic>
      <p:sp>
        <p:nvSpPr>
          <p:cNvPr id="3" name="Rectangle 2"/>
          <p:cNvSpPr/>
          <p:nvPr/>
        </p:nvSpPr>
        <p:spPr>
          <a:xfrm>
            <a:off x="815414" y="2566287"/>
            <a:ext cx="1876541" cy="10555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7" name="Oval 6"/>
          <p:cNvSpPr/>
          <p:nvPr/>
        </p:nvSpPr>
        <p:spPr>
          <a:xfrm>
            <a:off x="1417647" y="1985724"/>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1</a:t>
            </a:r>
          </a:p>
        </p:txBody>
      </p:sp>
      <p:sp>
        <p:nvSpPr>
          <p:cNvPr id="13" name="Rectangle 12"/>
          <p:cNvSpPr/>
          <p:nvPr/>
        </p:nvSpPr>
        <p:spPr>
          <a:xfrm>
            <a:off x="1028744" y="3667879"/>
            <a:ext cx="1440160" cy="2086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1600">
                <a:solidFill>
                  <a:prstClr val="black"/>
                </a:solidFill>
                <a:latin typeface="Calibri"/>
              </a:rPr>
              <a:t>Power Button</a:t>
            </a:r>
          </a:p>
        </p:txBody>
      </p:sp>
      <p:pic>
        <p:nvPicPr>
          <p:cNvPr id="16" name="Content Placeholder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60363" y="4108896"/>
            <a:ext cx="2058955" cy="1158163"/>
          </a:xfrm>
          <a:prstGeom prst="rect">
            <a:avLst/>
          </a:prstGeom>
        </p:spPr>
      </p:pic>
      <p:sp>
        <p:nvSpPr>
          <p:cNvPr id="18" name="Oval 17"/>
          <p:cNvSpPr/>
          <p:nvPr/>
        </p:nvSpPr>
        <p:spPr>
          <a:xfrm>
            <a:off x="10053803" y="3564912"/>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5</a:t>
            </a:r>
          </a:p>
        </p:txBody>
      </p:sp>
      <p:sp>
        <p:nvSpPr>
          <p:cNvPr id="21" name="Rectangle 20"/>
          <p:cNvSpPr/>
          <p:nvPr/>
        </p:nvSpPr>
        <p:spPr>
          <a:xfrm>
            <a:off x="9360363" y="4108896"/>
            <a:ext cx="2058955" cy="11581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Calibri"/>
            </a:endParaRPr>
          </a:p>
        </p:txBody>
      </p:sp>
      <p:sp>
        <p:nvSpPr>
          <p:cNvPr id="29" name="Rectangle 28"/>
          <p:cNvSpPr/>
          <p:nvPr/>
        </p:nvSpPr>
        <p:spPr>
          <a:xfrm>
            <a:off x="9669760" y="5292650"/>
            <a:ext cx="1440160" cy="2086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1600">
                <a:solidFill>
                  <a:prstClr val="black"/>
                </a:solidFill>
                <a:latin typeface="Calibri"/>
              </a:rPr>
              <a:t>Run Position</a:t>
            </a:r>
          </a:p>
        </p:txBody>
      </p:sp>
      <p:sp>
        <p:nvSpPr>
          <p:cNvPr id="31" name="Left-Right Arrow 30"/>
          <p:cNvSpPr/>
          <p:nvPr/>
        </p:nvSpPr>
        <p:spPr>
          <a:xfrm>
            <a:off x="6701155" y="4705432"/>
            <a:ext cx="1017895" cy="768085"/>
          </a:xfrm>
          <a:prstGeom prst="leftRigh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1067">
                <a:solidFill>
                  <a:prstClr val="black"/>
                </a:solidFill>
                <a:latin typeface="Calibri"/>
              </a:rPr>
              <a:t>Check</a:t>
            </a:r>
          </a:p>
        </p:txBody>
      </p:sp>
      <p:sp>
        <p:nvSpPr>
          <p:cNvPr id="34" name="Oval 33"/>
          <p:cNvSpPr/>
          <p:nvPr/>
        </p:nvSpPr>
        <p:spPr>
          <a:xfrm>
            <a:off x="8431657" y="5346425"/>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2</a:t>
            </a:r>
          </a:p>
        </p:txBody>
      </p:sp>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0666" y="4581128"/>
            <a:ext cx="1406929" cy="1451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6" name="Oval 35"/>
          <p:cNvSpPr/>
          <p:nvPr/>
        </p:nvSpPr>
        <p:spPr>
          <a:xfrm>
            <a:off x="1417647" y="4105213"/>
            <a:ext cx="672075" cy="57606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2400">
                <a:solidFill>
                  <a:prstClr val="white"/>
                </a:solidFill>
                <a:latin typeface="Calibri"/>
              </a:rPr>
              <a:t>8</a:t>
            </a:r>
          </a:p>
        </p:txBody>
      </p:sp>
      <p:sp>
        <p:nvSpPr>
          <p:cNvPr id="37" name="Circular Arrow 36"/>
          <p:cNvSpPr/>
          <p:nvPr/>
        </p:nvSpPr>
        <p:spPr>
          <a:xfrm rot="5400000">
            <a:off x="1572703" y="5293763"/>
            <a:ext cx="488837" cy="464053"/>
          </a:xfrm>
          <a:prstGeom prst="circularArrow">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black"/>
              </a:solidFill>
              <a:latin typeface="Calibri"/>
            </a:endParaRPr>
          </a:p>
        </p:txBody>
      </p:sp>
      <p:pic>
        <p:nvPicPr>
          <p:cNvPr id="32"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796" t="6270" b="2933"/>
          <a:stretch/>
        </p:blipFill>
        <p:spPr bwMode="auto">
          <a:xfrm>
            <a:off x="10214544" y="1412536"/>
            <a:ext cx="1406709" cy="1523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2670646" y="5703220"/>
            <a:ext cx="2781036" cy="207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1067">
                <a:solidFill>
                  <a:prstClr val="black"/>
                </a:solidFill>
                <a:latin typeface="Calibri"/>
              </a:rPr>
              <a:t>6</a:t>
            </a:r>
            <a:r>
              <a:rPr lang="en-GB" sz="933">
                <a:solidFill>
                  <a:prstClr val="black"/>
                </a:solidFill>
                <a:latin typeface="Calibri"/>
              </a:rPr>
              <a:t>.    Ignition Circuit (12v controlled via KCU)</a:t>
            </a:r>
            <a:endParaRPr lang="en-GB" sz="1067">
              <a:solidFill>
                <a:prstClr val="black"/>
              </a:solidFill>
              <a:latin typeface="Calibri"/>
            </a:endParaRPr>
          </a:p>
        </p:txBody>
      </p:sp>
      <p:sp>
        <p:nvSpPr>
          <p:cNvPr id="17" name="Rectangle 16"/>
          <p:cNvSpPr/>
          <p:nvPr/>
        </p:nvSpPr>
        <p:spPr>
          <a:xfrm>
            <a:off x="10177699" y="1359220"/>
            <a:ext cx="1241619" cy="144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GB" sz="1067" dirty="0" err="1">
                <a:solidFill>
                  <a:prstClr val="black"/>
                </a:solidFill>
                <a:latin typeface="Calibri"/>
              </a:rPr>
              <a:t>Ign</a:t>
            </a:r>
            <a:r>
              <a:rPr lang="en-GB" sz="1067" dirty="0">
                <a:solidFill>
                  <a:prstClr val="black"/>
                </a:solidFill>
                <a:latin typeface="Calibri"/>
              </a:rPr>
              <a:t> System</a:t>
            </a:r>
          </a:p>
        </p:txBody>
      </p:sp>
      <p:sp>
        <p:nvSpPr>
          <p:cNvPr id="39" name="TextBox 38">
            <a:extLst>
              <a:ext uri="{FF2B5EF4-FFF2-40B4-BE49-F238E27FC236}">
                <a16:creationId xmlns:a16="http://schemas.microsoft.com/office/drawing/2014/main" id="{487996D0-CDD0-4B17-A84B-F9E5C27AD78C}"/>
              </a:ext>
            </a:extLst>
          </p:cNvPr>
          <p:cNvSpPr txBox="1"/>
          <p:nvPr/>
        </p:nvSpPr>
        <p:spPr>
          <a:xfrm>
            <a:off x="0" y="1178395"/>
            <a:ext cx="3394093" cy="1077603"/>
          </a:xfrm>
          <a:prstGeom prst="rect">
            <a:avLst/>
          </a:prstGeom>
          <a:noFill/>
        </p:spPr>
        <p:txBody>
          <a:bodyPr wrap="square">
            <a:spAutoFit/>
          </a:bodyPr>
          <a:lstStyle/>
          <a:p>
            <a:pPr defTabSz="1219170"/>
            <a:r>
              <a:rPr lang="en-GB" sz="1067" b="1">
                <a:solidFill>
                  <a:prstClr val="black"/>
                </a:solidFill>
                <a:latin typeface="TriumphBrokman-Bold" panose="00000800000000000000" pitchFamily="50" charset="0"/>
              </a:rPr>
              <a:t>1. Transponder chip</a:t>
            </a:r>
          </a:p>
          <a:p>
            <a:pPr defTabSz="1219170"/>
            <a:r>
              <a:rPr lang="en-GB" sz="1067" b="1">
                <a:solidFill>
                  <a:prstClr val="black"/>
                </a:solidFill>
                <a:latin typeface="TriumphBrokman-Bold" panose="00000800000000000000" pitchFamily="50" charset="0"/>
              </a:rPr>
              <a:t>2. Electronic steering lock</a:t>
            </a:r>
          </a:p>
          <a:p>
            <a:pPr defTabSz="1219170"/>
            <a:r>
              <a:rPr lang="en-GB" sz="1067" b="1">
                <a:solidFill>
                  <a:prstClr val="black"/>
                </a:solidFill>
                <a:latin typeface="TriumphBrokman-Bold" panose="00000800000000000000" pitchFamily="50" charset="0"/>
              </a:rPr>
              <a:t>3. LF Antenna (front)</a:t>
            </a:r>
          </a:p>
          <a:p>
            <a:pPr defTabSz="1219170"/>
            <a:r>
              <a:rPr lang="en-GB" sz="1067" b="1">
                <a:solidFill>
                  <a:prstClr val="black"/>
                </a:solidFill>
                <a:latin typeface="TriumphBrokman-Bold" panose="00000800000000000000" pitchFamily="50" charset="0"/>
              </a:rPr>
              <a:t>4. Keyless ECM</a:t>
            </a:r>
          </a:p>
          <a:p>
            <a:pPr defTabSz="1219170"/>
            <a:r>
              <a:rPr lang="en-GB" sz="1067" b="1">
                <a:solidFill>
                  <a:prstClr val="black"/>
                </a:solidFill>
                <a:latin typeface="TriumphBrokman-Bold" panose="00000800000000000000" pitchFamily="50" charset="0"/>
              </a:rPr>
              <a:t>5. Engine ECM</a:t>
            </a:r>
          </a:p>
          <a:p>
            <a:pPr defTabSz="1219170"/>
            <a:r>
              <a:rPr lang="en-GB" sz="1067" b="1">
                <a:solidFill>
                  <a:prstClr val="black"/>
                </a:solidFill>
                <a:latin typeface="TriumphBrokman-Bold" panose="00000800000000000000" pitchFamily="50" charset="0"/>
              </a:rPr>
              <a:t>6. LF Antenna (rear)</a:t>
            </a:r>
            <a:endParaRPr lang="en-GB" sz="1067">
              <a:solidFill>
                <a:prstClr val="black"/>
              </a:solidFill>
              <a:latin typeface="Calibri"/>
            </a:endParaRPr>
          </a:p>
        </p:txBody>
      </p:sp>
    </p:spTree>
    <p:extLst>
      <p:ext uri="{BB962C8B-B14F-4D97-AF65-F5344CB8AC3E}">
        <p14:creationId xmlns:p14="http://schemas.microsoft.com/office/powerpoint/2010/main" val="382666269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02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02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9" grpId="0" animBg="1"/>
      <p:bldP spid="20" grpId="0" animBg="1"/>
      <p:bldP spid="22" grpId="0" animBg="1"/>
      <p:bldP spid="23" grpId="0" animBg="1"/>
      <p:bldP spid="24" grpId="0" animBg="1"/>
      <p:bldP spid="25" grpId="0" animBg="1"/>
      <p:bldP spid="26" grpId="0" animBg="1"/>
      <p:bldP spid="27" grpId="0" animBg="1"/>
      <p:bldP spid="3" grpId="0" animBg="1"/>
      <p:bldP spid="7" grpId="0" animBg="1"/>
      <p:bldP spid="13" grpId="0"/>
      <p:bldP spid="18" grpId="0" animBg="1"/>
      <p:bldP spid="21" grpId="0" animBg="1"/>
      <p:bldP spid="29" grpId="0"/>
      <p:bldP spid="31" grpId="0" animBg="1"/>
      <p:bldP spid="34" grpId="0" animBg="1"/>
      <p:bldP spid="36" grpId="0" animBg="1"/>
      <p:bldP spid="37" grpId="0" animBg="1"/>
    </p:bldLst>
  </p:timing>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CDA65-7689-E3D7-C1FB-C03E5C0B0813}"/>
              </a:ext>
            </a:extLst>
          </p:cNvPr>
          <p:cNvSpPr>
            <a:spLocks noGrp="1"/>
          </p:cNvSpPr>
          <p:nvPr>
            <p:ph type="title"/>
          </p:nvPr>
        </p:nvSpPr>
        <p:spPr>
          <a:xfrm>
            <a:off x="838200" y="365125"/>
            <a:ext cx="10515600" cy="957837"/>
          </a:xfrm>
        </p:spPr>
        <p:txBody>
          <a:bodyPr>
            <a:normAutofit/>
          </a:bodyPr>
          <a:lstStyle/>
          <a:p>
            <a:r>
              <a:rPr lang="en-GB" dirty="0"/>
              <a:t>Important Note</a:t>
            </a:r>
          </a:p>
        </p:txBody>
      </p:sp>
      <p:sp>
        <p:nvSpPr>
          <p:cNvPr id="3" name="Content Placeholder 2">
            <a:extLst>
              <a:ext uri="{FF2B5EF4-FFF2-40B4-BE49-F238E27FC236}">
                <a16:creationId xmlns:a16="http://schemas.microsoft.com/office/drawing/2014/main" id="{BE49F9F8-7EA9-C681-F8FC-1DF4147BB2BD}"/>
              </a:ext>
            </a:extLst>
          </p:cNvPr>
          <p:cNvSpPr>
            <a:spLocks noGrp="1"/>
          </p:cNvSpPr>
          <p:nvPr>
            <p:ph idx="1"/>
          </p:nvPr>
        </p:nvSpPr>
        <p:spPr>
          <a:xfrm>
            <a:off x="838200" y="1322962"/>
            <a:ext cx="10515600" cy="5169913"/>
          </a:xfrm>
        </p:spPr>
        <p:txBody>
          <a:bodyPr>
            <a:normAutofit fontScale="85000" lnSpcReduction="10000"/>
          </a:bodyPr>
          <a:lstStyle/>
          <a:p>
            <a:pPr marL="457200" indent="-457200">
              <a:buFont typeface="+mj-lt"/>
              <a:buAutoNum type="arabicPeriod"/>
            </a:pPr>
            <a:r>
              <a:rPr lang="en-GB" dirty="0"/>
              <a:t>If passive key is used to power the bike up, then a 90 second time limit is applied to the ignition supply.  Therefore, if a download is started in this scenario it may fail.</a:t>
            </a:r>
          </a:p>
          <a:p>
            <a:pPr marL="457200" indent="-457200">
              <a:buFont typeface="+mj-lt"/>
              <a:buAutoNum type="arabicPeriod"/>
            </a:pPr>
            <a:r>
              <a:rPr lang="en-GB" dirty="0"/>
              <a:t>Same applies if smart key goes out of range.</a:t>
            </a:r>
          </a:p>
          <a:p>
            <a:endParaRPr lang="en-GB" dirty="0"/>
          </a:p>
          <a:p>
            <a:pPr marL="0" indent="0">
              <a:buNone/>
            </a:pPr>
            <a:r>
              <a:rPr lang="en-GB" b="1" dirty="0"/>
              <a:t>Example:</a:t>
            </a:r>
            <a:r>
              <a:rPr lang="en-GB" dirty="0"/>
              <a:t> if a rider switches his ignition on using his passive key in close proximity to LF antenna and then removes the key away from the LF antenna , 90 seconds later the ignition will turn itself off.  Similarly, if a rider switches the ignition on using his smart key and then walks away with the smart key, outside of the one metre proximity range, for more than 90 seconds , then again, the calibration strategy will switch the ignition off.</a:t>
            </a:r>
          </a:p>
          <a:p>
            <a:pPr marL="0" indent="0">
              <a:buNone/>
            </a:pPr>
            <a:endParaRPr lang="en-GB" dirty="0"/>
          </a:p>
          <a:p>
            <a:pPr marL="0" indent="0">
              <a:buNone/>
            </a:pPr>
            <a:r>
              <a:rPr lang="en-GB" dirty="0"/>
              <a:t>Technicians should be aware of this , especially during downloads , as if the ignition switches itself off during the download stage it will automatically fail the download </a:t>
            </a:r>
          </a:p>
        </p:txBody>
      </p:sp>
    </p:spTree>
    <p:extLst>
      <p:ext uri="{BB962C8B-B14F-4D97-AF65-F5344CB8AC3E}">
        <p14:creationId xmlns:p14="http://schemas.microsoft.com/office/powerpoint/2010/main" val="2246573086"/>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AE29E-8FAE-1831-465C-B2E031534617}"/>
              </a:ext>
            </a:extLst>
          </p:cNvPr>
          <p:cNvSpPr>
            <a:spLocks noGrp="1"/>
          </p:cNvSpPr>
          <p:nvPr>
            <p:ph type="title"/>
          </p:nvPr>
        </p:nvSpPr>
        <p:spPr/>
        <p:txBody>
          <a:bodyPr/>
          <a:lstStyle/>
          <a:p>
            <a:r>
              <a:rPr lang="en-IT" dirty="0"/>
              <a:t>Key Pairing</a:t>
            </a:r>
          </a:p>
        </p:txBody>
      </p:sp>
      <p:sp>
        <p:nvSpPr>
          <p:cNvPr id="3" name="Content Placeholder 2">
            <a:extLst>
              <a:ext uri="{FF2B5EF4-FFF2-40B4-BE49-F238E27FC236}">
                <a16:creationId xmlns:a16="http://schemas.microsoft.com/office/drawing/2014/main" id="{09D71859-123A-1499-F249-DBD5492C41F3}"/>
              </a:ext>
            </a:extLst>
          </p:cNvPr>
          <p:cNvSpPr>
            <a:spLocks noGrp="1"/>
          </p:cNvSpPr>
          <p:nvPr>
            <p:ph idx="1"/>
          </p:nvPr>
        </p:nvSpPr>
        <p:spPr/>
        <p:txBody>
          <a:bodyPr/>
          <a:lstStyle/>
          <a:p>
            <a:pPr marL="0" indent="0">
              <a:buNone/>
            </a:pPr>
            <a:r>
              <a:rPr lang="en-IT" dirty="0"/>
              <a:t>Both types of key have transponders that have a unique code which the immobiliser system must recognise as being an authorised key. This is called </a:t>
            </a:r>
            <a:r>
              <a:rPr lang="en-IT" u="sng" dirty="0"/>
              <a:t>key pairing</a:t>
            </a:r>
            <a:r>
              <a:rPr lang="en-IT" dirty="0"/>
              <a:t>. </a:t>
            </a:r>
          </a:p>
          <a:p>
            <a:pPr marL="0" indent="0">
              <a:buNone/>
            </a:pPr>
            <a:r>
              <a:rPr lang="en-IT" dirty="0"/>
              <a:t>Key supplied with the motorcycle from new will obviously already be paired, but it may be necessary yo pair other keys to the immobiliser system (either in the immobiliser, the RCU, the KCY or the CCU, depending on the model and the system it uses.</a:t>
            </a:r>
          </a:p>
          <a:p>
            <a:pPr marL="0" indent="0">
              <a:buNone/>
            </a:pPr>
            <a:r>
              <a:rPr lang="en-IT" dirty="0"/>
              <a:t>This is done using the TDT (Triumph Diagnostic Tool).</a:t>
            </a:r>
          </a:p>
        </p:txBody>
      </p:sp>
    </p:spTree>
    <p:extLst>
      <p:ext uri="{BB962C8B-B14F-4D97-AF65-F5344CB8AC3E}">
        <p14:creationId xmlns:p14="http://schemas.microsoft.com/office/powerpoint/2010/main" val="4272073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78E6C-7675-3703-F218-CA327F9ABBCC}"/>
              </a:ext>
            </a:extLst>
          </p:cNvPr>
          <p:cNvSpPr>
            <a:spLocks noGrp="1"/>
          </p:cNvSpPr>
          <p:nvPr>
            <p:ph type="title"/>
          </p:nvPr>
        </p:nvSpPr>
        <p:spPr/>
        <p:txBody>
          <a:bodyPr/>
          <a:lstStyle/>
          <a:p>
            <a:r>
              <a:rPr lang="en-IT" dirty="0"/>
              <a:t>Key Pairing Note</a:t>
            </a:r>
          </a:p>
        </p:txBody>
      </p:sp>
      <p:sp>
        <p:nvSpPr>
          <p:cNvPr id="3" name="Content Placeholder 2">
            <a:extLst>
              <a:ext uri="{FF2B5EF4-FFF2-40B4-BE49-F238E27FC236}">
                <a16:creationId xmlns:a16="http://schemas.microsoft.com/office/drawing/2014/main" id="{4527E01C-8CC9-B869-B6FA-B9F3FB309228}"/>
              </a:ext>
            </a:extLst>
          </p:cNvPr>
          <p:cNvSpPr>
            <a:spLocks noGrp="1"/>
          </p:cNvSpPr>
          <p:nvPr>
            <p:ph idx="1"/>
          </p:nvPr>
        </p:nvSpPr>
        <p:spPr/>
        <p:txBody>
          <a:bodyPr>
            <a:normAutofit lnSpcReduction="10000"/>
          </a:bodyPr>
          <a:lstStyle/>
          <a:p>
            <a:r>
              <a:rPr lang="en-US" dirty="0"/>
              <a:t>The </a:t>
            </a:r>
            <a:r>
              <a:rPr lang="en-US" b="1" dirty="0"/>
              <a:t>Add New Key function </a:t>
            </a:r>
            <a:r>
              <a:rPr lang="en-US" dirty="0"/>
              <a:t>allows the user to pair one key to the immobiliser system at a time, provided the maximum number of paired keys has not been reached. An attack delay of 5 minutes must pass for each key pairing for security.</a:t>
            </a:r>
            <a:r>
              <a:rPr lang="en-GB" dirty="0"/>
              <a:t> </a:t>
            </a:r>
          </a:p>
          <a:p>
            <a:r>
              <a:rPr lang="en-US" dirty="0"/>
              <a:t>The </a:t>
            </a:r>
            <a:r>
              <a:rPr lang="en-US" b="1" dirty="0"/>
              <a:t>Re-Register All Keys function </a:t>
            </a:r>
            <a:r>
              <a:rPr lang="en-US" dirty="0"/>
              <a:t>erases all keys from immobiliser system memory, except the key used to turn the motorcycle ignition ON at the start of the process. The function then allows multiple keys to be paired, up until the maximum number of allowed keys has been </a:t>
            </a:r>
            <a:r>
              <a:rPr lang="en-GB" dirty="0"/>
              <a:t>reached. </a:t>
            </a:r>
            <a:r>
              <a:rPr lang="en-US" dirty="0"/>
              <a:t>An attack delay of 5 minutes must pass for each key pairing. On some motorcycles, an attack delay of 5 minutes must also pass before existing key pairings can be </a:t>
            </a:r>
            <a:r>
              <a:rPr lang="en-GB" dirty="0"/>
              <a:t>erased.</a:t>
            </a:r>
          </a:p>
          <a:p>
            <a:endParaRPr lang="en-IT" dirty="0"/>
          </a:p>
        </p:txBody>
      </p:sp>
    </p:spTree>
    <p:extLst>
      <p:ext uri="{BB962C8B-B14F-4D97-AF65-F5344CB8AC3E}">
        <p14:creationId xmlns:p14="http://schemas.microsoft.com/office/powerpoint/2010/main" val="264133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17D5D-674F-15D3-8B75-779B8CCE614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739D8B4-A6D8-C3EF-C8FC-528BDAAB7C6E}"/>
              </a:ext>
            </a:extLst>
          </p:cNvPr>
          <p:cNvPicPr>
            <a:picLocks noGrp="1" noChangeAspect="1"/>
          </p:cNvPicPr>
          <p:nvPr>
            <p:ph idx="1"/>
          </p:nvPr>
        </p:nvPicPr>
        <p:blipFill>
          <a:blip r:embed="rId2"/>
          <a:srcRect b="85253"/>
          <a:stretch>
            <a:fillRect/>
          </a:stretch>
        </p:blipFill>
        <p:spPr>
          <a:xfrm>
            <a:off x="685800" y="931914"/>
            <a:ext cx="10534650" cy="565643"/>
          </a:xfrm>
          <a:prstGeom prst="rect">
            <a:avLst/>
          </a:prstGeom>
        </p:spPr>
      </p:pic>
      <p:sp>
        <p:nvSpPr>
          <p:cNvPr id="6" name="Title 1">
            <a:extLst>
              <a:ext uri="{FF2B5EF4-FFF2-40B4-BE49-F238E27FC236}">
                <a16:creationId xmlns:a16="http://schemas.microsoft.com/office/drawing/2014/main" id="{D8CF17CE-8AC5-4340-B7B0-E6FAEB64272C}"/>
              </a:ext>
            </a:extLst>
          </p:cNvPr>
          <p:cNvSpPr txBox="1">
            <a:spLocks/>
          </p:cNvSpPr>
          <p:nvPr/>
        </p:nvSpPr>
        <p:spPr>
          <a:xfrm>
            <a:off x="685800" y="452672"/>
            <a:ext cx="10972800" cy="658085"/>
          </a:xfrm>
          <a:prstGeom prst="rect">
            <a:avLst/>
          </a:prstGeom>
        </p:spPr>
        <p:txBody>
          <a:bodyPr vert="horz" lIns="91410" tIns="45705" rIns="91410" bIns="45705" rtlCol="0" anchor="ctr">
            <a:normAutofit fontScale="75000" lnSpcReduction="20000"/>
          </a:bodyPr>
          <a:lstStyle>
            <a:lvl1pPr algn="l" defTabSz="1218720" rtl="0" eaLnBrk="1" latinLnBrk="0" hangingPunct="1">
              <a:spcBef>
                <a:spcPct val="0"/>
              </a:spcBef>
              <a:buNone/>
              <a:defRPr sz="3733" b="1" kern="1200">
                <a:solidFill>
                  <a:schemeClr val="tx1"/>
                </a:solidFill>
                <a:latin typeface="TriumphBrokman Heavy" pitchFamily="50" charset="0"/>
                <a:ea typeface="+mj-ea"/>
                <a:cs typeface="+mj-cs"/>
              </a:defRPr>
            </a:lvl1pPr>
          </a:lstStyle>
          <a:p>
            <a:r>
              <a:rPr lang="en-GB" dirty="0"/>
              <a:t>General Key and Keyless Information Points commonly overlooked </a:t>
            </a:r>
          </a:p>
        </p:txBody>
      </p:sp>
      <p:sp>
        <p:nvSpPr>
          <p:cNvPr id="8" name="TextBox 7">
            <a:extLst>
              <a:ext uri="{FF2B5EF4-FFF2-40B4-BE49-F238E27FC236}">
                <a16:creationId xmlns:a16="http://schemas.microsoft.com/office/drawing/2014/main" id="{0531D0A4-61AA-0D71-6EF7-6F0B5A1CF39C}"/>
              </a:ext>
            </a:extLst>
          </p:cNvPr>
          <p:cNvSpPr txBox="1"/>
          <p:nvPr/>
        </p:nvSpPr>
        <p:spPr>
          <a:xfrm>
            <a:off x="685800" y="1497557"/>
            <a:ext cx="10896600" cy="923330"/>
          </a:xfrm>
          <a:prstGeom prst="rect">
            <a:avLst/>
          </a:prstGeom>
          <a:noFill/>
        </p:spPr>
        <p:txBody>
          <a:bodyPr wrap="square">
            <a:spAutoFit/>
          </a:bodyPr>
          <a:lstStyle/>
          <a:p>
            <a:r>
              <a:rPr lang="en-GB" dirty="0"/>
              <a:t>All of the motorcycle’s available keys should be obtained before performing any key pairing operations. Starting a key paring operation without having obtained all of the motorcycle’s keys will render any spare keys inactive. In some circumstances, absent spare keys may also be rendered permanently unusable.</a:t>
            </a:r>
          </a:p>
        </p:txBody>
      </p:sp>
      <p:sp>
        <p:nvSpPr>
          <p:cNvPr id="12" name="TextBox 11">
            <a:extLst>
              <a:ext uri="{FF2B5EF4-FFF2-40B4-BE49-F238E27FC236}">
                <a16:creationId xmlns:a16="http://schemas.microsoft.com/office/drawing/2014/main" id="{1B6F9871-78E9-9AE8-4C28-1FDB4FE44A76}"/>
              </a:ext>
            </a:extLst>
          </p:cNvPr>
          <p:cNvSpPr txBox="1"/>
          <p:nvPr/>
        </p:nvSpPr>
        <p:spPr>
          <a:xfrm>
            <a:off x="685800" y="2807687"/>
            <a:ext cx="10944225" cy="3293209"/>
          </a:xfrm>
          <a:prstGeom prst="rect">
            <a:avLst/>
          </a:prstGeom>
          <a:noFill/>
        </p:spPr>
        <p:txBody>
          <a:bodyPr wrap="square">
            <a:spAutoFit/>
          </a:bodyPr>
          <a:lstStyle/>
          <a:p>
            <a:pPr marL="285750" indent="-285750">
              <a:buFont typeface="Arial" panose="020B0604020202020204" pitchFamily="34" charset="0"/>
              <a:buChar char="•"/>
            </a:pPr>
            <a:r>
              <a:rPr lang="en-GB" sz="1600" dirty="0"/>
              <a:t>Lost or unwanted keys can be erased, and additional/replacement keys added using the Triumph Diagnostic Tool. </a:t>
            </a:r>
          </a:p>
          <a:p>
            <a:pPr marL="285750" indent="-285750">
              <a:buFont typeface="Arial" panose="020B0604020202020204" pitchFamily="34" charset="0"/>
              <a:buChar char="•"/>
            </a:pPr>
            <a:r>
              <a:rPr lang="en-GB" sz="1600" dirty="0"/>
              <a:t>A maximum of three keys can be paired to the KCU/CCU at any one time. This can be any combination of smart keys and passive keys. It is not possible to pair further keys when the maximum of three paired keys is reached. </a:t>
            </a:r>
          </a:p>
          <a:p>
            <a:pPr marL="285750" indent="-285750">
              <a:buFont typeface="Arial" panose="020B0604020202020204" pitchFamily="34" charset="0"/>
              <a:buChar char="•"/>
            </a:pPr>
            <a:r>
              <a:rPr lang="en-GB" sz="1600" dirty="0"/>
              <a:t>When pairing a combination of smart keys and passive keys, it is recommended that any smart keys are paired first, followed by the passive keys. </a:t>
            </a:r>
          </a:p>
          <a:p>
            <a:pPr marL="285750" indent="-285750">
              <a:buFont typeface="Arial" panose="020B0604020202020204" pitchFamily="34" charset="0"/>
              <a:buChar char="•"/>
            </a:pPr>
            <a:r>
              <a:rPr lang="en-GB" sz="1600" dirty="0"/>
              <a:t>A paired key can have three different states, active, inactive and erased.  </a:t>
            </a:r>
          </a:p>
          <a:p>
            <a:pPr marL="285750" indent="-285750">
              <a:buFont typeface="Arial" panose="020B0604020202020204" pitchFamily="34" charset="0"/>
              <a:buChar char="•"/>
            </a:pPr>
            <a:r>
              <a:rPr lang="en-GB" sz="1600" dirty="0"/>
              <a:t>Once a key is paired it is regarded as active. At this point the key is permanently locked to its paired keyless ECM and cannot be paired to any other keyless ECM – ever! </a:t>
            </a:r>
          </a:p>
          <a:p>
            <a:pPr marL="285750" indent="-285750">
              <a:buFont typeface="Arial" panose="020B0604020202020204" pitchFamily="34" charset="0"/>
              <a:buChar char="•"/>
            </a:pPr>
            <a:r>
              <a:rPr lang="en-GB" sz="1600" dirty="0"/>
              <a:t>A paired key is required to allow the motorcycle to power ON in order to perform key pairing operations. All available paired keys should be obtained before starting these operations.</a:t>
            </a:r>
          </a:p>
          <a:p>
            <a:pPr marL="285750" indent="-285750">
              <a:buFont typeface="Arial" panose="020B0604020202020204" pitchFamily="34" charset="0"/>
              <a:buChar char="•"/>
            </a:pPr>
            <a:r>
              <a:rPr lang="en-GB" sz="1600" dirty="0"/>
              <a:t>Paired keys can be erased using the Re-Register All Keys function on the Triumph diagnostic tool. When this function is used, the key being used to power the motorcycle will remain paired and active. Any other paired keys will be registered as inactive.</a:t>
            </a:r>
          </a:p>
        </p:txBody>
      </p:sp>
    </p:spTree>
    <p:extLst>
      <p:ext uri="{BB962C8B-B14F-4D97-AF65-F5344CB8AC3E}">
        <p14:creationId xmlns:p14="http://schemas.microsoft.com/office/powerpoint/2010/main" val="2940328935"/>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EA731-326E-C236-F541-6659288F7C3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19E15DE-956A-EEB8-36D8-F6EC60C553AD}"/>
              </a:ext>
            </a:extLst>
          </p:cNvPr>
          <p:cNvSpPr txBox="1">
            <a:spLocks/>
          </p:cNvSpPr>
          <p:nvPr/>
        </p:nvSpPr>
        <p:spPr>
          <a:xfrm>
            <a:off x="583770" y="276029"/>
            <a:ext cx="10972800" cy="658085"/>
          </a:xfrm>
          <a:prstGeom prst="rect">
            <a:avLst/>
          </a:prstGeom>
        </p:spPr>
        <p:txBody>
          <a:bodyPr vert="horz" lIns="91410" tIns="45705" rIns="91410" bIns="45705" rtlCol="0" anchor="ctr">
            <a:normAutofit fontScale="97500"/>
          </a:bodyPr>
          <a:lstStyle>
            <a:lvl1pPr algn="l" defTabSz="1218720" rtl="0" eaLnBrk="1" latinLnBrk="0" hangingPunct="1">
              <a:spcBef>
                <a:spcPct val="0"/>
              </a:spcBef>
              <a:buNone/>
              <a:defRPr sz="3733" b="1" kern="1200">
                <a:solidFill>
                  <a:schemeClr val="tx1"/>
                </a:solidFill>
                <a:latin typeface="TriumphBrokman Heavy" pitchFamily="50" charset="0"/>
                <a:ea typeface="+mj-ea"/>
                <a:cs typeface="+mj-cs"/>
              </a:defRPr>
            </a:lvl1pPr>
          </a:lstStyle>
          <a:p>
            <a:r>
              <a:rPr lang="en-GB" dirty="0"/>
              <a:t>General Information Points (continued) </a:t>
            </a:r>
          </a:p>
        </p:txBody>
      </p:sp>
      <p:sp>
        <p:nvSpPr>
          <p:cNvPr id="7" name="Rectangle 6">
            <a:extLst>
              <a:ext uri="{FF2B5EF4-FFF2-40B4-BE49-F238E27FC236}">
                <a16:creationId xmlns:a16="http://schemas.microsoft.com/office/drawing/2014/main" id="{524A2A84-86A8-2F23-5DAD-502C2A5AA6C5}"/>
              </a:ext>
            </a:extLst>
          </p:cNvPr>
          <p:cNvSpPr/>
          <p:nvPr/>
        </p:nvSpPr>
        <p:spPr>
          <a:xfrm>
            <a:off x="431370" y="3235397"/>
            <a:ext cx="11329259" cy="672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1219170"/>
            <a:r>
              <a:rPr lang="en-GB" sz="1600" dirty="0">
                <a:solidFill>
                  <a:prstClr val="black"/>
                </a:solidFill>
                <a:latin typeface="Calibri"/>
              </a:rPr>
              <a:t>Note: Keys pair to RCU, CCU or KCU (aka Immobiliser) depending on model</a:t>
            </a:r>
          </a:p>
          <a:p>
            <a:pPr algn="ctr" defTabSz="1219170"/>
            <a:r>
              <a:rPr lang="en-GB" sz="1600" dirty="0">
                <a:solidFill>
                  <a:prstClr val="black"/>
                </a:solidFill>
                <a:latin typeface="Calibri"/>
              </a:rPr>
              <a:t>This is covered in a later section</a:t>
            </a:r>
            <a:endParaRPr lang="en-US" sz="1200" dirty="0">
              <a:solidFill>
                <a:prstClr val="black"/>
              </a:solidFill>
            </a:endParaRPr>
          </a:p>
        </p:txBody>
      </p:sp>
      <p:sp>
        <p:nvSpPr>
          <p:cNvPr id="4" name="Content Placeholder 3">
            <a:extLst>
              <a:ext uri="{FF2B5EF4-FFF2-40B4-BE49-F238E27FC236}">
                <a16:creationId xmlns:a16="http://schemas.microsoft.com/office/drawing/2014/main" id="{670CF991-7747-6143-8745-70675FED7DAA}"/>
              </a:ext>
            </a:extLst>
          </p:cNvPr>
          <p:cNvSpPr>
            <a:spLocks noGrp="1"/>
          </p:cNvSpPr>
          <p:nvPr>
            <p:ph idx="1"/>
          </p:nvPr>
        </p:nvSpPr>
        <p:spPr>
          <a:xfrm>
            <a:off x="635430" y="842912"/>
            <a:ext cx="10972800" cy="2586088"/>
          </a:xfrm>
        </p:spPr>
        <p:txBody>
          <a:bodyPr/>
          <a:lstStyle/>
          <a:p>
            <a:r>
              <a:rPr lang="en-GB" sz="1600" dirty="0"/>
              <a:t>When using the Re-Register All Keys function, a ten minute (600 second) security time delay is applied to the first key pairing. Further key pairings are subject to a five minute (300 second) time delay. </a:t>
            </a:r>
          </a:p>
          <a:p>
            <a:r>
              <a:rPr lang="en-GB" sz="1600" dirty="0"/>
              <a:t>Inactive keys can be either paired and reactivated, or replaced by new keys and overwritten. </a:t>
            </a:r>
          </a:p>
          <a:p>
            <a:r>
              <a:rPr lang="en-GB" sz="1600" dirty="0"/>
              <a:t>Any inactive keys that are overwritten are then stored as erased in the keyless ECM memory. A maximum of three erased keys can be stored. </a:t>
            </a:r>
          </a:p>
          <a:p>
            <a:r>
              <a:rPr lang="en-GB" sz="1600" dirty="0"/>
              <a:t>Erasing more keys after the maximum of three erased keys has been reached, will result in the erased keys being overwritten. Erased keys that are overwritten are then rendered permanently unusable. </a:t>
            </a:r>
          </a:p>
          <a:p>
            <a:r>
              <a:rPr lang="en-GB" sz="1600" dirty="0"/>
              <a:t>Stored erased keys can be paired and reactivated providing that the maximum number of three paired keys has not been reached. When a key is reactivated, it is moved from its ‘erased’ memory slot to a vacant ‘active’ memory slot.</a:t>
            </a:r>
          </a:p>
          <a:p>
            <a:endParaRPr lang="en-GB" dirty="0"/>
          </a:p>
          <a:p>
            <a:endParaRPr lang="en-GB" dirty="0"/>
          </a:p>
        </p:txBody>
      </p:sp>
      <p:pic>
        <p:nvPicPr>
          <p:cNvPr id="2" name="Picture 1">
            <a:extLst>
              <a:ext uri="{FF2B5EF4-FFF2-40B4-BE49-F238E27FC236}">
                <a16:creationId xmlns:a16="http://schemas.microsoft.com/office/drawing/2014/main" id="{29055315-D6B1-D21A-4159-91FA24F96D46}"/>
              </a:ext>
            </a:extLst>
          </p:cNvPr>
          <p:cNvPicPr>
            <a:picLocks noChangeAspect="1"/>
          </p:cNvPicPr>
          <p:nvPr/>
        </p:nvPicPr>
        <p:blipFill>
          <a:blip r:embed="rId2"/>
          <a:stretch>
            <a:fillRect/>
          </a:stretch>
        </p:blipFill>
        <p:spPr>
          <a:xfrm>
            <a:off x="834190" y="3824313"/>
            <a:ext cx="3280888" cy="2190775"/>
          </a:xfrm>
          <a:prstGeom prst="rect">
            <a:avLst/>
          </a:prstGeom>
        </p:spPr>
      </p:pic>
      <p:pic>
        <p:nvPicPr>
          <p:cNvPr id="3" name="Picture 2">
            <a:extLst>
              <a:ext uri="{FF2B5EF4-FFF2-40B4-BE49-F238E27FC236}">
                <a16:creationId xmlns:a16="http://schemas.microsoft.com/office/drawing/2014/main" id="{29F3B488-138A-1BD7-1076-14DC4818EE12}"/>
              </a:ext>
            </a:extLst>
          </p:cNvPr>
          <p:cNvPicPr>
            <a:picLocks noChangeAspect="1"/>
          </p:cNvPicPr>
          <p:nvPr/>
        </p:nvPicPr>
        <p:blipFill>
          <a:blip r:embed="rId3"/>
          <a:stretch>
            <a:fillRect/>
          </a:stretch>
        </p:blipFill>
        <p:spPr>
          <a:xfrm>
            <a:off x="8076922" y="3607529"/>
            <a:ext cx="3280888" cy="2287755"/>
          </a:xfrm>
          <a:prstGeom prst="rect">
            <a:avLst/>
          </a:prstGeom>
        </p:spPr>
      </p:pic>
      <p:sp>
        <p:nvSpPr>
          <p:cNvPr id="5" name="Rectangle 4">
            <a:extLst>
              <a:ext uri="{FF2B5EF4-FFF2-40B4-BE49-F238E27FC236}">
                <a16:creationId xmlns:a16="http://schemas.microsoft.com/office/drawing/2014/main" id="{65218960-7D7B-BF7A-C453-7DD8762E9457}"/>
              </a:ext>
            </a:extLst>
          </p:cNvPr>
          <p:cNvSpPr/>
          <p:nvPr/>
        </p:nvSpPr>
        <p:spPr>
          <a:xfrm>
            <a:off x="4282466" y="4760304"/>
            <a:ext cx="3575407" cy="705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Note: Only rear LF antenna can be used to pair keys </a:t>
            </a:r>
          </a:p>
        </p:txBody>
      </p:sp>
    </p:spTree>
    <p:extLst>
      <p:ext uri="{BB962C8B-B14F-4D97-AF65-F5344CB8AC3E}">
        <p14:creationId xmlns:p14="http://schemas.microsoft.com/office/powerpoint/2010/main" val="278219892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81A16-A406-FEA2-FAEB-A3A4162F7D0B}"/>
              </a:ext>
            </a:extLst>
          </p:cNvPr>
          <p:cNvSpPr>
            <a:spLocks noGrp="1"/>
          </p:cNvSpPr>
          <p:nvPr>
            <p:ph type="title"/>
          </p:nvPr>
        </p:nvSpPr>
        <p:spPr/>
        <p:txBody>
          <a:bodyPr>
            <a:noAutofit/>
          </a:bodyPr>
          <a:lstStyle/>
          <a:p>
            <a:r>
              <a:rPr lang="en-GB" sz="2400" dirty="0"/>
              <a:t>General Key and Keyless Information Points commonly overlooked - 5 Questions </a:t>
            </a:r>
          </a:p>
        </p:txBody>
      </p:sp>
      <p:sp>
        <p:nvSpPr>
          <p:cNvPr id="6" name="TextBox 5">
            <a:extLst>
              <a:ext uri="{FF2B5EF4-FFF2-40B4-BE49-F238E27FC236}">
                <a16:creationId xmlns:a16="http://schemas.microsoft.com/office/drawing/2014/main" id="{33BA74CD-7BD3-439A-FB43-385AFBFC7418}"/>
              </a:ext>
            </a:extLst>
          </p:cNvPr>
          <p:cNvSpPr txBox="1"/>
          <p:nvPr/>
        </p:nvSpPr>
        <p:spPr>
          <a:xfrm>
            <a:off x="3048000" y="2551837"/>
            <a:ext cx="6096000" cy="1754326"/>
          </a:xfrm>
          <a:prstGeom prst="rect">
            <a:avLst/>
          </a:prstGeom>
          <a:noFill/>
        </p:spPr>
        <p:txBody>
          <a:bodyPr wrap="square">
            <a:spAutoFit/>
          </a:bodyPr>
          <a:lstStyle/>
          <a:p>
            <a:pPr marL="342900" indent="-342900">
              <a:buAutoNum type="arabicPeriod"/>
            </a:pPr>
            <a:r>
              <a:rPr lang="en-IT" dirty="0"/>
              <a:t>What tool is used to erase or add keys to the keyless ECM?</a:t>
            </a:r>
          </a:p>
          <a:p>
            <a:pPr marL="342900" indent="-342900">
              <a:buAutoNum type="arabicPeriod"/>
            </a:pPr>
            <a:endParaRPr lang="en-IT" dirty="0"/>
          </a:p>
          <a:p>
            <a:r>
              <a:rPr lang="en-IT" dirty="0"/>
              <a:t>A. Triumph diagnostic tool ✅</a:t>
            </a:r>
          </a:p>
          <a:p>
            <a:r>
              <a:rPr lang="en-IT" dirty="0"/>
              <a:t>B. Dealer mode on the instrument panel</a:t>
            </a:r>
          </a:p>
          <a:p>
            <a:r>
              <a:rPr lang="en-IT" dirty="0"/>
              <a:t>C. The keyless ECM automatically learns new keys</a:t>
            </a:r>
          </a:p>
          <a:p>
            <a:r>
              <a:rPr lang="en-IT" dirty="0"/>
              <a:t>D. The immobiliser antenna programming tool</a:t>
            </a:r>
          </a:p>
        </p:txBody>
      </p:sp>
    </p:spTree>
    <p:extLst>
      <p:ext uri="{BB962C8B-B14F-4D97-AF65-F5344CB8AC3E}">
        <p14:creationId xmlns:p14="http://schemas.microsoft.com/office/powerpoint/2010/main" val="3584248936"/>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B2B8E-5BDD-98DA-6A80-A397E339F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0A4E8-06B1-2268-CF72-25C2602F0D5A}"/>
              </a:ext>
            </a:extLst>
          </p:cNvPr>
          <p:cNvSpPr>
            <a:spLocks noGrp="1"/>
          </p:cNvSpPr>
          <p:nvPr>
            <p:ph type="title"/>
          </p:nvPr>
        </p:nvSpPr>
        <p:spPr/>
        <p:txBody>
          <a:bodyPr>
            <a:noAutofit/>
          </a:bodyPr>
          <a:lstStyle/>
          <a:p>
            <a:r>
              <a:rPr lang="en-GB" sz="2400" dirty="0"/>
              <a:t>General Key and Keyless Information Points commonly overlooked - 5 Questions </a:t>
            </a:r>
          </a:p>
        </p:txBody>
      </p:sp>
      <p:sp>
        <p:nvSpPr>
          <p:cNvPr id="6" name="TextBox 5">
            <a:extLst>
              <a:ext uri="{FF2B5EF4-FFF2-40B4-BE49-F238E27FC236}">
                <a16:creationId xmlns:a16="http://schemas.microsoft.com/office/drawing/2014/main" id="{9FC494F9-665F-E949-76FF-912EC8F3F9E3}"/>
              </a:ext>
            </a:extLst>
          </p:cNvPr>
          <p:cNvSpPr txBox="1"/>
          <p:nvPr/>
        </p:nvSpPr>
        <p:spPr>
          <a:xfrm>
            <a:off x="3048000" y="2551837"/>
            <a:ext cx="6096000" cy="2031325"/>
          </a:xfrm>
          <a:prstGeom prst="rect">
            <a:avLst/>
          </a:prstGeom>
          <a:noFill/>
        </p:spPr>
        <p:txBody>
          <a:bodyPr wrap="square">
            <a:spAutoFit/>
          </a:bodyPr>
          <a:lstStyle/>
          <a:p>
            <a:r>
              <a:rPr lang="en-IT" dirty="0"/>
              <a:t>2. What is the maximum number of keys that can be paired to the keyless ECM?</a:t>
            </a:r>
          </a:p>
          <a:p>
            <a:endParaRPr lang="en-IT" dirty="0"/>
          </a:p>
          <a:p>
            <a:r>
              <a:rPr lang="en-IT" dirty="0"/>
              <a:t>A. One</a:t>
            </a:r>
          </a:p>
          <a:p>
            <a:r>
              <a:rPr lang="en-IT" dirty="0"/>
              <a:t>B. Two</a:t>
            </a:r>
          </a:p>
          <a:p>
            <a:r>
              <a:rPr lang="en-IT" dirty="0"/>
              <a:t>C. Three ✅</a:t>
            </a:r>
          </a:p>
          <a:p>
            <a:r>
              <a:rPr lang="en-IT" dirty="0"/>
              <a:t>D. Unlimited, until the ECM memory is full</a:t>
            </a:r>
          </a:p>
        </p:txBody>
      </p:sp>
    </p:spTree>
    <p:extLst>
      <p:ext uri="{BB962C8B-B14F-4D97-AF65-F5344CB8AC3E}">
        <p14:creationId xmlns:p14="http://schemas.microsoft.com/office/powerpoint/2010/main" val="4123435358"/>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4F3D2-8C6B-69AC-99C2-4DA260F4E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2103F-F193-3AA4-1A41-BC157142DC5C}"/>
              </a:ext>
            </a:extLst>
          </p:cNvPr>
          <p:cNvSpPr>
            <a:spLocks noGrp="1"/>
          </p:cNvSpPr>
          <p:nvPr>
            <p:ph type="title"/>
          </p:nvPr>
        </p:nvSpPr>
        <p:spPr/>
        <p:txBody>
          <a:bodyPr>
            <a:noAutofit/>
          </a:bodyPr>
          <a:lstStyle/>
          <a:p>
            <a:r>
              <a:rPr lang="en-GB" sz="2400" dirty="0"/>
              <a:t>General Key and Keyless Information Points commonly overlooked - 5 Questions </a:t>
            </a:r>
          </a:p>
        </p:txBody>
      </p:sp>
      <p:sp>
        <p:nvSpPr>
          <p:cNvPr id="6" name="TextBox 5">
            <a:extLst>
              <a:ext uri="{FF2B5EF4-FFF2-40B4-BE49-F238E27FC236}">
                <a16:creationId xmlns:a16="http://schemas.microsoft.com/office/drawing/2014/main" id="{3157F27F-DBB2-4A0B-799E-B7D0C9D40532}"/>
              </a:ext>
            </a:extLst>
          </p:cNvPr>
          <p:cNvSpPr txBox="1"/>
          <p:nvPr/>
        </p:nvSpPr>
        <p:spPr>
          <a:xfrm>
            <a:off x="3048000" y="1997839"/>
            <a:ext cx="6807200" cy="2585323"/>
          </a:xfrm>
          <a:prstGeom prst="rect">
            <a:avLst/>
          </a:prstGeom>
          <a:noFill/>
        </p:spPr>
        <p:txBody>
          <a:bodyPr wrap="square">
            <a:spAutoFit/>
          </a:bodyPr>
          <a:lstStyle/>
          <a:p>
            <a:r>
              <a:rPr lang="en-IT" dirty="0"/>
              <a:t>3. Why is it recommended to pair smart keys before passive keys?</a:t>
            </a:r>
          </a:p>
          <a:p>
            <a:endParaRPr lang="en-IT" dirty="0"/>
          </a:p>
          <a:p>
            <a:r>
              <a:rPr lang="en-IT" dirty="0"/>
              <a:t>A. Smart keys must be paired first to maintain the correct pairing order. ✅</a:t>
            </a:r>
          </a:p>
          <a:p>
            <a:r>
              <a:rPr lang="en-IT" dirty="0"/>
              <a:t>B. Passive keys prevent smart keys from being recognised later.</a:t>
            </a:r>
          </a:p>
          <a:p>
            <a:r>
              <a:rPr lang="en-IT" dirty="0"/>
              <a:t>C. Smart keys require a fully charged motorcycle battery before pairing.</a:t>
            </a:r>
          </a:p>
          <a:p>
            <a:r>
              <a:rPr lang="en-IT" dirty="0"/>
              <a:t>D. Passive keys can only be paired after the motorcycle has been started.</a:t>
            </a:r>
          </a:p>
        </p:txBody>
      </p:sp>
    </p:spTree>
    <p:extLst>
      <p:ext uri="{BB962C8B-B14F-4D97-AF65-F5344CB8AC3E}">
        <p14:creationId xmlns:p14="http://schemas.microsoft.com/office/powerpoint/2010/main" val="2131498953"/>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4033A-270A-D7C9-D745-022DC6D8F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BE77A-1677-5CD8-7402-90DB09C5575F}"/>
              </a:ext>
            </a:extLst>
          </p:cNvPr>
          <p:cNvSpPr>
            <a:spLocks noGrp="1"/>
          </p:cNvSpPr>
          <p:nvPr>
            <p:ph type="title"/>
          </p:nvPr>
        </p:nvSpPr>
        <p:spPr/>
        <p:txBody>
          <a:bodyPr>
            <a:noAutofit/>
          </a:bodyPr>
          <a:lstStyle/>
          <a:p>
            <a:r>
              <a:rPr lang="en-GB" sz="2400" dirty="0"/>
              <a:t>General Key and Keyless Information Points commonly overlooked - 5 Questions </a:t>
            </a:r>
          </a:p>
        </p:txBody>
      </p:sp>
      <p:sp>
        <p:nvSpPr>
          <p:cNvPr id="8" name="TextBox 7">
            <a:extLst>
              <a:ext uri="{FF2B5EF4-FFF2-40B4-BE49-F238E27FC236}">
                <a16:creationId xmlns:a16="http://schemas.microsoft.com/office/drawing/2014/main" id="{0060DDA2-9FB3-FA21-1479-4EB47891D01D}"/>
              </a:ext>
            </a:extLst>
          </p:cNvPr>
          <p:cNvSpPr txBox="1"/>
          <p:nvPr/>
        </p:nvSpPr>
        <p:spPr>
          <a:xfrm>
            <a:off x="3048000" y="2274838"/>
            <a:ext cx="6096000" cy="2585323"/>
          </a:xfrm>
          <a:prstGeom prst="rect">
            <a:avLst/>
          </a:prstGeom>
          <a:noFill/>
        </p:spPr>
        <p:txBody>
          <a:bodyPr wrap="square">
            <a:spAutoFit/>
          </a:bodyPr>
          <a:lstStyle/>
          <a:p>
            <a:r>
              <a:rPr lang="en-IT" dirty="0"/>
              <a:t>A technician attempts to pair a key that has previously been paired to another keyless ECM. What should they expect?</a:t>
            </a:r>
          </a:p>
          <a:p>
            <a:endParaRPr lang="en-IT" dirty="0"/>
          </a:p>
          <a:p>
            <a:pPr marL="342900" indent="-342900">
              <a:buFont typeface="+mj-lt"/>
              <a:buAutoNum type="alphaUcPeriod"/>
            </a:pPr>
            <a:r>
              <a:rPr lang="en-IT" dirty="0"/>
              <a:t>The key will pair normally after deleting it from the old motorcycle.</a:t>
            </a:r>
          </a:p>
          <a:p>
            <a:pPr marL="342900" indent="-342900">
              <a:buFont typeface="+mj-lt"/>
              <a:buAutoNum type="alphaUcPeriod"/>
            </a:pPr>
            <a:r>
              <a:rPr lang="en-IT" dirty="0"/>
              <a:t>The key can be paired if the battery is removed first.</a:t>
            </a:r>
          </a:p>
          <a:p>
            <a:pPr marL="342900" indent="-342900">
              <a:buFont typeface="+mj-lt"/>
              <a:buAutoNum type="alphaUcPeriod"/>
            </a:pPr>
            <a:r>
              <a:rPr lang="en-IT" dirty="0"/>
              <a:t>The key cannot be paired because it is permanently locked to its original ECM. ✅</a:t>
            </a:r>
          </a:p>
          <a:p>
            <a:pPr marL="342900" indent="-342900">
              <a:buFont typeface="+mj-lt"/>
              <a:buAutoNum type="alphaUcPeriod"/>
            </a:pPr>
            <a:r>
              <a:rPr lang="en-IT" dirty="0"/>
              <a:t>The key will pair after cycling the ignition three times.</a:t>
            </a:r>
          </a:p>
        </p:txBody>
      </p:sp>
    </p:spTree>
    <p:extLst>
      <p:ext uri="{BB962C8B-B14F-4D97-AF65-F5344CB8AC3E}">
        <p14:creationId xmlns:p14="http://schemas.microsoft.com/office/powerpoint/2010/main" val="3311212507"/>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43F47-E193-8F8F-B934-D497D1775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AD1E2-1307-0654-145B-E8F3CC8F4AD3}"/>
              </a:ext>
            </a:extLst>
          </p:cNvPr>
          <p:cNvSpPr>
            <a:spLocks noGrp="1"/>
          </p:cNvSpPr>
          <p:nvPr>
            <p:ph type="title"/>
          </p:nvPr>
        </p:nvSpPr>
        <p:spPr/>
        <p:txBody>
          <a:bodyPr>
            <a:noAutofit/>
          </a:bodyPr>
          <a:lstStyle/>
          <a:p>
            <a:r>
              <a:rPr lang="en-GB" sz="2400" dirty="0"/>
              <a:t>General Key and Keyless Information Points commonly overlooked - 5 Questions </a:t>
            </a:r>
          </a:p>
        </p:txBody>
      </p:sp>
      <p:sp>
        <p:nvSpPr>
          <p:cNvPr id="6" name="TextBox 5">
            <a:extLst>
              <a:ext uri="{FF2B5EF4-FFF2-40B4-BE49-F238E27FC236}">
                <a16:creationId xmlns:a16="http://schemas.microsoft.com/office/drawing/2014/main" id="{998E3925-8DF9-3CDE-CED9-4FA09E1C7F26}"/>
              </a:ext>
            </a:extLst>
          </p:cNvPr>
          <p:cNvSpPr txBox="1"/>
          <p:nvPr/>
        </p:nvSpPr>
        <p:spPr>
          <a:xfrm>
            <a:off x="3048000" y="2551837"/>
            <a:ext cx="6908800" cy="2031325"/>
          </a:xfrm>
          <a:prstGeom prst="rect">
            <a:avLst/>
          </a:prstGeom>
          <a:noFill/>
        </p:spPr>
        <p:txBody>
          <a:bodyPr wrap="square">
            <a:spAutoFit/>
          </a:bodyPr>
          <a:lstStyle/>
          <a:p>
            <a:r>
              <a:rPr lang="en-IT" dirty="0"/>
              <a:t>5. After selecting "Re-Register All Keys", how long is the security delay before the first key can be paired?</a:t>
            </a:r>
          </a:p>
          <a:p>
            <a:endParaRPr lang="en-IT" dirty="0"/>
          </a:p>
          <a:p>
            <a:r>
              <a:rPr lang="en-IT" dirty="0"/>
              <a:t>A. 60 seconds</a:t>
            </a:r>
          </a:p>
          <a:p>
            <a:r>
              <a:rPr lang="en-IT" dirty="0"/>
              <a:t>B. 5 minutes</a:t>
            </a:r>
          </a:p>
          <a:p>
            <a:r>
              <a:rPr lang="en-IT" dirty="0"/>
              <a:t>C. 10 minutes (600 seconds) ✅</a:t>
            </a:r>
          </a:p>
          <a:p>
            <a:r>
              <a:rPr lang="en-IT" dirty="0"/>
              <a:t>D. 30 minutes</a:t>
            </a:r>
          </a:p>
        </p:txBody>
      </p:sp>
    </p:spTree>
    <p:extLst>
      <p:ext uri="{BB962C8B-B14F-4D97-AF65-F5344CB8AC3E}">
        <p14:creationId xmlns:p14="http://schemas.microsoft.com/office/powerpoint/2010/main" val="914636720"/>
      </p:ext>
    </p:extLst>
  </p:cSld>
  <p:clrMapOvr>
    <a:masterClrMapping/>
  </p:clrMapOvr>
  <mc:AlternateContent xmlns:mc="http://schemas.openxmlformats.org/markup-compatibility/2006">
    <mc:Choice xmlns:p14="http://schemas.microsoft.com/office/powerpoint/2010/main" Requires="p14">
      <p:transition spd="med" p14:dur="700"/>
    </mc:Choice>
    <mc:Fallback>
      <p:transition spd="med"/>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E83D5A-4B6D-0251-1B84-0889DA63223A}"/>
              </a:ext>
            </a:extLst>
          </p:cNvPr>
          <p:cNvSpPr>
            <a:spLocks noGrp="1"/>
          </p:cNvSpPr>
          <p:nvPr>
            <p:ph sz="half" idx="1"/>
          </p:nvPr>
        </p:nvSpPr>
        <p:spPr/>
        <p:txBody>
          <a:bodyPr>
            <a:normAutofit fontScale="47500" lnSpcReduction="20000"/>
          </a:bodyPr>
          <a:lstStyle/>
          <a:p>
            <a:pPr marL="0" indent="0">
              <a:buNone/>
            </a:pPr>
            <a:r>
              <a:rPr lang="en-GB" dirty="0"/>
              <a:t>The key signal function test can be used on models with keyless ignition</a:t>
            </a:r>
          </a:p>
          <a:p>
            <a:pPr marL="0" indent="0">
              <a:buNone/>
            </a:pPr>
            <a:r>
              <a:rPr lang="en-GB" dirty="0"/>
              <a:t>The function test can be started by clicking the Start button.</a:t>
            </a:r>
          </a:p>
          <a:p>
            <a:pPr marL="0" indent="0">
              <a:buNone/>
            </a:pPr>
            <a:r>
              <a:rPr lang="en-GB" dirty="0"/>
              <a:t>When started, the function test will periodically check for detected keys. The test provides three coloured lights for the following:</a:t>
            </a:r>
          </a:p>
          <a:p>
            <a:pPr marL="0" indent="0">
              <a:buNone/>
            </a:pPr>
            <a:r>
              <a:rPr lang="en-GB" dirty="0"/>
              <a:t>• UHF (Ultra High Frequency key detection)</a:t>
            </a:r>
          </a:p>
          <a:p>
            <a:pPr marL="0" indent="0">
              <a:buNone/>
            </a:pPr>
            <a:r>
              <a:rPr lang="en-GB" dirty="0"/>
              <a:t>• LF (Low Frequency key detection)</a:t>
            </a:r>
          </a:p>
          <a:p>
            <a:pPr marL="0" indent="0">
              <a:buNone/>
            </a:pPr>
            <a:r>
              <a:rPr lang="en-GB" dirty="0"/>
              <a:t>• LF Antenna (LF Antenna Status).</a:t>
            </a:r>
          </a:p>
          <a:p>
            <a:pPr marL="0" indent="0">
              <a:buNone/>
            </a:pPr>
            <a:r>
              <a:rPr lang="en-GB" dirty="0"/>
              <a:t>The status reported by the coloured lights is refreshed every 2 to 3 seconds while the function test is running.</a:t>
            </a:r>
          </a:p>
          <a:p>
            <a:pPr marL="0" indent="0">
              <a:buNone/>
            </a:pPr>
            <a:r>
              <a:rPr lang="en-GB" dirty="0"/>
              <a:t>The coloured light and text displayed in the status bar at the bottom of the Test Details screen will alternate between displaying the test status and test results as follows:</a:t>
            </a:r>
          </a:p>
          <a:p>
            <a:pPr marL="0" indent="0">
              <a:buNone/>
            </a:pPr>
            <a:r>
              <a:rPr lang="en-GB" dirty="0"/>
              <a:t>• Amber = Test running</a:t>
            </a:r>
          </a:p>
          <a:p>
            <a:pPr marL="0" indent="0">
              <a:buNone/>
            </a:pPr>
            <a:r>
              <a:rPr lang="en-GB" dirty="0"/>
              <a:t>• Red = No keys detected</a:t>
            </a:r>
          </a:p>
          <a:p>
            <a:pPr marL="0" indent="0">
              <a:buNone/>
            </a:pPr>
            <a:r>
              <a:rPr lang="en-GB" dirty="0"/>
              <a:t>• Green = Key detected (by either UHF or LF).</a:t>
            </a:r>
          </a:p>
          <a:p>
            <a:pPr marL="0" indent="0">
              <a:buNone/>
            </a:pPr>
            <a:r>
              <a:rPr lang="en-GB" dirty="0"/>
              <a:t>The test can be stopped at any time by clicking the Stop button</a:t>
            </a:r>
          </a:p>
        </p:txBody>
      </p:sp>
      <p:pic>
        <p:nvPicPr>
          <p:cNvPr id="6" name="Content Placeholder 5" descr="A screenshot of a computer&#10;&#10;AI-generated content may be incorrect.">
            <a:extLst>
              <a:ext uri="{FF2B5EF4-FFF2-40B4-BE49-F238E27FC236}">
                <a16:creationId xmlns:a16="http://schemas.microsoft.com/office/drawing/2014/main" id="{9FBED341-9BC5-EC18-C1A8-85A831F36A2C}"/>
              </a:ext>
            </a:extLst>
          </p:cNvPr>
          <p:cNvPicPr>
            <a:picLocks noGrp="1" noChangeAspect="1"/>
          </p:cNvPicPr>
          <p:nvPr>
            <p:ph sz="half" idx="2"/>
          </p:nvPr>
        </p:nvPicPr>
        <p:blipFill>
          <a:blip r:embed="rId2"/>
          <a:stretch>
            <a:fillRect/>
          </a:stretch>
        </p:blipFill>
        <p:spPr>
          <a:xfrm>
            <a:off x="6211888" y="1767061"/>
            <a:ext cx="5384800" cy="3611215"/>
          </a:xfrm>
          <a:prstGeom prst="rect">
            <a:avLst/>
          </a:prstGeom>
        </p:spPr>
      </p:pic>
      <p:sp>
        <p:nvSpPr>
          <p:cNvPr id="4" name="Title 3">
            <a:extLst>
              <a:ext uri="{FF2B5EF4-FFF2-40B4-BE49-F238E27FC236}">
                <a16:creationId xmlns:a16="http://schemas.microsoft.com/office/drawing/2014/main" id="{473C539D-8D9F-2198-3FE1-8FA20FA6EACB}"/>
              </a:ext>
            </a:extLst>
          </p:cNvPr>
          <p:cNvSpPr>
            <a:spLocks noGrp="1"/>
          </p:cNvSpPr>
          <p:nvPr>
            <p:ph type="title"/>
          </p:nvPr>
        </p:nvSpPr>
        <p:spPr/>
        <p:txBody>
          <a:bodyPr>
            <a:normAutofit/>
          </a:bodyPr>
          <a:lstStyle/>
          <a:p>
            <a:r>
              <a:rPr lang="en-GB" dirty="0"/>
              <a:t>Key Signal Function Test - Keyless Ignition Models</a:t>
            </a:r>
          </a:p>
        </p:txBody>
      </p:sp>
    </p:spTree>
    <p:extLst>
      <p:ext uri="{BB962C8B-B14F-4D97-AF65-F5344CB8AC3E}">
        <p14:creationId xmlns:p14="http://schemas.microsoft.com/office/powerpoint/2010/main" val="40459828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980951-FD91-E0DE-BE52-5F7272EFCECA}"/>
              </a:ext>
            </a:extLst>
          </p:cNvPr>
          <p:cNvSpPr>
            <a:spLocks noGrp="1"/>
          </p:cNvSpPr>
          <p:nvPr>
            <p:ph sz="half" idx="1"/>
          </p:nvPr>
        </p:nvSpPr>
        <p:spPr>
          <a:xfrm>
            <a:off x="247135" y="1445741"/>
            <a:ext cx="5772665" cy="4731222"/>
          </a:xfrm>
        </p:spPr>
        <p:txBody>
          <a:bodyPr>
            <a:normAutofit fontScale="70000" lnSpcReduction="20000"/>
          </a:bodyPr>
          <a:lstStyle/>
          <a:p>
            <a:pPr marL="0" indent="0">
              <a:buNone/>
            </a:pPr>
            <a:r>
              <a:rPr lang="en-GB" dirty="0"/>
              <a:t>The UHF coloured light provides indication of whether or not a paired, active smart key is being detected by the motorcycle's keyless ignition system. The smart key must be paired to the keyless ECM, and must be in Active mode to be detected by UHF.</a:t>
            </a:r>
          </a:p>
          <a:p>
            <a:pPr marL="0" indent="0">
              <a:buNone/>
            </a:pPr>
            <a:r>
              <a:rPr lang="en-GB" dirty="0"/>
              <a:t>Paired smart keys can typically be detected at a range of up to one metre from the motorcycle when in active mode.</a:t>
            </a:r>
          </a:p>
          <a:p>
            <a:pPr marL="0" indent="0">
              <a:buNone/>
            </a:pPr>
            <a:r>
              <a:rPr lang="en-GB" dirty="0"/>
              <a:t>Note: The LF antennae detect UHF keys as well as the LF keys.</a:t>
            </a:r>
          </a:p>
          <a:p>
            <a:pPr marL="0" indent="0">
              <a:buNone/>
            </a:pPr>
            <a:endParaRPr lang="en-GB" dirty="0"/>
          </a:p>
          <a:p>
            <a:pPr marL="0" indent="0">
              <a:buNone/>
            </a:pPr>
            <a:r>
              <a:rPr lang="en-GB" b="1" dirty="0"/>
              <a:t>When the function test is running:</a:t>
            </a:r>
          </a:p>
          <a:p>
            <a:pPr marL="0" indent="0">
              <a:buNone/>
            </a:pPr>
            <a:r>
              <a:rPr lang="en-GB" dirty="0"/>
              <a:t>• A red light indicates that no key was detected by UHF method at the last attempt.</a:t>
            </a:r>
          </a:p>
          <a:p>
            <a:pPr marL="0" indent="0">
              <a:buNone/>
            </a:pPr>
            <a:r>
              <a:rPr lang="en-GB" dirty="0"/>
              <a:t>• A green light indicates that a paired, active smart key was detected by UHF method at the last attempt</a:t>
            </a:r>
          </a:p>
        </p:txBody>
      </p:sp>
      <p:pic>
        <p:nvPicPr>
          <p:cNvPr id="6" name="Content Placeholder 5" descr="A close-up of a smart key&#10;&#10;AI-generated content may be incorrect.">
            <a:extLst>
              <a:ext uri="{FF2B5EF4-FFF2-40B4-BE49-F238E27FC236}">
                <a16:creationId xmlns:a16="http://schemas.microsoft.com/office/drawing/2014/main" id="{74F3173B-1FE2-E262-C217-C983534E29BC}"/>
              </a:ext>
            </a:extLst>
          </p:cNvPr>
          <p:cNvPicPr>
            <a:picLocks noGrp="1" noChangeAspect="1"/>
          </p:cNvPicPr>
          <p:nvPr>
            <p:ph sz="half" idx="2"/>
          </p:nvPr>
        </p:nvPicPr>
        <p:blipFill>
          <a:blip r:embed="rId2"/>
          <a:stretch>
            <a:fillRect/>
          </a:stretch>
        </p:blipFill>
        <p:spPr>
          <a:xfrm>
            <a:off x="6253026" y="1616768"/>
            <a:ext cx="5302523" cy="3911801"/>
          </a:xfrm>
          <a:prstGeom prst="rect">
            <a:avLst/>
          </a:prstGeom>
        </p:spPr>
      </p:pic>
      <p:sp>
        <p:nvSpPr>
          <p:cNvPr id="4" name="Title 3">
            <a:extLst>
              <a:ext uri="{FF2B5EF4-FFF2-40B4-BE49-F238E27FC236}">
                <a16:creationId xmlns:a16="http://schemas.microsoft.com/office/drawing/2014/main" id="{E3AC2FDC-A902-FAF1-7CE6-80AE83043FD3}"/>
              </a:ext>
            </a:extLst>
          </p:cNvPr>
          <p:cNvSpPr>
            <a:spLocks noGrp="1"/>
          </p:cNvSpPr>
          <p:nvPr>
            <p:ph type="title"/>
          </p:nvPr>
        </p:nvSpPr>
        <p:spPr/>
        <p:txBody>
          <a:bodyPr>
            <a:normAutofit/>
          </a:bodyPr>
          <a:lstStyle/>
          <a:p>
            <a:r>
              <a:rPr lang="en-GB" dirty="0"/>
              <a:t>UHF Key Detection</a:t>
            </a:r>
          </a:p>
        </p:txBody>
      </p:sp>
    </p:spTree>
    <p:extLst>
      <p:ext uri="{BB962C8B-B14F-4D97-AF65-F5344CB8AC3E}">
        <p14:creationId xmlns:p14="http://schemas.microsoft.com/office/powerpoint/2010/main" val="212752728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9117ED-84C0-8511-B900-FB84688655CF}"/>
              </a:ext>
            </a:extLst>
          </p:cNvPr>
          <p:cNvSpPr>
            <a:spLocks noGrp="1"/>
          </p:cNvSpPr>
          <p:nvPr>
            <p:ph sz="half" idx="1"/>
          </p:nvPr>
        </p:nvSpPr>
        <p:spPr>
          <a:xfrm>
            <a:off x="185351" y="1825625"/>
            <a:ext cx="6190735" cy="4463964"/>
          </a:xfrm>
        </p:spPr>
        <p:txBody>
          <a:bodyPr>
            <a:normAutofit fontScale="55000" lnSpcReduction="20000"/>
          </a:bodyPr>
          <a:lstStyle/>
          <a:p>
            <a:pPr marL="0" indent="0">
              <a:buNone/>
            </a:pPr>
            <a:r>
              <a:rPr lang="en-GB" dirty="0"/>
              <a:t>The LF coloured light provides indication of whether a compatible key is being detected by the LF antenna.</a:t>
            </a:r>
          </a:p>
          <a:p>
            <a:pPr marL="0" indent="0">
              <a:buNone/>
            </a:pPr>
            <a:r>
              <a:rPr lang="en-GB" dirty="0"/>
              <a:t>The LF antenna will detect any key that is compatible with keyless ignition, regardless of whether or not the key has been paired with the keyless ECM.</a:t>
            </a:r>
          </a:p>
          <a:p>
            <a:pPr marL="0" indent="0">
              <a:buNone/>
            </a:pPr>
            <a:r>
              <a:rPr lang="en-GB" dirty="0"/>
              <a:t>Compatible keys must be placed in close proximity of the LF antenna (typically within 25 mm) to be detected.</a:t>
            </a:r>
          </a:p>
          <a:p>
            <a:pPr marL="0" indent="0">
              <a:buNone/>
            </a:pPr>
            <a:r>
              <a:rPr lang="en-GB" b="1" dirty="0"/>
              <a:t>When the function test is running:</a:t>
            </a:r>
          </a:p>
          <a:p>
            <a:pPr marL="0" indent="0">
              <a:buNone/>
            </a:pPr>
            <a:r>
              <a:rPr lang="en-GB" dirty="0"/>
              <a:t>• A red light indicates that no key was detected by the LF antenna at the last attempt.</a:t>
            </a:r>
          </a:p>
          <a:p>
            <a:pPr marL="0" indent="0">
              <a:buNone/>
            </a:pPr>
            <a:r>
              <a:rPr lang="en-GB" dirty="0"/>
              <a:t>• A green light indicates that a compatible key was detected by the LF antenna at the last attempt</a:t>
            </a:r>
          </a:p>
          <a:p>
            <a:pPr marL="0" indent="0">
              <a:buNone/>
            </a:pPr>
            <a:r>
              <a:rPr lang="en-GB" b="1" dirty="0"/>
              <a:t>LF Antenna Status</a:t>
            </a:r>
          </a:p>
          <a:p>
            <a:pPr marL="0" indent="0">
              <a:buNone/>
            </a:pPr>
            <a:r>
              <a:rPr lang="en-GB" dirty="0"/>
              <a:t>The LF Antenna light provides indication of the status of the LF antenna.</a:t>
            </a:r>
          </a:p>
          <a:p>
            <a:pPr marL="0" indent="0">
              <a:buNone/>
            </a:pPr>
            <a:r>
              <a:rPr lang="en-GB" b="1" dirty="0"/>
              <a:t>When the function test is running:</a:t>
            </a:r>
          </a:p>
          <a:p>
            <a:pPr marL="0" indent="0">
              <a:buNone/>
            </a:pPr>
            <a:r>
              <a:rPr lang="en-GB" dirty="0"/>
              <a:t>• A red light indicates that a LF antenna fault is present.</a:t>
            </a:r>
          </a:p>
          <a:p>
            <a:pPr marL="0" indent="0">
              <a:buNone/>
            </a:pPr>
            <a:r>
              <a:rPr lang="en-GB" dirty="0"/>
              <a:t>• A green light indicates that the LF antenna is functioning normally.</a:t>
            </a:r>
          </a:p>
        </p:txBody>
      </p:sp>
      <p:pic>
        <p:nvPicPr>
          <p:cNvPr id="6" name="Content Placeholder 5" descr="A close-up of a computer key&#10;&#10;AI-generated content may be incorrect.">
            <a:extLst>
              <a:ext uri="{FF2B5EF4-FFF2-40B4-BE49-F238E27FC236}">
                <a16:creationId xmlns:a16="http://schemas.microsoft.com/office/drawing/2014/main" id="{8B801020-5F73-81A9-5FF1-EB776C0A61F6}"/>
              </a:ext>
            </a:extLst>
          </p:cNvPr>
          <p:cNvPicPr>
            <a:picLocks noGrp="1" noChangeAspect="1"/>
          </p:cNvPicPr>
          <p:nvPr>
            <p:ph sz="half" idx="2"/>
          </p:nvPr>
        </p:nvPicPr>
        <p:blipFill>
          <a:blip r:embed="rId2"/>
          <a:stretch>
            <a:fillRect/>
          </a:stretch>
        </p:blipFill>
        <p:spPr>
          <a:xfrm>
            <a:off x="6275253" y="1635819"/>
            <a:ext cx="5258070" cy="3873699"/>
          </a:xfrm>
          <a:prstGeom prst="rect">
            <a:avLst/>
          </a:prstGeom>
        </p:spPr>
      </p:pic>
      <p:sp>
        <p:nvSpPr>
          <p:cNvPr id="4" name="Title 3">
            <a:extLst>
              <a:ext uri="{FF2B5EF4-FFF2-40B4-BE49-F238E27FC236}">
                <a16:creationId xmlns:a16="http://schemas.microsoft.com/office/drawing/2014/main" id="{97972252-AC48-BB1F-DAFF-D4A5A2B6333C}"/>
              </a:ext>
            </a:extLst>
          </p:cNvPr>
          <p:cNvSpPr>
            <a:spLocks noGrp="1"/>
          </p:cNvSpPr>
          <p:nvPr>
            <p:ph type="title"/>
          </p:nvPr>
        </p:nvSpPr>
        <p:spPr/>
        <p:txBody>
          <a:bodyPr>
            <a:normAutofit/>
          </a:bodyPr>
          <a:lstStyle/>
          <a:p>
            <a:r>
              <a:rPr lang="en-GB" dirty="0"/>
              <a:t>LF Key Detection</a:t>
            </a:r>
          </a:p>
        </p:txBody>
      </p:sp>
    </p:spTree>
    <p:extLst>
      <p:ext uri="{BB962C8B-B14F-4D97-AF65-F5344CB8AC3E}">
        <p14:creationId xmlns:p14="http://schemas.microsoft.com/office/powerpoint/2010/main" val="39484028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3EF0-8F71-3A6F-C6D4-542A5220AB2D}"/>
              </a:ext>
            </a:extLst>
          </p:cNvPr>
          <p:cNvSpPr>
            <a:spLocks noGrp="1"/>
          </p:cNvSpPr>
          <p:nvPr>
            <p:ph type="title"/>
          </p:nvPr>
        </p:nvSpPr>
        <p:spPr>
          <a:xfrm>
            <a:off x="458846" y="202998"/>
            <a:ext cx="10515600" cy="1325563"/>
          </a:xfrm>
        </p:spPr>
        <p:txBody>
          <a:bodyPr>
            <a:normAutofit/>
          </a:bodyPr>
          <a:lstStyle/>
          <a:p>
            <a:r>
              <a:rPr lang="en-GB" dirty="0"/>
              <a:t>Cooker Knob Isolator Switch - Ignition Master Switch Link </a:t>
            </a:r>
          </a:p>
        </p:txBody>
      </p:sp>
      <p:pic>
        <p:nvPicPr>
          <p:cNvPr id="5" name="Content Placeholder 4">
            <a:extLst>
              <a:ext uri="{FF2B5EF4-FFF2-40B4-BE49-F238E27FC236}">
                <a16:creationId xmlns:a16="http://schemas.microsoft.com/office/drawing/2014/main" id="{80B4FE0F-33BA-EC2C-5392-174F5381846C}"/>
              </a:ext>
            </a:extLst>
          </p:cNvPr>
          <p:cNvPicPr>
            <a:picLocks noGrp="1" noChangeAspect="1"/>
          </p:cNvPicPr>
          <p:nvPr>
            <p:ph idx="1"/>
          </p:nvPr>
        </p:nvPicPr>
        <p:blipFill>
          <a:blip r:embed="rId2"/>
          <a:stretch>
            <a:fillRect/>
          </a:stretch>
        </p:blipFill>
        <p:spPr>
          <a:xfrm>
            <a:off x="1866600" y="873123"/>
            <a:ext cx="15649502" cy="7729958"/>
          </a:xfrm>
          <a:prstGeom prst="rect">
            <a:avLst/>
          </a:prstGeom>
        </p:spPr>
      </p:pic>
      <p:sp>
        <p:nvSpPr>
          <p:cNvPr id="6" name="Oval 5">
            <a:extLst>
              <a:ext uri="{FF2B5EF4-FFF2-40B4-BE49-F238E27FC236}">
                <a16:creationId xmlns:a16="http://schemas.microsoft.com/office/drawing/2014/main" id="{3D7D8781-461A-5989-696F-9E95EF065665}"/>
              </a:ext>
            </a:extLst>
          </p:cNvPr>
          <p:cNvSpPr/>
          <p:nvPr/>
        </p:nvSpPr>
        <p:spPr>
          <a:xfrm>
            <a:off x="6269827" y="4103818"/>
            <a:ext cx="1513269" cy="63428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F9BDE961-ADFA-66E0-254B-E02B46F0CA22}"/>
              </a:ext>
            </a:extLst>
          </p:cNvPr>
          <p:cNvSpPr txBox="1">
            <a:spLocks/>
          </p:cNvSpPr>
          <p:nvPr/>
        </p:nvSpPr>
        <p:spPr>
          <a:xfrm>
            <a:off x="528084" y="2303496"/>
            <a:ext cx="3464365" cy="3225434"/>
          </a:xfrm>
          <a:prstGeom prst="rect">
            <a:avLst/>
          </a:prstGeom>
        </p:spPr>
        <p:txBody>
          <a:bodyPr vert="horz" lIns="91410" tIns="45705" rIns="91410" bIns="45705" rtlCol="0" anchor="ctr">
            <a:normAutofit fontScale="97500"/>
          </a:bodyPr>
          <a:lstStyle>
            <a:lvl1pPr algn="l" defTabSz="1218720" rtl="0" eaLnBrk="1" latinLnBrk="0" hangingPunct="1">
              <a:spcBef>
                <a:spcPct val="0"/>
              </a:spcBef>
              <a:buNone/>
              <a:defRPr sz="3733" b="1" kern="1200">
                <a:solidFill>
                  <a:schemeClr val="tx1"/>
                </a:solidFill>
                <a:latin typeface="TriumphBrokman Heavy" pitchFamily="50" charset="0"/>
                <a:ea typeface="+mj-ea"/>
                <a:cs typeface="+mj-cs"/>
              </a:defRPr>
            </a:lvl1pPr>
          </a:lstStyle>
          <a:p>
            <a:r>
              <a:rPr lang="en-GB" sz="2800" dirty="0"/>
              <a:t>Useful Tip:</a:t>
            </a:r>
          </a:p>
          <a:p>
            <a:endParaRPr lang="en-GB" sz="2800" dirty="0"/>
          </a:p>
          <a:p>
            <a:r>
              <a:rPr lang="en-GB" sz="2800" dirty="0"/>
              <a:t>US models have an isolator switch.</a:t>
            </a:r>
          </a:p>
          <a:p>
            <a:endParaRPr lang="en-GB" sz="2800" dirty="0"/>
          </a:p>
          <a:p>
            <a:r>
              <a:rPr lang="en-GB" sz="2800" dirty="0"/>
              <a:t>Models outside of US have a loop-out plug.</a:t>
            </a:r>
          </a:p>
        </p:txBody>
      </p:sp>
    </p:spTree>
    <p:extLst>
      <p:ext uri="{BB962C8B-B14F-4D97-AF65-F5344CB8AC3E}">
        <p14:creationId xmlns:p14="http://schemas.microsoft.com/office/powerpoint/2010/main" val="2675850904"/>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F3E1D-E8E3-5AFF-1A80-1BCA87143FC1}"/>
              </a:ext>
            </a:extLst>
          </p:cNvPr>
          <p:cNvSpPr>
            <a:spLocks noGrp="1"/>
          </p:cNvSpPr>
          <p:nvPr>
            <p:ph type="title"/>
          </p:nvPr>
        </p:nvSpPr>
        <p:spPr/>
        <p:txBody>
          <a:bodyPr>
            <a:normAutofit/>
          </a:bodyPr>
          <a:lstStyle/>
          <a:p>
            <a:r>
              <a:rPr lang="en-GB" dirty="0"/>
              <a:t>Key pairing failure possible causes</a:t>
            </a:r>
          </a:p>
        </p:txBody>
      </p:sp>
      <p:pic>
        <p:nvPicPr>
          <p:cNvPr id="5" name="Content Placeholder 4">
            <a:extLst>
              <a:ext uri="{FF2B5EF4-FFF2-40B4-BE49-F238E27FC236}">
                <a16:creationId xmlns:a16="http://schemas.microsoft.com/office/drawing/2014/main" id="{03429CA9-EC8C-B1DD-B3EA-213DBB0EEB34}"/>
              </a:ext>
            </a:extLst>
          </p:cNvPr>
          <p:cNvPicPr>
            <a:picLocks noGrp="1" noChangeAspect="1"/>
          </p:cNvPicPr>
          <p:nvPr>
            <p:ph idx="1"/>
          </p:nvPr>
        </p:nvPicPr>
        <p:blipFill>
          <a:blip r:embed="rId2"/>
          <a:stretch>
            <a:fillRect/>
          </a:stretch>
        </p:blipFill>
        <p:spPr>
          <a:xfrm>
            <a:off x="1475014" y="1425224"/>
            <a:ext cx="8350679" cy="3029106"/>
          </a:xfrm>
          <a:prstGeom prst="rect">
            <a:avLst/>
          </a:prstGeom>
        </p:spPr>
      </p:pic>
      <p:sp>
        <p:nvSpPr>
          <p:cNvPr id="7" name="TextBox 6">
            <a:extLst>
              <a:ext uri="{FF2B5EF4-FFF2-40B4-BE49-F238E27FC236}">
                <a16:creationId xmlns:a16="http://schemas.microsoft.com/office/drawing/2014/main" id="{FE0335B5-042B-A257-7010-9BCE8F64C790}"/>
              </a:ext>
            </a:extLst>
          </p:cNvPr>
          <p:cNvSpPr txBox="1"/>
          <p:nvPr/>
        </p:nvSpPr>
        <p:spPr>
          <a:xfrm>
            <a:off x="1573959" y="4676993"/>
            <a:ext cx="6119036" cy="1815882"/>
          </a:xfrm>
          <a:prstGeom prst="rect">
            <a:avLst/>
          </a:prstGeom>
          <a:noFill/>
        </p:spPr>
        <p:txBody>
          <a:bodyPr wrap="square">
            <a:spAutoFit/>
          </a:bodyPr>
          <a:lstStyle/>
          <a:p>
            <a:r>
              <a:rPr lang="en-GB" sz="1400" dirty="0"/>
              <a:t>Key pairing can take time to see new key / metal side away from LFA. </a:t>
            </a:r>
          </a:p>
          <a:p>
            <a:endParaRPr lang="en-GB" sz="1400" dirty="0"/>
          </a:p>
          <a:p>
            <a:r>
              <a:rPr lang="en-GB" sz="1400" dirty="0"/>
              <a:t>Maybe dismount antenna. Persevere!</a:t>
            </a:r>
          </a:p>
          <a:p>
            <a:endParaRPr lang="en-GB" sz="1400" dirty="0"/>
          </a:p>
          <a:p>
            <a:r>
              <a:rPr lang="en-GB" sz="1400" dirty="0"/>
              <a:t>Front antenna only there for keyless range around bike</a:t>
            </a:r>
          </a:p>
          <a:p>
            <a:endParaRPr lang="en-GB" sz="1400" dirty="0"/>
          </a:p>
          <a:p>
            <a:r>
              <a:rPr lang="en-GB" sz="1400" dirty="0"/>
              <a:t>Note battery tenders may affect key pairing due to electrical noise etc…</a:t>
            </a:r>
          </a:p>
          <a:p>
            <a:endParaRPr lang="en-GB" sz="1400" dirty="0"/>
          </a:p>
        </p:txBody>
      </p:sp>
    </p:spTree>
    <p:extLst>
      <p:ext uri="{BB962C8B-B14F-4D97-AF65-F5344CB8AC3E}">
        <p14:creationId xmlns:p14="http://schemas.microsoft.com/office/powerpoint/2010/main" val="1056098632"/>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D5CB1-1947-FF46-CBA9-B7FA46C546D9}"/>
              </a:ext>
            </a:extLst>
          </p:cNvPr>
          <p:cNvSpPr>
            <a:spLocks noGrp="1"/>
          </p:cNvSpPr>
          <p:nvPr>
            <p:ph type="title"/>
          </p:nvPr>
        </p:nvSpPr>
        <p:spPr/>
        <p:txBody>
          <a:bodyPr>
            <a:normAutofit/>
          </a:bodyPr>
          <a:lstStyle/>
          <a:p>
            <a:r>
              <a:rPr lang="en-GB" dirty="0"/>
              <a:t>Important Keyless Notes</a:t>
            </a:r>
          </a:p>
        </p:txBody>
      </p:sp>
      <p:sp>
        <p:nvSpPr>
          <p:cNvPr id="3" name="Content Placeholder 2">
            <a:extLst>
              <a:ext uri="{FF2B5EF4-FFF2-40B4-BE49-F238E27FC236}">
                <a16:creationId xmlns:a16="http://schemas.microsoft.com/office/drawing/2014/main" id="{A128124C-53BE-7B22-4DBB-F0089465296B}"/>
              </a:ext>
            </a:extLst>
          </p:cNvPr>
          <p:cNvSpPr>
            <a:spLocks noGrp="1"/>
          </p:cNvSpPr>
          <p:nvPr>
            <p:ph idx="1"/>
          </p:nvPr>
        </p:nvSpPr>
        <p:spPr/>
        <p:txBody>
          <a:bodyPr/>
          <a:lstStyle/>
          <a:p>
            <a:r>
              <a:rPr lang="en-GB" dirty="0"/>
              <a:t>Bike will allow TDT connection to immobiliser diagnostics for 30 seconds without a key present. It allows connection window of 30 secs but once connected it will stay connected.</a:t>
            </a:r>
          </a:p>
          <a:p>
            <a:r>
              <a:rPr lang="en-GB" dirty="0"/>
              <a:t>So KCU will wake with no key but only gives access to TDT Immobiliser diagnostics</a:t>
            </a:r>
          </a:p>
          <a:p>
            <a:r>
              <a:rPr lang="en-GB" dirty="0"/>
              <a:t>NB Immobiliser light sequence flashes (see table)</a:t>
            </a:r>
          </a:p>
          <a:p>
            <a:pPr marL="0" indent="0">
              <a:buNone/>
            </a:pPr>
            <a:endParaRPr lang="en-GB" dirty="0"/>
          </a:p>
        </p:txBody>
      </p:sp>
    </p:spTree>
    <p:extLst>
      <p:ext uri="{BB962C8B-B14F-4D97-AF65-F5344CB8AC3E}">
        <p14:creationId xmlns:p14="http://schemas.microsoft.com/office/powerpoint/2010/main" val="1653710224"/>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2BEFED-BB73-8F37-991A-95D0D747C934}"/>
              </a:ext>
            </a:extLst>
          </p:cNvPr>
          <p:cNvPicPr>
            <a:picLocks noGrp="1" noChangeAspect="1"/>
          </p:cNvPicPr>
          <p:nvPr>
            <p:ph idx="1"/>
          </p:nvPr>
        </p:nvPicPr>
        <p:blipFill>
          <a:blip r:embed="rId2"/>
          <a:stretch>
            <a:fillRect/>
          </a:stretch>
        </p:blipFill>
        <p:spPr>
          <a:xfrm>
            <a:off x="648693" y="1389690"/>
            <a:ext cx="7667403" cy="5170852"/>
          </a:xfrm>
          <a:prstGeom prst="rect">
            <a:avLst/>
          </a:prstGeom>
        </p:spPr>
      </p:pic>
      <p:sp>
        <p:nvSpPr>
          <p:cNvPr id="6" name="Title 1">
            <a:extLst>
              <a:ext uri="{FF2B5EF4-FFF2-40B4-BE49-F238E27FC236}">
                <a16:creationId xmlns:a16="http://schemas.microsoft.com/office/drawing/2014/main" id="{56A6A65D-5EE0-2DA2-596F-CF808A0FD77D}"/>
              </a:ext>
            </a:extLst>
          </p:cNvPr>
          <p:cNvSpPr txBox="1">
            <a:spLocks/>
          </p:cNvSpPr>
          <p:nvPr/>
        </p:nvSpPr>
        <p:spPr>
          <a:xfrm>
            <a:off x="762000" y="605072"/>
            <a:ext cx="10972800" cy="658085"/>
          </a:xfrm>
          <a:prstGeom prst="rect">
            <a:avLst/>
          </a:prstGeom>
        </p:spPr>
        <p:txBody>
          <a:bodyPr vert="horz" lIns="91410" tIns="45705" rIns="91410" bIns="45705" rtlCol="0" anchor="ctr">
            <a:normAutofit fontScale="97500"/>
          </a:bodyPr>
          <a:lstStyle>
            <a:lvl1pPr algn="l" defTabSz="1218720" rtl="0" eaLnBrk="1" latinLnBrk="0" hangingPunct="1">
              <a:spcBef>
                <a:spcPct val="0"/>
              </a:spcBef>
              <a:buNone/>
              <a:defRPr sz="3733" b="1" kern="1200">
                <a:solidFill>
                  <a:schemeClr val="tx1"/>
                </a:solidFill>
                <a:latin typeface="TriumphBrokman Heavy" pitchFamily="50" charset="0"/>
                <a:ea typeface="+mj-ea"/>
                <a:cs typeface="+mj-cs"/>
              </a:defRPr>
            </a:lvl1pPr>
          </a:lstStyle>
          <a:p>
            <a:r>
              <a:rPr lang="en-GB" dirty="0"/>
              <a:t>Instrument Panel Flash Sequences</a:t>
            </a:r>
          </a:p>
        </p:txBody>
      </p:sp>
    </p:spTree>
    <p:extLst>
      <p:ext uri="{BB962C8B-B14F-4D97-AF65-F5344CB8AC3E}">
        <p14:creationId xmlns:p14="http://schemas.microsoft.com/office/powerpoint/2010/main" val="2899026020"/>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05858-89CF-CD74-8A2B-230EA1642441}"/>
              </a:ext>
            </a:extLst>
          </p:cNvPr>
          <p:cNvSpPr>
            <a:spLocks noGrp="1"/>
          </p:cNvSpPr>
          <p:nvPr>
            <p:ph type="title"/>
          </p:nvPr>
        </p:nvSpPr>
        <p:spPr/>
        <p:txBody>
          <a:bodyPr/>
          <a:lstStyle/>
          <a:p>
            <a:r>
              <a:rPr lang="en-IT" dirty="0"/>
              <a:t>TPMS</a:t>
            </a:r>
          </a:p>
        </p:txBody>
      </p:sp>
      <p:sp>
        <p:nvSpPr>
          <p:cNvPr id="3" name="Content Placeholder 2">
            <a:extLst>
              <a:ext uri="{FF2B5EF4-FFF2-40B4-BE49-F238E27FC236}">
                <a16:creationId xmlns:a16="http://schemas.microsoft.com/office/drawing/2014/main" id="{F6AE586F-38A6-A1AC-C16A-0C7B0DBA3F43}"/>
              </a:ext>
            </a:extLst>
          </p:cNvPr>
          <p:cNvSpPr>
            <a:spLocks noGrp="1"/>
          </p:cNvSpPr>
          <p:nvPr>
            <p:ph idx="1"/>
          </p:nvPr>
        </p:nvSpPr>
        <p:spPr/>
        <p:txBody>
          <a:bodyPr/>
          <a:lstStyle/>
          <a:p>
            <a:r>
              <a:rPr lang="en-IT" dirty="0"/>
              <a:t>The Tyre Pressure Monitoring System (TPMS) function is incorporated into the RCU, Immobiliser, CCU or KCU, depending on the model.</a:t>
            </a:r>
          </a:p>
          <a:p>
            <a:r>
              <a:rPr lang="en-IT" dirty="0"/>
              <a:t>In short, whichever control unit contains the immobiliser function.</a:t>
            </a:r>
          </a:p>
        </p:txBody>
      </p:sp>
    </p:spTree>
    <p:extLst>
      <p:ext uri="{BB962C8B-B14F-4D97-AF65-F5344CB8AC3E}">
        <p14:creationId xmlns:p14="http://schemas.microsoft.com/office/powerpoint/2010/main" val="1267562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D6D2-6BED-CC01-E221-68DEDCEEBA62}"/>
              </a:ext>
            </a:extLst>
          </p:cNvPr>
          <p:cNvSpPr>
            <a:spLocks noGrp="1"/>
          </p:cNvSpPr>
          <p:nvPr>
            <p:ph type="title"/>
          </p:nvPr>
        </p:nvSpPr>
        <p:spPr>
          <a:xfrm>
            <a:off x="446637" y="54671"/>
            <a:ext cx="10515600" cy="1325563"/>
          </a:xfrm>
        </p:spPr>
        <p:txBody>
          <a:bodyPr>
            <a:normAutofit/>
          </a:bodyPr>
          <a:lstStyle/>
          <a:p>
            <a:r>
              <a:rPr lang="en-GB" dirty="0"/>
              <a:t>TPMS operation</a:t>
            </a:r>
          </a:p>
        </p:txBody>
      </p:sp>
      <p:pic>
        <p:nvPicPr>
          <p:cNvPr id="7" name="Picture 6" descr="A diagram of a computer diagnostic&#10;&#10;AI-generated content may be incorrect.">
            <a:extLst>
              <a:ext uri="{FF2B5EF4-FFF2-40B4-BE49-F238E27FC236}">
                <a16:creationId xmlns:a16="http://schemas.microsoft.com/office/drawing/2014/main" id="{33795B01-EE85-8948-2832-3F569ECF264E}"/>
              </a:ext>
            </a:extLst>
          </p:cNvPr>
          <p:cNvPicPr>
            <a:picLocks noChangeAspect="1"/>
          </p:cNvPicPr>
          <p:nvPr/>
        </p:nvPicPr>
        <p:blipFill>
          <a:blip r:embed="rId2"/>
          <a:stretch>
            <a:fillRect/>
          </a:stretch>
        </p:blipFill>
        <p:spPr>
          <a:xfrm>
            <a:off x="6907217" y="1454047"/>
            <a:ext cx="4140413" cy="3949903"/>
          </a:xfrm>
          <a:prstGeom prst="rect">
            <a:avLst/>
          </a:prstGeom>
        </p:spPr>
      </p:pic>
      <p:sp>
        <p:nvSpPr>
          <p:cNvPr id="11" name="Content Placeholder 10">
            <a:extLst>
              <a:ext uri="{FF2B5EF4-FFF2-40B4-BE49-F238E27FC236}">
                <a16:creationId xmlns:a16="http://schemas.microsoft.com/office/drawing/2014/main" id="{6BAF5E24-9581-9EF8-241C-AE4E8447BBC3}"/>
              </a:ext>
            </a:extLst>
          </p:cNvPr>
          <p:cNvSpPr>
            <a:spLocks noGrp="1"/>
          </p:cNvSpPr>
          <p:nvPr>
            <p:ph idx="1"/>
          </p:nvPr>
        </p:nvSpPr>
        <p:spPr>
          <a:xfrm>
            <a:off x="446636" y="1599475"/>
            <a:ext cx="6460579" cy="3318514"/>
          </a:xfrm>
        </p:spPr>
        <p:txBody>
          <a:bodyPr>
            <a:normAutofit fontScale="25000" lnSpcReduction="20000"/>
          </a:bodyPr>
          <a:lstStyle/>
          <a:p>
            <a:r>
              <a:rPr lang="en-GB" sz="7200" b="1" dirty="0" err="1"/>
              <a:t>TLyre</a:t>
            </a:r>
            <a:r>
              <a:rPr lang="en-GB" sz="7200" b="1" dirty="0"/>
              <a:t> Pressure Monitoring System (TPMS) Description</a:t>
            </a:r>
            <a:endParaRPr lang="en-GB" sz="7200" dirty="0"/>
          </a:p>
          <a:p>
            <a:r>
              <a:rPr lang="en-GB" sz="7200" dirty="0"/>
              <a:t>⚠️ </a:t>
            </a:r>
            <a:r>
              <a:rPr lang="en-GB" sz="7200" b="1" dirty="0"/>
              <a:t>WARNING</a:t>
            </a:r>
            <a:endParaRPr lang="en-GB" sz="7200" dirty="0"/>
          </a:p>
          <a:p>
            <a:r>
              <a:rPr lang="en-GB" sz="7200" dirty="0"/>
              <a:t>The tyre pressure monitoring system is not to be used as a tyre pressure gauge when adjusting the tyre pressures. For correct tyre pressures, always check the tyre pressures when the tyres are cold using an accurate tyre pressure gauge.</a:t>
            </a:r>
          </a:p>
          <a:p>
            <a:r>
              <a:rPr lang="en-GB" sz="7200" dirty="0"/>
              <a:t>Use of the TPMS system to set inflation pressures may lead to incorrect tyre pressures, leading to loss of motorcycle control and an accident.</a:t>
            </a:r>
          </a:p>
          <a:p>
            <a:r>
              <a:rPr lang="en-GB" sz="7200" dirty="0"/>
              <a:t>Owners must only adjust tyre pressures when the tyres are cold using an accurate tyre pressure gauge and must not use the tyre pressure display on the instruments.</a:t>
            </a:r>
          </a:p>
          <a:p>
            <a:r>
              <a:rPr lang="en-GB" sz="7200" dirty="0"/>
              <a:t>The tyre pressures shown on the instrument panel indicate the actual tyre pressure at the time of selecting the display. This may differ from the inflation pressure set when the tyres are cold because tyres become warmer during riding, causing the air in the tyre to expand and the pressure to increase. The cold inflation pressures specified by Triumph take account of this.</a:t>
            </a:r>
          </a:p>
          <a:p>
            <a:r>
              <a:rPr lang="en-GB" sz="7200" dirty="0"/>
              <a:t>The TPMS will not transmit the tyre pressure data until the motorcycle is travelling at a speed greater than 12 mph (20 km/h). Two dashes will be visible in the display area until the tyre pressure signal is received.</a:t>
            </a:r>
          </a:p>
          <a:p>
            <a:r>
              <a:rPr lang="en-GB" sz="7200" b="1" dirty="0"/>
              <a:t>TPMS Components</a:t>
            </a:r>
            <a:endParaRPr lang="en-GB" sz="7200" dirty="0"/>
          </a:p>
          <a:p>
            <a:r>
              <a:rPr lang="en-GB" sz="7200" b="1" dirty="0"/>
              <a:t>Instruments</a:t>
            </a:r>
            <a:r>
              <a:rPr lang="en-GB" sz="7200" dirty="0"/>
              <a:t> – Used to display the tyre pressure value, the tyre symbol, and the TPMS warning light.</a:t>
            </a:r>
          </a:p>
          <a:p>
            <a:r>
              <a:rPr lang="en-GB" sz="7200" b="1" dirty="0"/>
              <a:t>Immobiliser Control Unit </a:t>
            </a:r>
            <a:r>
              <a:rPr lang="en-GB" sz="7200" dirty="0"/>
              <a:t>– Receives the data from the tyre pressure sensors and sends the information to the instrument pack.</a:t>
            </a:r>
          </a:p>
          <a:p>
            <a:r>
              <a:rPr lang="en-GB" sz="7200" b="1" dirty="0"/>
              <a:t>Tyre pressure sensor</a:t>
            </a:r>
            <a:r>
              <a:rPr lang="en-GB" sz="7200" dirty="0"/>
              <a:t> – Situated inside the front and rear wheel. Each sensor has its own unique ID number and must be recorded in the spaces provided in the Owner’s Handbook. These sensors measure the air pressure inside the tyre and transmit pressure data to the instruments.</a:t>
            </a:r>
          </a:p>
          <a:p>
            <a:r>
              <a:rPr lang="en-GB" sz="7200" dirty="0"/>
              <a:t>The wheel sensor is a sealed unit and must not be opened. The battery inside the sensor is not replaceable and a new sensor must be fitted when the battery voltage becomes too low.</a:t>
            </a:r>
          </a:p>
          <a:p>
            <a:endParaRPr lang="en-GB" dirty="0"/>
          </a:p>
        </p:txBody>
      </p:sp>
      <p:sp>
        <p:nvSpPr>
          <p:cNvPr id="3" name="Rectangle 2">
            <a:extLst>
              <a:ext uri="{FF2B5EF4-FFF2-40B4-BE49-F238E27FC236}">
                <a16:creationId xmlns:a16="http://schemas.microsoft.com/office/drawing/2014/main" id="{70A76EA2-8AAF-9D64-FD52-F9BC1B9706B5}"/>
              </a:ext>
            </a:extLst>
          </p:cNvPr>
          <p:cNvSpPr/>
          <p:nvPr/>
        </p:nvSpPr>
        <p:spPr>
          <a:xfrm>
            <a:off x="9007366" y="3689131"/>
            <a:ext cx="2040264" cy="17148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1">
            <a:extLst>
              <a:ext uri="{FF2B5EF4-FFF2-40B4-BE49-F238E27FC236}">
                <a16:creationId xmlns:a16="http://schemas.microsoft.com/office/drawing/2014/main" id="{AC4811BD-FDE3-2601-14BF-8C14DF849EE8}"/>
              </a:ext>
            </a:extLst>
          </p:cNvPr>
          <p:cNvSpPr txBox="1">
            <a:spLocks/>
          </p:cNvSpPr>
          <p:nvPr/>
        </p:nvSpPr>
        <p:spPr>
          <a:xfrm>
            <a:off x="609600" y="5135216"/>
            <a:ext cx="7206018" cy="1514903"/>
          </a:xfrm>
          <a:prstGeom prst="rect">
            <a:avLst/>
          </a:prstGeom>
        </p:spPr>
        <p:txBody>
          <a:bodyPr vert="horz" lIns="91410" tIns="45705" rIns="91410" bIns="45705" rtlCol="0">
            <a:normAutofit/>
          </a:bodyPr>
          <a:lstStyle>
            <a:lvl1pPr marL="457011" indent="-457011" algn="l" defTabSz="1218720" rtl="0" eaLnBrk="1" latinLnBrk="0" hangingPunct="1">
              <a:spcBef>
                <a:spcPct val="20000"/>
              </a:spcBef>
              <a:buFont typeface="Arial" pitchFamily="34" charset="0"/>
              <a:buChar char="•"/>
              <a:defRPr sz="2400" kern="1200">
                <a:solidFill>
                  <a:schemeClr val="tx1"/>
                </a:solidFill>
                <a:latin typeface="TriumphBrokman" pitchFamily="50" charset="0"/>
                <a:ea typeface="+mn-ea"/>
                <a:cs typeface="+mn-cs"/>
              </a:defRPr>
            </a:lvl1pPr>
            <a:lvl2pPr marL="990214" indent="-380850" algn="l" defTabSz="1218720" rtl="0" eaLnBrk="1" latinLnBrk="0" hangingPunct="1">
              <a:spcBef>
                <a:spcPct val="20000"/>
              </a:spcBef>
              <a:buFont typeface="Arial" pitchFamily="34" charset="0"/>
              <a:buChar char="–"/>
              <a:defRPr sz="2133" kern="1200">
                <a:solidFill>
                  <a:schemeClr val="tx1"/>
                </a:solidFill>
                <a:latin typeface="TriumphBrokman" pitchFamily="50" charset="0"/>
                <a:ea typeface="+mn-ea"/>
                <a:cs typeface="+mn-cs"/>
              </a:defRPr>
            </a:lvl2pPr>
            <a:lvl3pPr marL="1523393" indent="-304672" algn="l" defTabSz="1218720" rtl="0" eaLnBrk="1" latinLnBrk="0" hangingPunct="1">
              <a:spcBef>
                <a:spcPct val="20000"/>
              </a:spcBef>
              <a:buFont typeface="Arial" pitchFamily="34" charset="0"/>
              <a:buChar char="•"/>
              <a:defRPr sz="1867" kern="1200">
                <a:solidFill>
                  <a:schemeClr val="tx1"/>
                </a:solidFill>
                <a:latin typeface="TriumphBrokman" pitchFamily="50" charset="0"/>
                <a:ea typeface="+mn-ea"/>
                <a:cs typeface="+mn-cs"/>
              </a:defRPr>
            </a:lvl3pPr>
            <a:lvl4pPr marL="2132747" indent="-304672" algn="l" defTabSz="1218720" rtl="0" eaLnBrk="1" latinLnBrk="0" hangingPunct="1">
              <a:spcBef>
                <a:spcPct val="20000"/>
              </a:spcBef>
              <a:buFont typeface="Arial" pitchFamily="34" charset="0"/>
              <a:buChar char="–"/>
              <a:defRPr sz="1600" kern="1200">
                <a:solidFill>
                  <a:schemeClr val="tx1"/>
                </a:solidFill>
                <a:latin typeface="TriumphBrokman" pitchFamily="50" charset="0"/>
                <a:ea typeface="+mn-ea"/>
                <a:cs typeface="+mn-cs"/>
              </a:defRPr>
            </a:lvl4pPr>
            <a:lvl5pPr marL="2742110" indent="-304672" algn="l" defTabSz="1218720" rtl="0" eaLnBrk="1" latinLnBrk="0" hangingPunct="1">
              <a:spcBef>
                <a:spcPct val="20000"/>
              </a:spcBef>
              <a:buFont typeface="Arial" pitchFamily="34" charset="0"/>
              <a:buChar char="»"/>
              <a:defRPr sz="1600" kern="1200">
                <a:solidFill>
                  <a:schemeClr val="tx1"/>
                </a:solidFill>
                <a:latin typeface="TriumphBrokman" pitchFamily="50" charset="0"/>
                <a:ea typeface="+mn-ea"/>
                <a:cs typeface="+mn-cs"/>
              </a:defRPr>
            </a:lvl5pPr>
            <a:lvl6pPr marL="3351456" indent="-304672" algn="l" defTabSz="121872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0821" indent="-304672" algn="l" defTabSz="121872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0176" indent="-304672" algn="l" defTabSz="121872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79531" indent="-304672" algn="l" defTabSz="121872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GB" sz="1200" dirty="0"/>
              <a:t>Pressures embedded in the calibration for specific model</a:t>
            </a:r>
          </a:p>
          <a:p>
            <a:r>
              <a:rPr lang="en-GB" sz="1200" dirty="0"/>
              <a:t>Drop of 6psi = light on</a:t>
            </a:r>
          </a:p>
          <a:p>
            <a:r>
              <a:rPr lang="en-GB" sz="1200" dirty="0"/>
              <a:t>315MHZ RF– JP key + </a:t>
            </a:r>
            <a:r>
              <a:rPr lang="en-GB" sz="1200" dirty="0" err="1"/>
              <a:t>tpms</a:t>
            </a:r>
            <a:endParaRPr lang="en-GB" sz="1200" dirty="0"/>
          </a:p>
          <a:p>
            <a:r>
              <a:rPr lang="en-GB" sz="1200" dirty="0"/>
              <a:t>434MHZ RF– ROW key + </a:t>
            </a:r>
            <a:r>
              <a:rPr lang="en-GB" sz="1200" dirty="0" err="1"/>
              <a:t>tpms</a:t>
            </a:r>
            <a:endParaRPr lang="en-GB" sz="1200" dirty="0"/>
          </a:p>
          <a:p>
            <a:endParaRPr lang="en-GB" dirty="0"/>
          </a:p>
          <a:p>
            <a:endParaRPr lang="en-GB" dirty="0"/>
          </a:p>
        </p:txBody>
      </p:sp>
      <p:pic>
        <p:nvPicPr>
          <p:cNvPr id="6" name="Picture 5" descr="A small black and silver device&#10;&#10;AI-generated content may be incorrect.">
            <a:extLst>
              <a:ext uri="{FF2B5EF4-FFF2-40B4-BE49-F238E27FC236}">
                <a16:creationId xmlns:a16="http://schemas.microsoft.com/office/drawing/2014/main" id="{5BB35B61-D4B8-45B8-2BC1-2B8A772A2492}"/>
              </a:ext>
            </a:extLst>
          </p:cNvPr>
          <p:cNvPicPr>
            <a:picLocks noChangeAspect="1"/>
          </p:cNvPicPr>
          <p:nvPr/>
        </p:nvPicPr>
        <p:blipFill>
          <a:blip r:embed="rId3"/>
          <a:stretch>
            <a:fillRect/>
          </a:stretch>
        </p:blipFill>
        <p:spPr>
          <a:xfrm>
            <a:off x="9007366" y="1935067"/>
            <a:ext cx="2040265" cy="1493931"/>
          </a:xfrm>
          <a:prstGeom prst="rect">
            <a:avLst/>
          </a:prstGeom>
        </p:spPr>
      </p:pic>
    </p:spTree>
    <p:extLst>
      <p:ext uri="{BB962C8B-B14F-4D97-AF65-F5344CB8AC3E}">
        <p14:creationId xmlns:p14="http://schemas.microsoft.com/office/powerpoint/2010/main" val="2702705145"/>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6E95-4402-3DD8-71BA-ED274702294F}"/>
              </a:ext>
            </a:extLst>
          </p:cNvPr>
          <p:cNvSpPr>
            <a:spLocks noGrp="1"/>
          </p:cNvSpPr>
          <p:nvPr>
            <p:ph type="title"/>
          </p:nvPr>
        </p:nvSpPr>
        <p:spPr/>
        <p:txBody>
          <a:bodyPr>
            <a:normAutofit/>
          </a:bodyPr>
          <a:lstStyle/>
          <a:p>
            <a:r>
              <a:rPr lang="en-GB" dirty="0"/>
              <a:t>Keyed TPMS Pairing Flow - Keyed</a:t>
            </a:r>
          </a:p>
        </p:txBody>
      </p:sp>
      <p:pic>
        <p:nvPicPr>
          <p:cNvPr id="5" name="Content Placeholder 4">
            <a:extLst>
              <a:ext uri="{FF2B5EF4-FFF2-40B4-BE49-F238E27FC236}">
                <a16:creationId xmlns:a16="http://schemas.microsoft.com/office/drawing/2014/main" id="{FF924932-73C3-6817-56EE-337C11A3AF1B}"/>
              </a:ext>
            </a:extLst>
          </p:cNvPr>
          <p:cNvPicPr>
            <a:picLocks noGrp="1" noChangeAspect="1"/>
          </p:cNvPicPr>
          <p:nvPr>
            <p:ph idx="1"/>
          </p:nvPr>
        </p:nvPicPr>
        <p:blipFill>
          <a:blip r:embed="rId2"/>
          <a:stretch>
            <a:fillRect/>
          </a:stretch>
        </p:blipFill>
        <p:spPr>
          <a:xfrm>
            <a:off x="1073394" y="1080192"/>
            <a:ext cx="2214756" cy="469761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A935AC8-1CEC-E0C0-8CF6-47E38BEE97E8}"/>
              </a:ext>
            </a:extLst>
          </p:cNvPr>
          <p:cNvPicPr>
            <a:picLocks noChangeAspect="1"/>
          </p:cNvPicPr>
          <p:nvPr/>
        </p:nvPicPr>
        <p:blipFill>
          <a:blip r:embed="rId3"/>
          <a:stretch>
            <a:fillRect/>
          </a:stretch>
        </p:blipFill>
        <p:spPr>
          <a:xfrm>
            <a:off x="4256925" y="1346221"/>
            <a:ext cx="6540836" cy="4349974"/>
          </a:xfrm>
          <a:prstGeom prst="rect">
            <a:avLst/>
          </a:prstGeom>
        </p:spPr>
      </p:pic>
    </p:spTree>
    <p:extLst>
      <p:ext uri="{BB962C8B-B14F-4D97-AF65-F5344CB8AC3E}">
        <p14:creationId xmlns:p14="http://schemas.microsoft.com/office/powerpoint/2010/main" val="2552427856"/>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58AC2-A49E-554C-86E5-5240F618875A}"/>
              </a:ext>
            </a:extLst>
          </p:cNvPr>
          <p:cNvSpPr>
            <a:spLocks noGrp="1"/>
          </p:cNvSpPr>
          <p:nvPr>
            <p:ph type="title"/>
          </p:nvPr>
        </p:nvSpPr>
        <p:spPr/>
        <p:txBody>
          <a:bodyPr>
            <a:normAutofit/>
          </a:bodyPr>
          <a:lstStyle/>
          <a:p>
            <a:r>
              <a:rPr lang="en-GB" dirty="0"/>
              <a:t>TPMS Data Screen</a:t>
            </a:r>
          </a:p>
        </p:txBody>
      </p:sp>
      <p:pic>
        <p:nvPicPr>
          <p:cNvPr id="5" name="Content Placeholder 4" descr="A screenshot of a computer&#10;&#10;AI-generated content may be incorrect.">
            <a:extLst>
              <a:ext uri="{FF2B5EF4-FFF2-40B4-BE49-F238E27FC236}">
                <a16:creationId xmlns:a16="http://schemas.microsoft.com/office/drawing/2014/main" id="{1765B4F4-4881-401D-9F62-1AD9601912F3}"/>
              </a:ext>
            </a:extLst>
          </p:cNvPr>
          <p:cNvPicPr>
            <a:picLocks noGrp="1" noChangeAspect="1"/>
          </p:cNvPicPr>
          <p:nvPr>
            <p:ph idx="1"/>
          </p:nvPr>
        </p:nvPicPr>
        <p:blipFill>
          <a:blip r:embed="rId2"/>
          <a:stretch>
            <a:fillRect/>
          </a:stretch>
        </p:blipFill>
        <p:spPr>
          <a:xfrm>
            <a:off x="480413" y="1351858"/>
            <a:ext cx="4314681" cy="297008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523549E3-3D6A-15E9-3032-DC75532CB1C3}"/>
              </a:ext>
            </a:extLst>
          </p:cNvPr>
          <p:cNvPicPr>
            <a:picLocks noChangeAspect="1"/>
          </p:cNvPicPr>
          <p:nvPr/>
        </p:nvPicPr>
        <p:blipFill>
          <a:blip r:embed="rId3"/>
          <a:stretch>
            <a:fillRect/>
          </a:stretch>
        </p:blipFill>
        <p:spPr>
          <a:xfrm>
            <a:off x="4873675" y="1351858"/>
            <a:ext cx="6369377" cy="2114659"/>
          </a:xfrm>
          <a:prstGeom prst="rect">
            <a:avLst/>
          </a:prstGeom>
        </p:spPr>
      </p:pic>
      <p:sp>
        <p:nvSpPr>
          <p:cNvPr id="9" name="TextBox 8">
            <a:extLst>
              <a:ext uri="{FF2B5EF4-FFF2-40B4-BE49-F238E27FC236}">
                <a16:creationId xmlns:a16="http://schemas.microsoft.com/office/drawing/2014/main" id="{364B3542-E25A-3B29-DD52-D323FA9AF1C7}"/>
              </a:ext>
            </a:extLst>
          </p:cNvPr>
          <p:cNvSpPr txBox="1"/>
          <p:nvPr/>
        </p:nvSpPr>
        <p:spPr>
          <a:xfrm>
            <a:off x="760288" y="4439511"/>
            <a:ext cx="10705672" cy="1477328"/>
          </a:xfrm>
          <a:prstGeom prst="rect">
            <a:avLst/>
          </a:prstGeom>
          <a:noFill/>
        </p:spPr>
        <p:txBody>
          <a:bodyPr wrap="square">
            <a:spAutoFit/>
          </a:bodyPr>
          <a:lstStyle/>
          <a:p>
            <a:r>
              <a:rPr lang="en-GB" dirty="0"/>
              <a:t>Note: </a:t>
            </a:r>
          </a:p>
          <a:p>
            <a:r>
              <a:rPr lang="en-GB" dirty="0"/>
              <a:t>The wheel sensors go into a sleep mode seven minutes after the wheels become stationary. If the wheel sensors are in sleep mode, no data will be displayed against tyre pressure and temperature. </a:t>
            </a:r>
          </a:p>
          <a:p>
            <a:endParaRPr lang="en-GB" dirty="0"/>
          </a:p>
          <a:p>
            <a:r>
              <a:rPr lang="en-GB" dirty="0"/>
              <a:t>To wake the sensors, the bike must be ridden at a speed greater than 18 mph (30 km/h) for at least 30 seconds.</a:t>
            </a:r>
          </a:p>
        </p:txBody>
      </p:sp>
    </p:spTree>
    <p:extLst>
      <p:ext uri="{BB962C8B-B14F-4D97-AF65-F5344CB8AC3E}">
        <p14:creationId xmlns:p14="http://schemas.microsoft.com/office/powerpoint/2010/main" val="259493432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6DCD3-496A-E51F-E823-686C3B7598E9}"/>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A6BCC01-0762-FBFE-4E1F-CEB13A36AEFF}"/>
              </a:ext>
            </a:extLst>
          </p:cNvPr>
          <p:cNvPicPr>
            <a:picLocks noGrp="1" noChangeAspect="1"/>
          </p:cNvPicPr>
          <p:nvPr>
            <p:ph sz="half" idx="1"/>
          </p:nvPr>
        </p:nvPicPr>
        <p:blipFill>
          <a:blip r:embed="rId2"/>
          <a:stretch>
            <a:fillRect/>
          </a:stretch>
        </p:blipFill>
        <p:spPr>
          <a:xfrm>
            <a:off x="443826" y="1439839"/>
            <a:ext cx="8111872" cy="4562928"/>
          </a:xfrm>
          <a:prstGeom prst="rect">
            <a:avLst/>
          </a:prstGeom>
        </p:spPr>
      </p:pic>
      <p:pic>
        <p:nvPicPr>
          <p:cNvPr id="6" name="Content Placeholder 5">
            <a:extLst>
              <a:ext uri="{FF2B5EF4-FFF2-40B4-BE49-F238E27FC236}">
                <a16:creationId xmlns:a16="http://schemas.microsoft.com/office/drawing/2014/main" id="{5F87DBB5-A301-BBC6-C25C-600ED76D44E3}"/>
              </a:ext>
            </a:extLst>
          </p:cNvPr>
          <p:cNvPicPr>
            <a:picLocks noGrp="1" noChangeAspect="1"/>
          </p:cNvPicPr>
          <p:nvPr>
            <p:ph sz="half" idx="2"/>
          </p:nvPr>
        </p:nvPicPr>
        <p:blipFill>
          <a:blip r:embed="rId3"/>
          <a:stretch>
            <a:fillRect/>
          </a:stretch>
        </p:blipFill>
        <p:spPr>
          <a:xfrm>
            <a:off x="8922303" y="4048108"/>
            <a:ext cx="2954083" cy="1621849"/>
          </a:xfrm>
          <a:prstGeom prst="rect">
            <a:avLst/>
          </a:prstGeom>
        </p:spPr>
      </p:pic>
      <p:sp>
        <p:nvSpPr>
          <p:cNvPr id="4" name="Title 3">
            <a:extLst>
              <a:ext uri="{FF2B5EF4-FFF2-40B4-BE49-F238E27FC236}">
                <a16:creationId xmlns:a16="http://schemas.microsoft.com/office/drawing/2014/main" id="{D08D9648-B931-2FE4-7362-82BE5E99E321}"/>
              </a:ext>
            </a:extLst>
          </p:cNvPr>
          <p:cNvSpPr>
            <a:spLocks noGrp="1"/>
          </p:cNvSpPr>
          <p:nvPr>
            <p:ph type="title"/>
          </p:nvPr>
        </p:nvSpPr>
        <p:spPr>
          <a:xfrm>
            <a:off x="126459" y="452672"/>
            <a:ext cx="11955293" cy="658085"/>
          </a:xfrm>
        </p:spPr>
        <p:txBody>
          <a:bodyPr>
            <a:normAutofit fontScale="90000"/>
          </a:bodyPr>
          <a:lstStyle/>
          <a:p>
            <a:r>
              <a:rPr lang="en-GB" dirty="0"/>
              <a:t>2 x different frequencies and part numbers to suit - Keys</a:t>
            </a:r>
          </a:p>
        </p:txBody>
      </p:sp>
      <p:sp>
        <p:nvSpPr>
          <p:cNvPr id="3" name="Rectangle 2">
            <a:extLst>
              <a:ext uri="{FF2B5EF4-FFF2-40B4-BE49-F238E27FC236}">
                <a16:creationId xmlns:a16="http://schemas.microsoft.com/office/drawing/2014/main" id="{46C6E498-65E6-020E-A54F-0E7BAB309547}"/>
              </a:ext>
            </a:extLst>
          </p:cNvPr>
          <p:cNvSpPr/>
          <p:nvPr/>
        </p:nvSpPr>
        <p:spPr>
          <a:xfrm>
            <a:off x="9092089" y="1598250"/>
            <a:ext cx="2784297" cy="1962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Care must be taken to ensure that the correct frequency is ordered for the correct model.               It is recommended to use vin lock EPC </a:t>
            </a:r>
          </a:p>
        </p:txBody>
      </p:sp>
    </p:spTree>
    <p:extLst>
      <p:ext uri="{BB962C8B-B14F-4D97-AF65-F5344CB8AC3E}">
        <p14:creationId xmlns:p14="http://schemas.microsoft.com/office/powerpoint/2010/main" val="48351746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FE1B-7433-AE9D-A5DC-881F5FCC2878}"/>
              </a:ext>
            </a:extLst>
          </p:cNvPr>
          <p:cNvSpPr>
            <a:spLocks noGrp="1"/>
          </p:cNvSpPr>
          <p:nvPr>
            <p:ph type="title"/>
          </p:nvPr>
        </p:nvSpPr>
        <p:spPr/>
        <p:txBody>
          <a:bodyPr>
            <a:normAutofit/>
          </a:bodyPr>
          <a:lstStyle/>
          <a:p>
            <a:r>
              <a:rPr lang="en-GB" dirty="0"/>
              <a:t>TPMS Questions</a:t>
            </a:r>
          </a:p>
        </p:txBody>
      </p:sp>
      <p:sp>
        <p:nvSpPr>
          <p:cNvPr id="3" name="Content Placeholder 2">
            <a:extLst>
              <a:ext uri="{FF2B5EF4-FFF2-40B4-BE49-F238E27FC236}">
                <a16:creationId xmlns:a16="http://schemas.microsoft.com/office/drawing/2014/main" id="{4546055B-E42C-D7AA-4991-A7044E5FBB8A}"/>
              </a:ext>
            </a:extLst>
          </p:cNvPr>
          <p:cNvSpPr>
            <a:spLocks noGrp="1"/>
          </p:cNvSpPr>
          <p:nvPr>
            <p:ph idx="1"/>
          </p:nvPr>
        </p:nvSpPr>
        <p:spPr/>
        <p:txBody>
          <a:bodyPr>
            <a:normAutofit fontScale="70000" lnSpcReduction="20000"/>
          </a:bodyPr>
          <a:lstStyle/>
          <a:p>
            <a:pPr marL="0" indent="0">
              <a:buNone/>
            </a:pPr>
            <a:r>
              <a:rPr lang="en-GB" dirty="0"/>
              <a:t>Questions with the answers:</a:t>
            </a:r>
          </a:p>
          <a:p>
            <a:pPr marL="457200" indent="-457200">
              <a:buFont typeface="+mj-lt"/>
              <a:buAutoNum type="arabicPeriod"/>
            </a:pPr>
            <a:r>
              <a:rPr lang="en-GB" dirty="0"/>
              <a:t>Why should tyre pressures always be checked when the tyres are cold?</a:t>
            </a:r>
          </a:p>
          <a:p>
            <a:pPr marL="609364" lvl="1" indent="0">
              <a:buNone/>
            </a:pPr>
            <a:r>
              <a:rPr lang="en-GB" dirty="0">
                <a:highlight>
                  <a:srgbClr val="00FF00"/>
                </a:highlight>
              </a:rPr>
              <a:t>Because tyres become warmer during riding, causing the air to expand and the pressure to increase.</a:t>
            </a:r>
          </a:p>
          <a:p>
            <a:pPr marL="457200" indent="-457200">
              <a:buFont typeface="+mj-lt"/>
              <a:buAutoNum type="arabicPeriod"/>
            </a:pPr>
            <a:r>
              <a:rPr lang="en-GB" dirty="0"/>
              <a:t>What might happen if you use the TPMS system to set inflation pressures?</a:t>
            </a:r>
          </a:p>
          <a:p>
            <a:pPr marL="609364" lvl="1" indent="0">
              <a:buNone/>
            </a:pPr>
            <a:r>
              <a:rPr lang="en-GB" dirty="0">
                <a:highlight>
                  <a:srgbClr val="00FF00"/>
                </a:highlight>
              </a:rPr>
              <a:t>It may lead to incorrect tyre pressures, which can result in loss of motorcycle control and an accident.</a:t>
            </a:r>
          </a:p>
          <a:p>
            <a:pPr marL="457200" indent="-457200">
              <a:buFont typeface="+mj-lt"/>
              <a:buAutoNum type="arabicPeriod"/>
            </a:pPr>
            <a:r>
              <a:rPr lang="en-GB" dirty="0"/>
              <a:t>At what speed will the TPMS transmit tyre pressure data?</a:t>
            </a:r>
          </a:p>
          <a:p>
            <a:pPr marL="609364" lvl="1" indent="0">
              <a:buNone/>
            </a:pPr>
            <a:r>
              <a:rPr lang="en-GB" dirty="0">
                <a:highlight>
                  <a:srgbClr val="00FF00"/>
                </a:highlight>
              </a:rPr>
              <a:t>When the motorcycle is travelling at a speed greater than 12 mph (20 km/h).</a:t>
            </a:r>
          </a:p>
          <a:p>
            <a:pPr marL="457200" indent="-457200">
              <a:buFont typeface="+mj-lt"/>
              <a:buAutoNum type="arabicPeriod"/>
            </a:pPr>
            <a:r>
              <a:rPr lang="en-GB" dirty="0"/>
              <a:t>What is the purpose of the tyre pressure sensor inside the wheels?</a:t>
            </a:r>
          </a:p>
          <a:p>
            <a:pPr marL="609364" lvl="1" indent="0">
              <a:buNone/>
            </a:pPr>
            <a:r>
              <a:rPr lang="en-GB" dirty="0">
                <a:highlight>
                  <a:srgbClr val="00FF00"/>
                </a:highlight>
              </a:rPr>
              <a:t>Each sensor measures the air pressure inside the tyre and transmits the pressure data to the instruments.</a:t>
            </a:r>
          </a:p>
          <a:p>
            <a:pPr marL="457200" indent="-457200">
              <a:buFont typeface="+mj-lt"/>
              <a:buAutoNum type="arabicPeriod"/>
            </a:pPr>
            <a:r>
              <a:rPr lang="en-GB" dirty="0"/>
              <a:t>Why must the wheel sensor not be opened or replaced except when the battery is too low?</a:t>
            </a:r>
          </a:p>
          <a:p>
            <a:pPr marL="609364" lvl="1" indent="0">
              <a:buNone/>
            </a:pPr>
            <a:r>
              <a:rPr lang="en-GB" dirty="0">
                <a:highlight>
                  <a:srgbClr val="00FF00"/>
                </a:highlight>
              </a:rPr>
              <a:t>Because the wheel sensor is a sealed unit; the battery inside is not replaceable, and a new sensor must be fitted when the battery voltage drops.</a:t>
            </a:r>
          </a:p>
          <a:p>
            <a:endParaRPr lang="en-GB" dirty="0"/>
          </a:p>
        </p:txBody>
      </p:sp>
    </p:spTree>
    <p:extLst>
      <p:ext uri="{BB962C8B-B14F-4D97-AF65-F5344CB8AC3E}">
        <p14:creationId xmlns:p14="http://schemas.microsoft.com/office/powerpoint/2010/main" val="449764418"/>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50F578-AECF-B79A-5B74-8F25CDDCF2BE}"/>
              </a:ext>
            </a:extLst>
          </p:cNvPr>
          <p:cNvSpPr txBox="1">
            <a:spLocks/>
          </p:cNvSpPr>
          <p:nvPr/>
        </p:nvSpPr>
        <p:spPr>
          <a:xfrm>
            <a:off x="0" y="452967"/>
            <a:ext cx="10972800" cy="658284"/>
          </a:xfrm>
          <a:prstGeom prst="rect">
            <a:avLst/>
          </a:prstGeom>
        </p:spPr>
        <p:txBody>
          <a:bodyPr vert="horz" lIns="121880" tIns="60940" rIns="121880" bIns="60940" rtlCol="0" anchor="ctr">
            <a:normAutofit fontScale="97500"/>
          </a:bodyPr>
          <a:lstStyle>
            <a:lvl1pPr algn="l" defTabSz="914063" rtl="0" eaLnBrk="1" latinLnBrk="0" hangingPunct="1">
              <a:spcBef>
                <a:spcPct val="0"/>
              </a:spcBef>
              <a:buNone/>
              <a:defRPr sz="2800" b="1" kern="1200">
                <a:solidFill>
                  <a:schemeClr val="tx1"/>
                </a:solidFill>
                <a:latin typeface="TriumphBrokman" pitchFamily="50" charset="0"/>
                <a:ea typeface="+mj-ea"/>
                <a:cs typeface="+mj-cs"/>
              </a:defRPr>
            </a:lvl1pPr>
          </a:lstStyle>
          <a:p>
            <a:r>
              <a:rPr lang="en-GB" sz="2667" dirty="0"/>
              <a:t>Case Study  </a:t>
            </a:r>
          </a:p>
        </p:txBody>
      </p:sp>
      <p:sp>
        <p:nvSpPr>
          <p:cNvPr id="5" name="TextBox 4">
            <a:extLst>
              <a:ext uri="{FF2B5EF4-FFF2-40B4-BE49-F238E27FC236}">
                <a16:creationId xmlns:a16="http://schemas.microsoft.com/office/drawing/2014/main" id="{37FBEBEE-A6F5-F06B-0F89-E09173163AC0}"/>
              </a:ext>
            </a:extLst>
          </p:cNvPr>
          <p:cNvSpPr txBox="1"/>
          <p:nvPr/>
        </p:nvSpPr>
        <p:spPr>
          <a:xfrm>
            <a:off x="239730" y="1081433"/>
            <a:ext cx="11771038" cy="8018798"/>
          </a:xfrm>
          <a:prstGeom prst="rect">
            <a:avLst/>
          </a:prstGeom>
          <a:noFill/>
        </p:spPr>
        <p:txBody>
          <a:bodyPr wrap="square">
            <a:spAutoFit/>
          </a:bodyPr>
          <a:lstStyle/>
          <a:p>
            <a:pPr>
              <a:lnSpc>
                <a:spcPct val="115000"/>
              </a:lnSpc>
              <a:spcAft>
                <a:spcPts val="800"/>
              </a:spcAft>
              <a:buNone/>
            </a:pPr>
            <a:r>
              <a:rPr lang="en-GB" b="1" u="sng" kern="100" dirty="0">
                <a:effectLst/>
                <a:latin typeface="Aptos" panose="020B0004020202020204" pitchFamily="34" charset="0"/>
                <a:ea typeface="Aptos" panose="020B0004020202020204" pitchFamily="34" charset="0"/>
                <a:cs typeface="Times New Roman" panose="02020603050405020304" pitchFamily="18" charset="0"/>
              </a:rPr>
              <a:t> Situation:</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pPr>
            <a:r>
              <a:rPr lang="en-GB" kern="100" dirty="0">
                <a:effectLst/>
                <a:latin typeface="Aptos" panose="020B0004020202020204" pitchFamily="34" charset="0"/>
                <a:ea typeface="Aptos" panose="020B0004020202020204" pitchFamily="34" charset="0"/>
                <a:cs typeface="Times New Roman" panose="02020603050405020304" pitchFamily="18" charset="0"/>
              </a:rPr>
              <a:t>A customer comes to his bike, the bike will not power on as normal, does not crank or start, nor do the instruments illuminate, the electronic steering lock is fully engaged and will not disengage. </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They take the bike to the dealer for diagnostics (on the back of a truck!)</a:t>
            </a:r>
          </a:p>
          <a:p>
            <a:pPr lvl="0">
              <a:lnSpc>
                <a:spcPct val="115000"/>
              </a:lnSpc>
            </a:pPr>
            <a:r>
              <a:rPr lang="en-GB" kern="100" dirty="0">
                <a:effectLst/>
                <a:latin typeface="Aptos" panose="020B0004020202020204" pitchFamily="34" charset="0"/>
                <a:ea typeface="Aptos" panose="020B0004020202020204" pitchFamily="34" charset="0"/>
                <a:cs typeface="Times New Roman" panose="02020603050405020304" pitchFamily="18" charset="0"/>
              </a:rPr>
              <a:t>2.        The dealer inspects the bike, and should be given a selection of possible options / approaches as steps to resolve the situation.</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the bike battery</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key fob</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Conduct a download</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the electronic steering lock</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the keyless control unit</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the instrument pack</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or </a:t>
            </a: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other</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pPr>
            <a:r>
              <a:rPr lang="en-GB" kern="100" dirty="0">
                <a:effectLst/>
                <a:latin typeface="Aptos" panose="020B0004020202020204" pitchFamily="34" charset="0"/>
                <a:ea typeface="Aptos" panose="020B0004020202020204" pitchFamily="34" charset="0"/>
                <a:cs typeface="Times New Roman" panose="02020603050405020304" pitchFamily="18" charset="0"/>
              </a:rPr>
              <a:t>3.         The ‘</a:t>
            </a: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other</a:t>
            </a:r>
            <a:r>
              <a:rPr lang="en-GB" kern="100" dirty="0">
                <a:effectLst/>
                <a:latin typeface="Aptos" panose="020B0004020202020204" pitchFamily="34" charset="0"/>
                <a:ea typeface="Aptos" panose="020B0004020202020204" pitchFamily="34" charset="0"/>
                <a:cs typeface="Times New Roman" panose="02020603050405020304" pitchFamily="18" charset="0"/>
              </a:rPr>
              <a:t>’ options should include </a:t>
            </a: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‘reading’ the immobiliser flash sequence on the instruments</a:t>
            </a:r>
            <a:r>
              <a:rPr lang="en-GB" kern="100" dirty="0">
                <a:effectLst/>
                <a:latin typeface="Aptos" panose="020B0004020202020204" pitchFamily="34" charset="0"/>
                <a:ea typeface="Aptos" panose="020B0004020202020204" pitchFamily="34" charset="0"/>
                <a:cs typeface="Times New Roman" panose="02020603050405020304" pitchFamily="18" charset="0"/>
              </a:rPr>
              <a:t>. Include further incorrect answers also such as:</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key fob battery</a:t>
            </a: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wiring to </a:t>
            </a:r>
            <a:r>
              <a:rPr lang="en-GB" kern="100" dirty="0" err="1">
                <a:effectLst/>
                <a:latin typeface="Aptos" panose="020B0004020202020204" pitchFamily="34" charset="0"/>
                <a:ea typeface="Aptos" panose="020B0004020202020204" pitchFamily="34" charset="0"/>
                <a:cs typeface="Times New Roman" panose="02020603050405020304" pitchFamily="18" charset="0"/>
              </a:rPr>
              <a:t>kcu</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replace the starter switch gear</a:t>
            </a:r>
          </a:p>
          <a:p>
            <a:pPr marL="342900" lvl="0" indent="-342900">
              <a:lnSpc>
                <a:spcPct val="115000"/>
              </a:lnSpc>
              <a:spcAft>
                <a:spcPts val="800"/>
              </a:spcAft>
              <a:buFont typeface="Symbol" panose="05050102010706020507" pitchFamily="18" charset="2"/>
              <a:buChar char=""/>
            </a:pPr>
            <a:r>
              <a:rPr lang="en-GB" kern="100" dirty="0">
                <a:effectLst/>
                <a:latin typeface="Aptos" panose="020B0004020202020204" pitchFamily="34" charset="0"/>
                <a:ea typeface="Aptos" panose="020B0004020202020204" pitchFamily="34" charset="0"/>
                <a:cs typeface="Times New Roman" panose="02020603050405020304" pitchFamily="18" charset="0"/>
              </a:rPr>
              <a:t>check switch gear connection etc </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If correct answer is chosen as an option, then the flash sequence table should be illuminated.  </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Inform user at this stage: </a:t>
            </a:r>
            <a:r>
              <a:rPr lang="en-GB"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The flash sequence seen on bike is 1 long flash plus 3 short flashes</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The technician should then be given a list of options of what this means various reasons may be given, </a:t>
            </a:r>
            <a:r>
              <a:rPr lang="en-GB" kern="100" dirty="0" err="1">
                <a:effectLst/>
                <a:latin typeface="Aptos" panose="020B0004020202020204" pitchFamily="34" charset="0"/>
                <a:ea typeface="Aptos" panose="020B0004020202020204" pitchFamily="34" charset="0"/>
                <a:cs typeface="Times New Roman" panose="02020603050405020304" pitchFamily="18" charset="0"/>
              </a:rPr>
              <a:t>ie</a:t>
            </a:r>
            <a:r>
              <a:rPr lang="en-GB" kern="100" dirty="0">
                <a:effectLst/>
                <a:latin typeface="Aptos" panose="020B0004020202020204" pitchFamily="34" charset="0"/>
                <a:ea typeface="Aptos" panose="020B0004020202020204" pitchFamily="34" charset="0"/>
                <a:cs typeface="Times New Roman" panose="02020603050405020304" pitchFamily="18" charset="0"/>
              </a:rPr>
              <a:t> they need to choose the right one from the table.</a:t>
            </a:r>
          </a:p>
        </p:txBody>
      </p:sp>
      <p:pic>
        <p:nvPicPr>
          <p:cNvPr id="7" name="Picture 6" descr="A white and black chart with black text&#10;&#10;AI-generated content may be incorrect.">
            <a:extLst>
              <a:ext uri="{FF2B5EF4-FFF2-40B4-BE49-F238E27FC236}">
                <a16:creationId xmlns:a16="http://schemas.microsoft.com/office/drawing/2014/main" id="{668798AE-0E36-2140-D836-18ABCD466DE5}"/>
              </a:ext>
            </a:extLst>
          </p:cNvPr>
          <p:cNvPicPr>
            <a:picLocks noChangeAspect="1"/>
          </p:cNvPicPr>
          <p:nvPr/>
        </p:nvPicPr>
        <p:blipFill>
          <a:blip r:embed="rId2"/>
          <a:stretch>
            <a:fillRect/>
          </a:stretch>
        </p:blipFill>
        <p:spPr>
          <a:xfrm>
            <a:off x="8540586" y="2529995"/>
            <a:ext cx="3411684" cy="2155021"/>
          </a:xfrm>
          <a:prstGeom prst="rect">
            <a:avLst/>
          </a:prstGeom>
        </p:spPr>
      </p:pic>
    </p:spTree>
    <p:extLst>
      <p:ext uri="{BB962C8B-B14F-4D97-AF65-F5344CB8AC3E}">
        <p14:creationId xmlns:p14="http://schemas.microsoft.com/office/powerpoint/2010/main" val="836652241"/>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F4F2B48A-8842-A07E-C1C8-77A3EEDCAB17}"/>
              </a:ext>
            </a:extLst>
          </p:cNvPr>
          <p:cNvPicPr>
            <a:picLocks noChangeAspect="1"/>
          </p:cNvPicPr>
          <p:nvPr/>
        </p:nvPicPr>
        <p:blipFill>
          <a:blip r:embed="rId2"/>
          <a:srcRect r="9887"/>
          <a:stretch>
            <a:fillRect/>
          </a:stretch>
        </p:blipFill>
        <p:spPr>
          <a:xfrm>
            <a:off x="5931343" y="1240635"/>
            <a:ext cx="6017504" cy="3136155"/>
          </a:xfrm>
          <a:prstGeom prst="rect">
            <a:avLst/>
          </a:prstGeom>
        </p:spPr>
      </p:pic>
      <p:sp>
        <p:nvSpPr>
          <p:cNvPr id="3" name="TextBox 2">
            <a:extLst>
              <a:ext uri="{FF2B5EF4-FFF2-40B4-BE49-F238E27FC236}">
                <a16:creationId xmlns:a16="http://schemas.microsoft.com/office/drawing/2014/main" id="{36F67802-628D-5104-0144-CF6442CCCD2F}"/>
              </a:ext>
            </a:extLst>
          </p:cNvPr>
          <p:cNvSpPr txBox="1"/>
          <p:nvPr/>
        </p:nvSpPr>
        <p:spPr>
          <a:xfrm>
            <a:off x="470041" y="958728"/>
            <a:ext cx="9143515" cy="8910131"/>
          </a:xfrm>
          <a:prstGeom prst="rect">
            <a:avLst/>
          </a:prstGeom>
          <a:noFill/>
        </p:spPr>
        <p:txBody>
          <a:bodyPr wrap="square">
            <a:spAutoFit/>
          </a:bodyPr>
          <a:lstStyle/>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Q - Where can techs find this info? – </a:t>
            </a:r>
          </a:p>
          <a:p>
            <a:pPr>
              <a:lnSpc>
                <a:spcPct val="115000"/>
              </a:lnSpc>
              <a:spcAft>
                <a:spcPts val="800"/>
              </a:spcAft>
              <a:buNone/>
            </a:pP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TOL</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Owners handbook</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Internet, it’s a generic code </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Ask others </a:t>
            </a:r>
          </a:p>
          <a:p>
            <a:pPr>
              <a:lnSpc>
                <a:spcPct val="115000"/>
              </a:lnSpc>
              <a:spcAft>
                <a:spcPts val="800"/>
              </a:spcAft>
              <a:buNone/>
            </a:pP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In the manual </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From TTI</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pPr>
            <a:r>
              <a:rPr lang="en-GB" kern="100" dirty="0">
                <a:effectLst/>
                <a:latin typeface="Aptos" panose="020B0004020202020204" pitchFamily="34" charset="0"/>
                <a:ea typeface="Aptos" panose="020B0004020202020204" pitchFamily="34" charset="0"/>
                <a:cs typeface="Times New Roman" panose="02020603050405020304" pitchFamily="18" charset="0"/>
              </a:rPr>
              <a:t>4. The next option the dealer should be given is how to access further information / </a:t>
            </a:r>
            <a:r>
              <a:rPr lang="en-GB" kern="100" dirty="0" err="1">
                <a:effectLst/>
                <a:latin typeface="Aptos" panose="020B0004020202020204" pitchFamily="34" charset="0"/>
                <a:ea typeface="Aptos" panose="020B0004020202020204" pitchFamily="34" charset="0"/>
                <a:cs typeface="Times New Roman" panose="02020603050405020304" pitchFamily="18" charset="0"/>
              </a:rPr>
              <a:t>dtc</a:t>
            </a:r>
            <a:r>
              <a:rPr lang="en-GB" kern="100" dirty="0">
                <a:effectLst/>
                <a:latin typeface="Aptos" panose="020B0004020202020204" pitchFamily="34" charset="0"/>
                <a:ea typeface="Aptos" panose="020B0004020202020204" pitchFamily="34" charset="0"/>
                <a:cs typeface="Times New Roman" panose="02020603050405020304" pitchFamily="18" charset="0"/>
              </a:rPr>
              <a:t> about this flash sequence </a:t>
            </a:r>
            <a:r>
              <a:rPr lang="en-GB" u="sng" kern="100" dirty="0">
                <a:effectLst/>
                <a:latin typeface="Aptos" panose="020B0004020202020204" pitchFamily="34" charset="0"/>
                <a:ea typeface="Aptos" panose="020B0004020202020204" pitchFamily="34" charset="0"/>
                <a:cs typeface="Times New Roman" panose="02020603050405020304" pitchFamily="18" charset="0"/>
              </a:rPr>
              <a:t>using </a:t>
            </a:r>
            <a:r>
              <a:rPr lang="en-GB" b="1" u="sng" kern="100" dirty="0">
                <a:effectLst/>
                <a:latin typeface="Aptos" panose="020B0004020202020204" pitchFamily="34" charset="0"/>
                <a:ea typeface="Aptos" panose="020B0004020202020204" pitchFamily="34" charset="0"/>
                <a:cs typeface="Times New Roman" panose="02020603050405020304" pitchFamily="18" charset="0"/>
              </a:rPr>
              <a:t>only</a:t>
            </a:r>
            <a:r>
              <a:rPr lang="en-GB" u="sng" kern="100" dirty="0">
                <a:effectLst/>
                <a:latin typeface="Aptos" panose="020B0004020202020204" pitchFamily="34" charset="0"/>
                <a:ea typeface="Aptos" panose="020B0004020202020204" pitchFamily="34" charset="0"/>
                <a:cs typeface="Times New Roman" panose="02020603050405020304" pitchFamily="18" charset="0"/>
              </a:rPr>
              <a:t> the triumph diagnostic tool </a:t>
            </a:r>
            <a:r>
              <a:rPr lang="en-GB" kern="100" dirty="0">
                <a:effectLst/>
                <a:latin typeface="Aptos" panose="020B0004020202020204" pitchFamily="34" charset="0"/>
                <a:ea typeface="Aptos" panose="020B0004020202020204" pitchFamily="34" charset="0"/>
                <a:cs typeface="Times New Roman" panose="02020603050405020304" pitchFamily="18" charset="0"/>
              </a:rPr>
              <a:t>as the bike doesn’t power on?</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The options should include:</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This is not possible, as steering lock is inoperative and the instruments won't switch on</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This is not possible unless the electronic steering lock is replaced</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This is not possible unless the instrument is replaced or swapped</a:t>
            </a:r>
          </a:p>
          <a:p>
            <a:pPr>
              <a:lnSpc>
                <a:spcPct val="115000"/>
              </a:lnSpc>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This is possible following a complete download to the KCU</a:t>
            </a:r>
          </a:p>
          <a:p>
            <a:pPr>
              <a:lnSpc>
                <a:spcPct val="115000"/>
              </a:lnSpc>
              <a:spcAft>
                <a:spcPts val="800"/>
              </a:spcAft>
              <a:buNone/>
            </a:pPr>
            <a:r>
              <a:rPr lang="en-GB"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This is possible for just for a 30 second ‘window’, once a connection has been made and established, the connection will continue.</a:t>
            </a: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pPr>
            <a:r>
              <a:rPr lang="en-GB" kern="100" dirty="0">
                <a:effectLst/>
                <a:latin typeface="Aptos" panose="020B0004020202020204" pitchFamily="34" charset="0"/>
                <a:ea typeface="Aptos" panose="020B0004020202020204" pitchFamily="34" charset="0"/>
                <a:cs typeface="Times New Roman" panose="02020603050405020304" pitchFamily="18" charset="0"/>
              </a:rPr>
              <a:t>5. Once connection is established, the technician finds the </a:t>
            </a:r>
            <a:r>
              <a:rPr lang="en-GB" kern="100" dirty="0" err="1">
                <a:effectLst/>
                <a:latin typeface="Aptos" panose="020B0004020202020204" pitchFamily="34" charset="0"/>
                <a:ea typeface="Aptos" panose="020B0004020202020204" pitchFamily="34" charset="0"/>
                <a:cs typeface="Times New Roman" panose="02020603050405020304" pitchFamily="18" charset="0"/>
              </a:rPr>
              <a:t>dtc</a:t>
            </a:r>
            <a:r>
              <a:rPr lang="en-GB" kern="100" dirty="0">
                <a:effectLst/>
                <a:latin typeface="Aptos" panose="020B0004020202020204" pitchFamily="34" charset="0"/>
                <a:ea typeface="Aptos" panose="020B0004020202020204" pitchFamily="34" charset="0"/>
                <a:cs typeface="Times New Roman" panose="02020603050405020304" pitchFamily="18" charset="0"/>
              </a:rPr>
              <a:t> reads </a:t>
            </a:r>
            <a:r>
              <a:rPr lang="en-GB" b="1" kern="100" dirty="0">
                <a:effectLst/>
                <a:latin typeface="Aptos" panose="020B0004020202020204" pitchFamily="34" charset="0"/>
                <a:ea typeface="Aptos" panose="020B0004020202020204" pitchFamily="34" charset="0"/>
                <a:cs typeface="Times New Roman" panose="02020603050405020304" pitchFamily="18" charset="0"/>
              </a:rPr>
              <a:t>C1137</a:t>
            </a:r>
            <a:r>
              <a:rPr lang="en-GB" kern="100" dirty="0">
                <a:effectLst/>
                <a:latin typeface="Aptos" panose="020B0004020202020204" pitchFamily="34" charset="0"/>
                <a:ea typeface="Aptos" panose="020B0004020202020204" pitchFamily="34" charset="0"/>
                <a:cs typeface="Times New Roman" panose="02020603050405020304" pitchFamily="18" charset="0"/>
              </a:rPr>
              <a:t> – use the </a:t>
            </a:r>
            <a:r>
              <a:rPr lang="en-GB" kern="100" dirty="0" err="1">
                <a:effectLst/>
                <a:latin typeface="Aptos" panose="020B0004020202020204" pitchFamily="34" charset="0"/>
                <a:ea typeface="Aptos" panose="020B0004020202020204" pitchFamily="34" charset="0"/>
                <a:cs typeface="Times New Roman" panose="02020603050405020304" pitchFamily="18" charset="0"/>
              </a:rPr>
              <a:t>dtc</a:t>
            </a:r>
            <a:r>
              <a:rPr lang="en-GB" kern="100" dirty="0">
                <a:effectLst/>
                <a:latin typeface="Aptos" panose="020B0004020202020204" pitchFamily="34" charset="0"/>
                <a:ea typeface="Aptos" panose="020B0004020202020204" pitchFamily="34" charset="0"/>
                <a:cs typeface="Times New Roman" panose="02020603050405020304" pitchFamily="18" charset="0"/>
              </a:rPr>
              <a:t> table to determine the cause and remedy</a:t>
            </a:r>
          </a:p>
          <a:p>
            <a:pPr>
              <a:lnSpc>
                <a:spcPct val="115000"/>
              </a:lnSpc>
              <a:spcAft>
                <a:spcPts val="800"/>
              </a:spcAft>
            </a:pPr>
            <a:r>
              <a:rPr lang="en-GB" kern="100" dirty="0">
                <a:latin typeface="Aptos" panose="020B0004020202020204" pitchFamily="34" charset="0"/>
                <a:ea typeface="Aptos" panose="020B0004020202020204" pitchFamily="34" charset="0"/>
                <a:cs typeface="Times New Roman" panose="02020603050405020304" pitchFamily="18" charset="0"/>
              </a:rPr>
              <a:t>6. Ie </a:t>
            </a:r>
            <a:r>
              <a:rPr lang="en-GB" dirty="0"/>
              <a:t>The technician should then have to list the correct repair from the table. </a:t>
            </a:r>
            <a:r>
              <a:rPr lang="en-GB" dirty="0">
                <a:solidFill>
                  <a:srgbClr val="FF0000"/>
                </a:solidFill>
              </a:rPr>
              <a:t>Reminder </a:t>
            </a:r>
            <a:r>
              <a:rPr lang="en-GB" dirty="0"/>
              <a:t>to use link from DTC to service manual for access to the fault finding table (if supported by that model).</a:t>
            </a:r>
          </a:p>
          <a:p>
            <a:pPr lvl="0">
              <a:lnSpc>
                <a:spcPct val="115000"/>
              </a:lnSpc>
              <a:spcAft>
                <a:spcPts val="800"/>
              </a:spcAft>
            </a:pPr>
            <a:endParaRPr lang="en-GB" sz="1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41358304"/>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391301-601E-5FB9-15F3-34812E2B3E97}"/>
              </a:ext>
            </a:extLst>
          </p:cNvPr>
          <p:cNvSpPr txBox="1"/>
          <p:nvPr/>
        </p:nvSpPr>
        <p:spPr>
          <a:xfrm>
            <a:off x="380144" y="770563"/>
            <a:ext cx="10099496" cy="6155468"/>
          </a:xfrm>
          <a:prstGeom prst="rect">
            <a:avLst/>
          </a:prstGeom>
          <a:noFill/>
        </p:spPr>
        <p:txBody>
          <a:bodyPr wrap="square">
            <a:spAutoFit/>
          </a:bodyPr>
          <a:lstStyle/>
          <a:p>
            <a:pPr>
              <a:lnSpc>
                <a:spcPct val="115000"/>
              </a:lnSpc>
              <a:spcAft>
                <a:spcPts val="800"/>
              </a:spcAft>
            </a:pPr>
            <a:r>
              <a:rPr lang="en-GB" sz="1200" u="sng"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Bonus Question:</a:t>
            </a:r>
            <a:r>
              <a:rPr lang="en-GB" sz="1200" u="sng" kern="100" dirty="0">
                <a:effectLst/>
                <a:latin typeface="Aptos" panose="020B0004020202020204" pitchFamily="34" charset="0"/>
                <a:ea typeface="Aptos" panose="020B0004020202020204" pitchFamily="34" charset="0"/>
                <a:cs typeface="Times New Roman" panose="02020603050405020304" pitchFamily="18" charset="0"/>
              </a:rPr>
              <a:t> one chance at getting right only! </a:t>
            </a:r>
            <a:r>
              <a:rPr lang="en-GB" sz="1200" u="sng" dirty="0"/>
              <a:t>But correct answer to be given following the attempt.</a:t>
            </a:r>
            <a:endParaRPr lang="en-GB" dirty="0"/>
          </a:p>
          <a:p>
            <a:pPr>
              <a:lnSpc>
                <a:spcPct val="115000"/>
              </a:lnSpc>
              <a:spcAft>
                <a:spcPts val="800"/>
              </a:spcAft>
              <a:buNone/>
            </a:pPr>
            <a:endParaRPr lang="en-GB" sz="20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lvl="0" indent="-228600">
              <a:lnSpc>
                <a:spcPct val="115000"/>
              </a:lnSpc>
              <a:buAutoNum type="arabicPeriod" startAt="7"/>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Hypothesise on a second related problem </a:t>
            </a:r>
            <a:endParaRPr lang="en-GB" sz="2000"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Q - If the same symptom scenario occurred, BUT no TDT access to KCU was possible (</a:t>
            </a:r>
            <a:r>
              <a:rPr lang="en-GB" sz="2000" kern="100" dirty="0" err="1">
                <a:effectLst/>
                <a:latin typeface="Aptos" panose="020B0004020202020204" pitchFamily="34" charset="0"/>
                <a:ea typeface="Aptos" panose="020B0004020202020204" pitchFamily="34" charset="0"/>
                <a:cs typeface="Times New Roman" panose="02020603050405020304" pitchFamily="18" charset="0"/>
              </a:rPr>
              <a:t>ie</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for the 30 sec </a:t>
            </a:r>
            <a:r>
              <a:rPr lang="en-GB" sz="2000" kern="100" dirty="0">
                <a:latin typeface="Aptos" panose="020B0004020202020204" pitchFamily="34" charset="0"/>
                <a:ea typeface="Aptos" panose="020B0004020202020204" pitchFamily="34" charset="0"/>
                <a:cs typeface="Times New Roman" panose="02020603050405020304" pitchFamily="18" charset="0"/>
              </a:rPr>
              <a:t> </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window), also no flash sequence on instruments (only the standard immobiliser sequence). What could this mean?  </a:t>
            </a:r>
          </a:p>
          <a:p>
            <a:pPr marL="457200">
              <a:lnSpc>
                <a:spcPct val="115000"/>
              </a:lnSpc>
              <a:buNone/>
            </a:pPr>
            <a:r>
              <a:rPr lang="en-GB" sz="2000"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A = Likely KCU not seeing input from switch gear. </a:t>
            </a:r>
            <a:endParaRPr lang="en-GB" sz="20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buNone/>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Include incorrect answers like:</a:t>
            </a:r>
          </a:p>
          <a:p>
            <a:pPr marL="342900" lvl="0" indent="-342900">
              <a:lnSpc>
                <a:spcPct val="115000"/>
              </a:lnSpc>
              <a:buFont typeface="Symbol" panose="05050102010706020507" pitchFamily="18" charset="2"/>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Instruments may have incorrect software</a:t>
            </a:r>
          </a:p>
          <a:p>
            <a:pPr marL="342900" lvl="0" indent="-342900">
              <a:lnSpc>
                <a:spcPct val="115000"/>
              </a:lnSpc>
              <a:buFont typeface="Symbol" panose="05050102010706020507" pitchFamily="18" charset="2"/>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The LED in the instruments might be inoperative</a:t>
            </a:r>
          </a:p>
          <a:p>
            <a:pPr marL="342900" lvl="0" indent="-342900">
              <a:lnSpc>
                <a:spcPct val="115000"/>
              </a:lnSpc>
              <a:buFont typeface="Symbol" panose="05050102010706020507" pitchFamily="18" charset="2"/>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A theft relay attack may have occurred and the bike has automatically shut down</a:t>
            </a:r>
          </a:p>
          <a:p>
            <a:pPr marL="342900" lvl="0" indent="-342900">
              <a:lnSpc>
                <a:spcPct val="115000"/>
              </a:lnSpc>
              <a:buFont typeface="Symbol" panose="05050102010706020507" pitchFamily="18" charset="2"/>
              <a:buChar char=""/>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The TDT software is out of date and requires updating </a:t>
            </a:r>
          </a:p>
          <a:p>
            <a:pPr marL="457200">
              <a:lnSpc>
                <a:spcPct val="115000"/>
              </a:lnSpc>
              <a:buNone/>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p>
          <a:p>
            <a:pPr marL="457200">
              <a:lnSpc>
                <a:spcPct val="115000"/>
              </a:lnSpc>
              <a:spcAft>
                <a:spcPts val="800"/>
              </a:spcAft>
              <a:buNone/>
            </a:pPr>
            <a:r>
              <a:rPr lang="en-GB" sz="2000" kern="100" dirty="0">
                <a:effectLst/>
                <a:latin typeface="Aptos" panose="020B0004020202020204" pitchFamily="34" charset="0"/>
                <a:ea typeface="Aptos" panose="020B0004020202020204" pitchFamily="34" charset="0"/>
                <a:cs typeface="Times New Roman" panose="02020603050405020304" pitchFamily="18" charset="0"/>
              </a:rPr>
              <a:t>Once correct answer selected, the answer can be expanded on </a:t>
            </a:r>
            <a:r>
              <a:rPr lang="en-GB" sz="2000" kern="100" dirty="0" err="1">
                <a:effectLst/>
                <a:latin typeface="Aptos" panose="020B0004020202020204" pitchFamily="34" charset="0"/>
                <a:ea typeface="Aptos" panose="020B0004020202020204" pitchFamily="34" charset="0"/>
                <a:cs typeface="Times New Roman" panose="02020603050405020304" pitchFamily="18" charset="0"/>
              </a:rPr>
              <a:t>ie</a:t>
            </a:r>
            <a:r>
              <a:rPr lang="en-GB" sz="2000" kern="100" dirty="0">
                <a:effectLst/>
                <a:latin typeface="Aptos" panose="020B0004020202020204" pitchFamily="34" charset="0"/>
                <a:ea typeface="Aptos" panose="020B0004020202020204" pitchFamily="34" charset="0"/>
                <a:cs typeface="Times New Roman" panose="02020603050405020304" pitchFamily="18" charset="0"/>
              </a:rPr>
              <a:t>: </a:t>
            </a:r>
            <a:r>
              <a:rPr lang="en-GB" sz="2000"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Possible Inoperative start switch/button or poor connection to start switch/button. Techs should get multi meter to check switch operation, as this would be the only way to check correct operation and circuit connection (</a:t>
            </a:r>
            <a:r>
              <a:rPr lang="en-GB" sz="2000" kern="100" dirty="0" err="1">
                <a:effectLst/>
                <a:highlight>
                  <a:srgbClr val="00FF00"/>
                </a:highlight>
                <a:latin typeface="Aptos" panose="020B0004020202020204" pitchFamily="34" charset="0"/>
                <a:ea typeface="Aptos" panose="020B0004020202020204" pitchFamily="34" charset="0"/>
                <a:cs typeface="Times New Roman" panose="02020603050405020304" pitchFamily="18" charset="0"/>
              </a:rPr>
              <a:t>ie</a:t>
            </a:r>
            <a:r>
              <a:rPr lang="en-GB" sz="2000" kern="100" dirty="0">
                <a:effectLst/>
                <a:highlight>
                  <a:srgbClr val="00FF00"/>
                </a:highlight>
                <a:latin typeface="Aptos" panose="020B0004020202020204" pitchFamily="34" charset="0"/>
                <a:ea typeface="Aptos" panose="020B0004020202020204" pitchFamily="34" charset="0"/>
                <a:cs typeface="Times New Roman" panose="02020603050405020304" pitchFamily="18" charset="0"/>
              </a:rPr>
              <a:t> TDT diagnostics not possible in this instance).</a:t>
            </a:r>
            <a:endParaRPr lang="en-GB"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12603365"/>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79A99-732E-3E5E-31FE-910935D02DE7}"/>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06E27C-2AA2-4D59-1120-8B469D0F8868}"/>
              </a:ext>
            </a:extLst>
          </p:cNvPr>
          <p:cNvPicPr>
            <a:picLocks noGrp="1" noChangeAspect="1"/>
          </p:cNvPicPr>
          <p:nvPr>
            <p:ph idx="1"/>
          </p:nvPr>
        </p:nvPicPr>
        <p:blipFill>
          <a:blip r:embed="rId2"/>
          <a:stretch>
            <a:fillRect/>
          </a:stretch>
        </p:blipFill>
        <p:spPr>
          <a:xfrm>
            <a:off x="3082770" y="1588983"/>
            <a:ext cx="6026460" cy="4064209"/>
          </a:xfrm>
          <a:prstGeom prst="rect">
            <a:avLst/>
          </a:prstGeom>
        </p:spPr>
      </p:pic>
      <p:sp>
        <p:nvSpPr>
          <p:cNvPr id="6" name="Title 1">
            <a:extLst>
              <a:ext uri="{FF2B5EF4-FFF2-40B4-BE49-F238E27FC236}">
                <a16:creationId xmlns:a16="http://schemas.microsoft.com/office/drawing/2014/main" id="{58F78D16-9A5C-2D9B-9143-7C787A510781}"/>
              </a:ext>
            </a:extLst>
          </p:cNvPr>
          <p:cNvSpPr txBox="1">
            <a:spLocks/>
          </p:cNvSpPr>
          <p:nvPr/>
        </p:nvSpPr>
        <p:spPr>
          <a:xfrm>
            <a:off x="762000" y="605072"/>
            <a:ext cx="10972800" cy="658085"/>
          </a:xfrm>
          <a:prstGeom prst="rect">
            <a:avLst/>
          </a:prstGeom>
        </p:spPr>
        <p:txBody>
          <a:bodyPr vert="horz" lIns="91410" tIns="45705" rIns="91410" bIns="45705" rtlCol="0" anchor="ctr">
            <a:normAutofit fontScale="97500"/>
          </a:bodyPr>
          <a:lstStyle>
            <a:lvl1pPr algn="l" defTabSz="1218720" rtl="0" eaLnBrk="1" latinLnBrk="0" hangingPunct="1">
              <a:spcBef>
                <a:spcPct val="0"/>
              </a:spcBef>
              <a:buNone/>
              <a:defRPr sz="3733" b="1" kern="1200">
                <a:solidFill>
                  <a:schemeClr val="tx1"/>
                </a:solidFill>
                <a:latin typeface="TriumphBrokman Heavy" pitchFamily="50" charset="0"/>
                <a:ea typeface="+mj-ea"/>
                <a:cs typeface="+mj-cs"/>
              </a:defRPr>
            </a:lvl1pPr>
          </a:lstStyle>
          <a:p>
            <a:r>
              <a:rPr lang="en-GB" dirty="0"/>
              <a:t>Instrument Panel Flash Sequences</a:t>
            </a:r>
          </a:p>
        </p:txBody>
      </p:sp>
    </p:spTree>
    <p:extLst>
      <p:ext uri="{BB962C8B-B14F-4D97-AF65-F5344CB8AC3E}">
        <p14:creationId xmlns:p14="http://schemas.microsoft.com/office/powerpoint/2010/main" val="161690089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84EDE70-2811-B348-12DB-20D127844213}"/>
              </a:ext>
            </a:extLst>
          </p:cNvPr>
          <p:cNvPicPr>
            <a:picLocks noChangeAspect="1"/>
          </p:cNvPicPr>
          <p:nvPr/>
        </p:nvPicPr>
        <p:blipFill>
          <a:blip r:embed="rId3"/>
          <a:stretch>
            <a:fillRect/>
          </a:stretch>
        </p:blipFill>
        <p:spPr>
          <a:xfrm>
            <a:off x="1219200" y="-328073"/>
            <a:ext cx="9617676" cy="7186073"/>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A02926D9-27E2-316D-BE2B-C9B40B893A6A}"/>
                  </a:ext>
                </a:extLst>
              </p14:cNvPr>
              <p14:cNvContentPartPr/>
              <p14:nvPr/>
            </p14:nvContentPartPr>
            <p14:xfrm>
              <a:off x="1262931" y="1872120"/>
              <a:ext cx="360" cy="360"/>
            </p14:xfrm>
          </p:contentPart>
        </mc:Choice>
        <mc:Fallback xmlns="">
          <p:pic>
            <p:nvPicPr>
              <p:cNvPr id="7" name="Ink 6">
                <a:extLst>
                  <a:ext uri="{FF2B5EF4-FFF2-40B4-BE49-F238E27FC236}">
                    <a16:creationId xmlns:a16="http://schemas.microsoft.com/office/drawing/2014/main" id="{A02926D9-27E2-316D-BE2B-C9B40B893A6A}"/>
                  </a:ext>
                </a:extLst>
              </p:cNvPr>
              <p:cNvPicPr/>
              <p:nvPr/>
            </p:nvPicPr>
            <p:blipFill>
              <a:blip r:embed="rId5"/>
              <a:stretch>
                <a:fillRect/>
              </a:stretch>
            </p:blipFill>
            <p:spPr>
              <a:xfrm>
                <a:off x="1256811" y="1866000"/>
                <a:ext cx="12600" cy="12600"/>
              </a:xfrm>
              <a:prstGeom prst="rect">
                <a:avLst/>
              </a:prstGeom>
            </p:spPr>
          </p:pic>
        </mc:Fallback>
      </mc:AlternateContent>
      <p:sp>
        <p:nvSpPr>
          <p:cNvPr id="8" name="Title 1">
            <a:extLst>
              <a:ext uri="{FF2B5EF4-FFF2-40B4-BE49-F238E27FC236}">
                <a16:creationId xmlns:a16="http://schemas.microsoft.com/office/drawing/2014/main" id="{75D4C31B-D457-15B7-C577-75EB0FA86C6F}"/>
              </a:ext>
            </a:extLst>
          </p:cNvPr>
          <p:cNvSpPr txBox="1">
            <a:spLocks/>
          </p:cNvSpPr>
          <p:nvPr/>
        </p:nvSpPr>
        <p:spPr>
          <a:xfrm>
            <a:off x="86497" y="-215402"/>
            <a:ext cx="10972800" cy="658284"/>
          </a:xfrm>
          <a:prstGeom prst="rect">
            <a:avLst/>
          </a:prstGeom>
        </p:spPr>
        <p:txBody>
          <a:bodyPr vert="horz" lIns="121880" tIns="60940" rIns="121880" bIns="60940" rtlCol="0" anchor="ctr">
            <a:normAutofit fontScale="82500" lnSpcReduction="10000"/>
          </a:bodyPr>
          <a:lstStyle>
            <a:lvl1pPr algn="l" defTabSz="914063" rtl="0" eaLnBrk="1" latinLnBrk="0" hangingPunct="1">
              <a:spcBef>
                <a:spcPct val="0"/>
              </a:spcBef>
              <a:buNone/>
              <a:defRPr sz="2800" b="1" kern="1200">
                <a:solidFill>
                  <a:schemeClr val="tx1"/>
                </a:solidFill>
                <a:latin typeface="TriumphBrokman" pitchFamily="50" charset="0"/>
                <a:ea typeface="+mj-ea"/>
                <a:cs typeface="+mj-cs"/>
              </a:defRPr>
            </a:lvl1pPr>
          </a:lstStyle>
          <a:p>
            <a:r>
              <a:rPr lang="en-GB" sz="2667" dirty="0"/>
              <a:t>Case Study Situation </a:t>
            </a:r>
            <a:r>
              <a:rPr lang="en-GB" sz="2667" dirty="0" err="1"/>
              <a:t>dtc</a:t>
            </a:r>
            <a:r>
              <a:rPr lang="en-GB" sz="2667" dirty="0"/>
              <a:t> table – (AR note - any </a:t>
            </a:r>
            <a:r>
              <a:rPr lang="en-GB" sz="2667" dirty="0" err="1"/>
              <a:t>dtc</a:t>
            </a:r>
            <a:r>
              <a:rPr lang="en-GB" sz="2667" dirty="0"/>
              <a:t> can apply but not ones with red line)  </a:t>
            </a:r>
          </a:p>
        </p:txBody>
      </p:sp>
      <p:sp>
        <p:nvSpPr>
          <p:cNvPr id="9" name="Rectangle 8">
            <a:extLst>
              <a:ext uri="{FF2B5EF4-FFF2-40B4-BE49-F238E27FC236}">
                <a16:creationId xmlns:a16="http://schemas.microsoft.com/office/drawing/2014/main" id="{421C0084-C1A7-B230-695E-56F6FD883260}"/>
              </a:ext>
            </a:extLst>
          </p:cNvPr>
          <p:cNvSpPr/>
          <p:nvPr/>
        </p:nvSpPr>
        <p:spPr>
          <a:xfrm flipV="1">
            <a:off x="1786935" y="972614"/>
            <a:ext cx="8617454" cy="4571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BDB316A-7D29-F77F-8876-827E9E784B5E}"/>
              </a:ext>
            </a:extLst>
          </p:cNvPr>
          <p:cNvSpPr/>
          <p:nvPr/>
        </p:nvSpPr>
        <p:spPr>
          <a:xfrm>
            <a:off x="1786935" y="5615660"/>
            <a:ext cx="8456816" cy="4571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533B3782-D171-E08C-8E4A-BA0D6E41B331}"/>
              </a:ext>
            </a:extLst>
          </p:cNvPr>
          <p:cNvSpPr/>
          <p:nvPr/>
        </p:nvSpPr>
        <p:spPr>
          <a:xfrm>
            <a:off x="1786935" y="6285172"/>
            <a:ext cx="8123183" cy="4571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2321710"/>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C6AA48-0039-40FA-9D6F-6F24967A8EC1}"/>
              </a:ext>
            </a:extLst>
          </p:cNvPr>
          <p:cNvSpPr txBox="1">
            <a:spLocks/>
          </p:cNvSpPr>
          <p:nvPr/>
        </p:nvSpPr>
        <p:spPr>
          <a:xfrm>
            <a:off x="0" y="452967"/>
            <a:ext cx="10972800" cy="658284"/>
          </a:xfrm>
          <a:prstGeom prst="rect">
            <a:avLst/>
          </a:prstGeom>
        </p:spPr>
        <p:txBody>
          <a:bodyPr vert="horz" lIns="121880" tIns="60940" rIns="121880" bIns="60940" rtlCol="0" anchor="ctr">
            <a:normAutofit fontScale="97500"/>
          </a:bodyPr>
          <a:lstStyle>
            <a:lvl1pPr algn="l" defTabSz="914063" rtl="0" eaLnBrk="1" latinLnBrk="0" hangingPunct="1">
              <a:spcBef>
                <a:spcPct val="0"/>
              </a:spcBef>
              <a:buNone/>
              <a:defRPr sz="2800" b="1" kern="1200">
                <a:solidFill>
                  <a:schemeClr val="tx1"/>
                </a:solidFill>
                <a:latin typeface="TriumphBrokman" pitchFamily="50" charset="0"/>
                <a:ea typeface="+mj-ea"/>
                <a:cs typeface="+mj-cs"/>
              </a:defRPr>
            </a:lvl1pPr>
          </a:lstStyle>
          <a:p>
            <a:r>
              <a:rPr lang="en-GB" sz="2667" dirty="0"/>
              <a:t>Keyless Ignition and Immobiliser System CASE STUDY - </a:t>
            </a:r>
            <a:r>
              <a:rPr lang="en-GB" sz="2667" dirty="0">
                <a:highlight>
                  <a:srgbClr val="FFFF00"/>
                </a:highlight>
              </a:rPr>
              <a:t>see separate word file</a:t>
            </a:r>
          </a:p>
        </p:txBody>
      </p:sp>
      <p:pic>
        <p:nvPicPr>
          <p:cNvPr id="3" name="Picture 2">
            <a:extLst>
              <a:ext uri="{FF2B5EF4-FFF2-40B4-BE49-F238E27FC236}">
                <a16:creationId xmlns:a16="http://schemas.microsoft.com/office/drawing/2014/main" id="{06530CB4-5B6D-4C4E-88FE-B9505E195603}"/>
              </a:ext>
            </a:extLst>
          </p:cNvPr>
          <p:cNvPicPr>
            <a:picLocks noChangeAspect="1"/>
          </p:cNvPicPr>
          <p:nvPr/>
        </p:nvPicPr>
        <p:blipFill>
          <a:blip r:embed="rId2"/>
          <a:stretch>
            <a:fillRect/>
          </a:stretch>
        </p:blipFill>
        <p:spPr>
          <a:xfrm>
            <a:off x="7839075" y="1100960"/>
            <a:ext cx="3779268" cy="4982909"/>
          </a:xfrm>
          <a:prstGeom prst="rect">
            <a:avLst/>
          </a:prstGeom>
        </p:spPr>
      </p:pic>
      <p:sp>
        <p:nvSpPr>
          <p:cNvPr id="9" name="TextBox 8">
            <a:extLst>
              <a:ext uri="{FF2B5EF4-FFF2-40B4-BE49-F238E27FC236}">
                <a16:creationId xmlns:a16="http://schemas.microsoft.com/office/drawing/2014/main" id="{8D02850F-6EAC-4E96-B1CE-1F31E2AE4D1F}"/>
              </a:ext>
            </a:extLst>
          </p:cNvPr>
          <p:cNvSpPr txBox="1"/>
          <p:nvPr/>
        </p:nvSpPr>
        <p:spPr>
          <a:xfrm>
            <a:off x="2543605" y="1796819"/>
            <a:ext cx="6154056" cy="2862322"/>
          </a:xfrm>
          <a:prstGeom prst="rect">
            <a:avLst/>
          </a:prstGeom>
          <a:noFill/>
        </p:spPr>
        <p:txBody>
          <a:bodyPr wrap="square">
            <a:spAutoFit/>
          </a:bodyPr>
          <a:lstStyle/>
          <a:p>
            <a:pPr algn="l"/>
            <a:r>
              <a:rPr lang="en-GB" sz="1200" b="1" dirty="0">
                <a:latin typeface="TriumphBrokman-Bold" panose="00000800000000000000" pitchFamily="50" charset="0"/>
              </a:rPr>
              <a:t>1. Fuse box 1</a:t>
            </a:r>
          </a:p>
          <a:p>
            <a:pPr algn="l"/>
            <a:r>
              <a:rPr lang="en-GB" sz="1200" b="1" dirty="0">
                <a:latin typeface="TriumphBrokman-Bold" panose="00000800000000000000" pitchFamily="50" charset="0"/>
              </a:rPr>
              <a:t>2. Electronic steering lock</a:t>
            </a:r>
          </a:p>
          <a:p>
            <a:pPr algn="l"/>
            <a:r>
              <a:rPr lang="en-US" sz="1200" b="1" dirty="0">
                <a:latin typeface="TriumphBrokman-Bold" panose="00000800000000000000" pitchFamily="50" charset="0"/>
              </a:rPr>
              <a:t>3. Electronic steering lock connector</a:t>
            </a:r>
          </a:p>
          <a:p>
            <a:pPr algn="l"/>
            <a:r>
              <a:rPr lang="en-GB" sz="1200" b="1" dirty="0">
                <a:latin typeface="TriumphBrokman-Bold" panose="00000800000000000000" pitchFamily="50" charset="0"/>
              </a:rPr>
              <a:t>4. Instruments</a:t>
            </a:r>
          </a:p>
          <a:p>
            <a:pPr algn="l"/>
            <a:r>
              <a:rPr lang="en-GB" sz="1200" b="1" dirty="0">
                <a:latin typeface="TriumphBrokman-Bold" panose="00000800000000000000" pitchFamily="50" charset="0"/>
              </a:rPr>
              <a:t>5. Engine </a:t>
            </a:r>
            <a:r>
              <a:rPr lang="en-GB" sz="1200" b="1" dirty="0" err="1">
                <a:latin typeface="TriumphBrokman-Bold" panose="00000800000000000000" pitchFamily="50" charset="0"/>
              </a:rPr>
              <a:t>subharness</a:t>
            </a:r>
            <a:endParaRPr lang="en-GB" sz="1200" b="1" dirty="0">
              <a:latin typeface="TriumphBrokman-Bold" panose="00000800000000000000" pitchFamily="50" charset="0"/>
            </a:endParaRPr>
          </a:p>
          <a:p>
            <a:pPr algn="l"/>
            <a:r>
              <a:rPr lang="en-GB" sz="1200" b="1" dirty="0">
                <a:latin typeface="TriumphBrokman-Bold" panose="00000800000000000000" pitchFamily="50" charset="0"/>
              </a:rPr>
              <a:t>6. Chassis ECM</a:t>
            </a:r>
          </a:p>
          <a:p>
            <a:pPr algn="l"/>
            <a:r>
              <a:rPr lang="en-US" sz="1200" b="1" dirty="0">
                <a:latin typeface="TriumphBrokman-Bold" panose="00000800000000000000" pitchFamily="50" charset="0"/>
              </a:rPr>
              <a:t>7. Right hand switch housing connector</a:t>
            </a:r>
          </a:p>
          <a:p>
            <a:pPr algn="l"/>
            <a:r>
              <a:rPr lang="en-US" sz="1200" b="1" dirty="0">
                <a:latin typeface="TriumphBrokman-Bold" panose="00000800000000000000" pitchFamily="50" charset="0"/>
              </a:rPr>
              <a:t>8. Right hand switch housing</a:t>
            </a:r>
          </a:p>
          <a:p>
            <a:pPr algn="l"/>
            <a:r>
              <a:rPr lang="en-GB" sz="1200" b="1" dirty="0">
                <a:latin typeface="TriumphBrokman-Bold" panose="00000800000000000000" pitchFamily="50" charset="0"/>
              </a:rPr>
              <a:t>9. LF antenna</a:t>
            </a:r>
          </a:p>
          <a:p>
            <a:pPr algn="l"/>
            <a:r>
              <a:rPr lang="en-GB" sz="1200" b="1" dirty="0">
                <a:latin typeface="TriumphBrokman-Bold" panose="00000800000000000000" pitchFamily="50" charset="0"/>
              </a:rPr>
              <a:t>10. LF antenna connector</a:t>
            </a:r>
          </a:p>
          <a:p>
            <a:pPr algn="l"/>
            <a:r>
              <a:rPr lang="en-GB" sz="1200" b="1" dirty="0">
                <a:latin typeface="TriumphBrokman-Bold" panose="00000800000000000000" pitchFamily="50" charset="0"/>
              </a:rPr>
              <a:t>11. LF antenna</a:t>
            </a:r>
          </a:p>
          <a:p>
            <a:pPr algn="l"/>
            <a:r>
              <a:rPr lang="en-GB" sz="1200" b="1" dirty="0">
                <a:latin typeface="TriumphBrokman-Bold" panose="00000800000000000000" pitchFamily="50" charset="0"/>
              </a:rPr>
              <a:t>12. LF antenna connector</a:t>
            </a:r>
          </a:p>
          <a:p>
            <a:pPr algn="l"/>
            <a:r>
              <a:rPr lang="en-GB" sz="1200" b="1" dirty="0">
                <a:latin typeface="TriumphBrokman-Bold" panose="00000800000000000000" pitchFamily="50" charset="0"/>
              </a:rPr>
              <a:t>13. Engine ground</a:t>
            </a:r>
          </a:p>
          <a:p>
            <a:pPr algn="l"/>
            <a:r>
              <a:rPr lang="en-GB" sz="1200" b="1" dirty="0">
                <a:latin typeface="TriumphBrokman-Bold" panose="00000800000000000000" pitchFamily="50" charset="0"/>
              </a:rPr>
              <a:t>14. Fuel filler cap</a:t>
            </a:r>
          </a:p>
          <a:p>
            <a:pPr algn="l"/>
            <a:r>
              <a:rPr lang="en-GB" sz="1200" b="1" dirty="0">
                <a:latin typeface="TriumphBrokman-Bold" panose="00000800000000000000" pitchFamily="50" charset="0"/>
              </a:rPr>
              <a:t>15. Keyless control unit</a:t>
            </a:r>
            <a:endParaRPr lang="en-GB" sz="2400" dirty="0"/>
          </a:p>
        </p:txBody>
      </p:sp>
    </p:spTree>
    <p:extLst>
      <p:ext uri="{BB962C8B-B14F-4D97-AF65-F5344CB8AC3E}">
        <p14:creationId xmlns:p14="http://schemas.microsoft.com/office/powerpoint/2010/main" val="4207064913"/>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349086-40B9-A4EF-2326-1B0E8B5B9D36}"/>
              </a:ext>
            </a:extLst>
          </p:cNvPr>
          <p:cNvSpPr txBox="1"/>
          <p:nvPr/>
        </p:nvSpPr>
        <p:spPr>
          <a:xfrm>
            <a:off x="3098800" y="2273300"/>
            <a:ext cx="6268319" cy="369332"/>
          </a:xfrm>
          <a:prstGeom prst="rect">
            <a:avLst/>
          </a:prstGeom>
          <a:noFill/>
        </p:spPr>
        <p:txBody>
          <a:bodyPr wrap="none" rtlCol="0">
            <a:spAutoFit/>
          </a:bodyPr>
          <a:lstStyle/>
          <a:p>
            <a:r>
              <a:rPr lang="en-IT" dirty="0"/>
              <a:t>The following questions all have useful to remember answers.</a:t>
            </a:r>
          </a:p>
        </p:txBody>
      </p:sp>
      <p:sp>
        <p:nvSpPr>
          <p:cNvPr id="3" name="TextBox 2">
            <a:extLst>
              <a:ext uri="{FF2B5EF4-FFF2-40B4-BE49-F238E27FC236}">
                <a16:creationId xmlns:a16="http://schemas.microsoft.com/office/drawing/2014/main" id="{F2154413-9028-D4EA-1524-4C5484BF0CAF}"/>
              </a:ext>
            </a:extLst>
          </p:cNvPr>
          <p:cNvSpPr txBox="1"/>
          <p:nvPr/>
        </p:nvSpPr>
        <p:spPr>
          <a:xfrm>
            <a:off x="1270000" y="1511300"/>
            <a:ext cx="9010993" cy="369332"/>
          </a:xfrm>
          <a:prstGeom prst="rect">
            <a:avLst/>
          </a:prstGeom>
          <a:noFill/>
        </p:spPr>
        <p:txBody>
          <a:bodyPr wrap="none" rtlCol="0">
            <a:spAutoFit/>
          </a:bodyPr>
          <a:lstStyle/>
          <a:p>
            <a:r>
              <a:rPr lang="en-IT" dirty="0"/>
              <a:t>The answers to the following questions can be found in the attached PDF document [LINK]</a:t>
            </a:r>
          </a:p>
        </p:txBody>
      </p:sp>
      <p:sp>
        <p:nvSpPr>
          <p:cNvPr id="4" name="Title 1">
            <a:extLst>
              <a:ext uri="{FF2B5EF4-FFF2-40B4-BE49-F238E27FC236}">
                <a16:creationId xmlns:a16="http://schemas.microsoft.com/office/drawing/2014/main" id="{E718B454-EEAD-B42E-466D-FEC1D569D646}"/>
              </a:ext>
            </a:extLst>
          </p:cNvPr>
          <p:cNvSpPr txBox="1">
            <a:spLocks/>
          </p:cNvSpPr>
          <p:nvPr/>
        </p:nvSpPr>
        <p:spPr>
          <a:xfrm>
            <a:off x="1219200" y="357718"/>
            <a:ext cx="10972800" cy="656167"/>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Keyless Facts for Diagnostics</a:t>
            </a:r>
            <a:endParaRPr lang="en-GB" dirty="0"/>
          </a:p>
        </p:txBody>
      </p:sp>
    </p:spTree>
    <p:extLst>
      <p:ext uri="{BB962C8B-B14F-4D97-AF65-F5344CB8AC3E}">
        <p14:creationId xmlns:p14="http://schemas.microsoft.com/office/powerpoint/2010/main" val="12132822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4E09DFE-DF34-276D-4C20-C6F3BFE86E28}"/>
              </a:ext>
            </a:extLst>
          </p:cNvPr>
          <p:cNvSpPr txBox="1"/>
          <p:nvPr/>
        </p:nvSpPr>
        <p:spPr>
          <a:xfrm>
            <a:off x="3048000" y="2690336"/>
            <a:ext cx="6096000" cy="2031325"/>
          </a:xfrm>
          <a:prstGeom prst="rect">
            <a:avLst/>
          </a:prstGeom>
          <a:noFill/>
        </p:spPr>
        <p:txBody>
          <a:bodyPr wrap="square">
            <a:spAutoFit/>
          </a:bodyPr>
          <a:lstStyle/>
          <a:p>
            <a:r>
              <a:rPr lang="en-IT" dirty="0"/>
              <a:t>Q1. How often do the smart key and KCU contact each other?</a:t>
            </a:r>
          </a:p>
          <a:p>
            <a:pPr marL="342900" indent="-342900">
              <a:buAutoNum type="arabicPeriod"/>
            </a:pPr>
            <a:endParaRPr lang="en-IT" dirty="0"/>
          </a:p>
          <a:p>
            <a:r>
              <a:rPr lang="en-IT" dirty="0"/>
              <a:t>A. Once, during start-up only. ✅</a:t>
            </a:r>
          </a:p>
          <a:p>
            <a:r>
              <a:rPr lang="en-IT" dirty="0"/>
              <a:t>B. Every 30 seconds while the ignition is on.</a:t>
            </a:r>
          </a:p>
          <a:p>
            <a:r>
              <a:rPr lang="en-IT" dirty="0"/>
              <a:t>C. Continuously whenever the key is nearby.</a:t>
            </a:r>
          </a:p>
          <a:p>
            <a:r>
              <a:rPr lang="en-IT" dirty="0"/>
              <a:t>D. Every time the rider touches the handlebars.</a:t>
            </a:r>
          </a:p>
        </p:txBody>
      </p:sp>
    </p:spTree>
    <p:extLst>
      <p:ext uri="{BB962C8B-B14F-4D97-AF65-F5344CB8AC3E}">
        <p14:creationId xmlns:p14="http://schemas.microsoft.com/office/powerpoint/2010/main" val="61011019"/>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4DA23-3BFE-BE4F-BE0F-EE6A8DDE3E2B}"/>
              </a:ext>
            </a:extLst>
          </p:cNvPr>
          <p:cNvSpPr txBox="1"/>
          <p:nvPr/>
        </p:nvSpPr>
        <p:spPr>
          <a:xfrm>
            <a:off x="3048000" y="2551837"/>
            <a:ext cx="6096000" cy="2031325"/>
          </a:xfrm>
          <a:prstGeom prst="rect">
            <a:avLst/>
          </a:prstGeom>
          <a:noFill/>
        </p:spPr>
        <p:txBody>
          <a:bodyPr wrap="square">
            <a:spAutoFit/>
          </a:bodyPr>
          <a:lstStyle/>
          <a:p>
            <a:r>
              <a:rPr lang="en-IT" dirty="0"/>
              <a:t>Q2. If communication fails, how is this indicated?</a:t>
            </a:r>
          </a:p>
          <a:p>
            <a:endParaRPr lang="en-IT" dirty="0"/>
          </a:p>
          <a:p>
            <a:r>
              <a:rPr lang="en-IT" dirty="0"/>
              <a:t>A. The immobiliser LED flashes the appropriate sequence. A "Key not found" message is not displayed. ✅</a:t>
            </a:r>
          </a:p>
          <a:p>
            <a:r>
              <a:rPr lang="en-IT" dirty="0"/>
              <a:t>B. The TFT immediately displays "Key not found."</a:t>
            </a:r>
          </a:p>
          <a:p>
            <a:r>
              <a:rPr lang="en-IT" dirty="0"/>
              <a:t>C. The engine stops immediately.</a:t>
            </a:r>
          </a:p>
          <a:p>
            <a:r>
              <a:rPr lang="en-IT" dirty="0"/>
              <a:t>D. The horn sounds repeatedly until the key is found.</a:t>
            </a:r>
          </a:p>
        </p:txBody>
      </p:sp>
    </p:spTree>
    <p:extLst>
      <p:ext uri="{BB962C8B-B14F-4D97-AF65-F5344CB8AC3E}">
        <p14:creationId xmlns:p14="http://schemas.microsoft.com/office/powerpoint/2010/main" val="10928953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8B8FFC-FF7B-D771-804C-8C77849DD2B7}"/>
              </a:ext>
            </a:extLst>
          </p:cNvPr>
          <p:cNvSpPr txBox="1"/>
          <p:nvPr/>
        </p:nvSpPr>
        <p:spPr>
          <a:xfrm>
            <a:off x="3048000" y="2413338"/>
            <a:ext cx="6096000" cy="2308324"/>
          </a:xfrm>
          <a:prstGeom prst="rect">
            <a:avLst/>
          </a:prstGeom>
          <a:noFill/>
        </p:spPr>
        <p:txBody>
          <a:bodyPr wrap="square">
            <a:spAutoFit/>
          </a:bodyPr>
          <a:lstStyle/>
          <a:p>
            <a:r>
              <a:rPr lang="en-IT" dirty="0"/>
              <a:t>Q3. How is a "Key not found" message cleared while the engine is running?</a:t>
            </a:r>
          </a:p>
          <a:p>
            <a:endParaRPr lang="en-IT" dirty="0"/>
          </a:p>
          <a:p>
            <a:r>
              <a:rPr lang="en-IT" dirty="0"/>
              <a:t>A. Once communication is restored, the message no longer appears. ✅</a:t>
            </a:r>
          </a:p>
          <a:p>
            <a:r>
              <a:rPr lang="en-IT" dirty="0"/>
              <a:t>B. Switch the ignition off and back on.</a:t>
            </a:r>
          </a:p>
          <a:p>
            <a:r>
              <a:rPr lang="en-IT" dirty="0"/>
              <a:t>C. Hold the joystick centre button for five seconds.</a:t>
            </a:r>
          </a:p>
          <a:p>
            <a:r>
              <a:rPr lang="en-IT" dirty="0"/>
              <a:t>D. Remove and refit the smart key battery.</a:t>
            </a:r>
          </a:p>
        </p:txBody>
      </p:sp>
    </p:spTree>
    <p:extLst>
      <p:ext uri="{BB962C8B-B14F-4D97-AF65-F5344CB8AC3E}">
        <p14:creationId xmlns:p14="http://schemas.microsoft.com/office/powerpoint/2010/main" val="313992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448C07-7DC9-6C57-19BB-BA8873916C4F}"/>
              </a:ext>
            </a:extLst>
          </p:cNvPr>
          <p:cNvSpPr txBox="1"/>
          <p:nvPr/>
        </p:nvSpPr>
        <p:spPr>
          <a:xfrm>
            <a:off x="3048000" y="2413338"/>
            <a:ext cx="6096000" cy="2308324"/>
          </a:xfrm>
          <a:prstGeom prst="rect">
            <a:avLst/>
          </a:prstGeom>
          <a:noFill/>
        </p:spPr>
        <p:txBody>
          <a:bodyPr wrap="square">
            <a:spAutoFit/>
          </a:bodyPr>
          <a:lstStyle/>
          <a:p>
            <a:r>
              <a:rPr lang="en-IT" dirty="0"/>
              <a:t>Q4. What message is displayed when starting the motorcycle using a passive key (or a smart key operating in passive mode)?</a:t>
            </a:r>
          </a:p>
          <a:p>
            <a:endParaRPr lang="en-IT" dirty="0"/>
          </a:p>
          <a:p>
            <a:r>
              <a:rPr lang="en-IT" dirty="0"/>
              <a:t>A. No error message is displayed. ✅</a:t>
            </a:r>
          </a:p>
          <a:p>
            <a:r>
              <a:rPr lang="en-IT" dirty="0"/>
              <a:t>B. "Passive key detected."</a:t>
            </a:r>
          </a:p>
          <a:p>
            <a:r>
              <a:rPr lang="en-IT" dirty="0"/>
              <a:t>C. "Key battery low."</a:t>
            </a:r>
          </a:p>
          <a:p>
            <a:r>
              <a:rPr lang="en-IT" dirty="0"/>
              <a:t>D. "Limited key mode."</a:t>
            </a:r>
          </a:p>
        </p:txBody>
      </p:sp>
    </p:spTree>
    <p:extLst>
      <p:ext uri="{BB962C8B-B14F-4D97-AF65-F5344CB8AC3E}">
        <p14:creationId xmlns:p14="http://schemas.microsoft.com/office/powerpoint/2010/main" val="35681287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670E93-3BEE-91CC-418C-A735653A31D5}"/>
              </a:ext>
            </a:extLst>
          </p:cNvPr>
          <p:cNvSpPr txBox="1"/>
          <p:nvPr/>
        </p:nvSpPr>
        <p:spPr>
          <a:xfrm>
            <a:off x="3048000" y="2274838"/>
            <a:ext cx="6096000" cy="2862322"/>
          </a:xfrm>
          <a:prstGeom prst="rect">
            <a:avLst/>
          </a:prstGeom>
          <a:noFill/>
        </p:spPr>
        <p:txBody>
          <a:bodyPr wrap="square">
            <a:spAutoFit/>
          </a:bodyPr>
          <a:lstStyle/>
          <a:p>
            <a:r>
              <a:rPr lang="en-IT" dirty="0"/>
              <a:t>Q5. A rider starts the motorcycle using a smart key, then switches it into passive mode to conserve the key battery.</a:t>
            </a:r>
          </a:p>
          <a:p>
            <a:endParaRPr lang="en-IT" dirty="0"/>
          </a:p>
          <a:p>
            <a:r>
              <a:rPr lang="en-IT" dirty="0"/>
              <a:t>What happens?</a:t>
            </a:r>
          </a:p>
          <a:p>
            <a:endParaRPr lang="en-IT" dirty="0"/>
          </a:p>
          <a:p>
            <a:r>
              <a:rPr lang="en-IT" dirty="0"/>
              <a:t>A. No error message is shown. However, the motorcycle will not restart after the ignition is switched off. ✅</a:t>
            </a:r>
          </a:p>
          <a:p>
            <a:r>
              <a:rPr lang="en-IT" dirty="0"/>
              <a:t>B. The engine stops immediately.</a:t>
            </a:r>
          </a:p>
          <a:p>
            <a:r>
              <a:rPr lang="en-IT" dirty="0"/>
              <a:t>C. A "Key battery low" warning appears.</a:t>
            </a:r>
          </a:p>
          <a:p>
            <a:r>
              <a:rPr lang="en-IT" dirty="0"/>
              <a:t>D. Passive mode is cancelled automatically.</a:t>
            </a:r>
          </a:p>
        </p:txBody>
      </p:sp>
    </p:spTree>
    <p:extLst>
      <p:ext uri="{BB962C8B-B14F-4D97-AF65-F5344CB8AC3E}">
        <p14:creationId xmlns:p14="http://schemas.microsoft.com/office/powerpoint/2010/main" val="41669979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F4895F-014B-B494-F2F8-E3759F40AB66}"/>
              </a:ext>
            </a:extLst>
          </p:cNvPr>
          <p:cNvSpPr txBox="1"/>
          <p:nvPr/>
        </p:nvSpPr>
        <p:spPr>
          <a:xfrm>
            <a:off x="3048000" y="2413338"/>
            <a:ext cx="6096000" cy="2308324"/>
          </a:xfrm>
          <a:prstGeom prst="rect">
            <a:avLst/>
          </a:prstGeom>
          <a:noFill/>
        </p:spPr>
        <p:txBody>
          <a:bodyPr wrap="square">
            <a:spAutoFit/>
          </a:bodyPr>
          <a:lstStyle/>
          <a:p>
            <a:r>
              <a:rPr lang="en-IT" dirty="0"/>
              <a:t>Q6. Which statement about the CR2032 battery used in Triumph keyless fobs is correct?</a:t>
            </a:r>
          </a:p>
          <a:p>
            <a:endParaRPr lang="en-IT" dirty="0"/>
          </a:p>
          <a:p>
            <a:r>
              <a:rPr lang="en-IT" dirty="0"/>
              <a:t>A. It is a 3 V battery with a 2 V service limit. ✅</a:t>
            </a:r>
          </a:p>
          <a:p>
            <a:r>
              <a:rPr lang="en-IT" dirty="0"/>
              <a:t>B. It is a 1.5 V battery that should be replaced below 1 V.</a:t>
            </a:r>
          </a:p>
          <a:p>
            <a:r>
              <a:rPr lang="en-IT" dirty="0"/>
              <a:t>C. It is a rechargeable 3.7 V lithium battery.</a:t>
            </a:r>
          </a:p>
          <a:p>
            <a:r>
              <a:rPr lang="en-IT" dirty="0"/>
              <a:t>D. Battery voltage is measured with no electrical load applied.</a:t>
            </a:r>
          </a:p>
        </p:txBody>
      </p:sp>
    </p:spTree>
    <p:extLst>
      <p:ext uri="{BB962C8B-B14F-4D97-AF65-F5344CB8AC3E}">
        <p14:creationId xmlns:p14="http://schemas.microsoft.com/office/powerpoint/2010/main" val="16581881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8396A0-E962-F50A-C5D1-0504F2B4B4AF}"/>
              </a:ext>
            </a:extLst>
          </p:cNvPr>
          <p:cNvSpPr txBox="1"/>
          <p:nvPr/>
        </p:nvSpPr>
        <p:spPr>
          <a:xfrm>
            <a:off x="3048000" y="2551837"/>
            <a:ext cx="6096000" cy="2031325"/>
          </a:xfrm>
          <a:prstGeom prst="rect">
            <a:avLst/>
          </a:prstGeom>
          <a:noFill/>
        </p:spPr>
        <p:txBody>
          <a:bodyPr wrap="square">
            <a:spAutoFit/>
          </a:bodyPr>
          <a:lstStyle/>
          <a:p>
            <a:r>
              <a:rPr lang="en-IT" dirty="0"/>
              <a:t>Q7. What DTC is logged if the key battery voltage falls below the 2 V service limit?</a:t>
            </a:r>
          </a:p>
          <a:p>
            <a:endParaRPr lang="en-IT" dirty="0"/>
          </a:p>
          <a:p>
            <a:r>
              <a:rPr lang="en-IT" dirty="0"/>
              <a:t>A. No DTC is logged. ✅</a:t>
            </a:r>
          </a:p>
          <a:p>
            <a:r>
              <a:rPr lang="en-IT" dirty="0"/>
              <a:t>B. Immobiliser communication fault.</a:t>
            </a:r>
          </a:p>
          <a:p>
            <a:r>
              <a:rPr lang="en-IT" dirty="0"/>
              <a:t>C. Low battery DTC stored in the KCU.</a:t>
            </a:r>
          </a:p>
          <a:p>
            <a:r>
              <a:rPr lang="en-IT" dirty="0"/>
              <a:t>D. CAN communication fault.</a:t>
            </a:r>
          </a:p>
        </p:txBody>
      </p:sp>
    </p:spTree>
    <p:extLst>
      <p:ext uri="{BB962C8B-B14F-4D97-AF65-F5344CB8AC3E}">
        <p14:creationId xmlns:p14="http://schemas.microsoft.com/office/powerpoint/2010/main" val="38386112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1B97A8-4944-0787-F2C4-FDD220884061}"/>
              </a:ext>
            </a:extLst>
          </p:cNvPr>
          <p:cNvSpPr txBox="1"/>
          <p:nvPr/>
        </p:nvSpPr>
        <p:spPr>
          <a:xfrm>
            <a:off x="3048000" y="2551837"/>
            <a:ext cx="6096000" cy="2031325"/>
          </a:xfrm>
          <a:prstGeom prst="rect">
            <a:avLst/>
          </a:prstGeom>
          <a:noFill/>
        </p:spPr>
        <p:txBody>
          <a:bodyPr wrap="square">
            <a:spAutoFit/>
          </a:bodyPr>
          <a:lstStyle/>
          <a:p>
            <a:r>
              <a:rPr lang="en-IT" dirty="0"/>
              <a:t>Q7. What DTC is logged if the key battery voltage falls below the 2 V service limit?</a:t>
            </a:r>
          </a:p>
          <a:p>
            <a:endParaRPr lang="en-IT" dirty="0"/>
          </a:p>
          <a:p>
            <a:r>
              <a:rPr lang="en-IT" dirty="0"/>
              <a:t>A. No DTC is logged. ✅</a:t>
            </a:r>
          </a:p>
          <a:p>
            <a:r>
              <a:rPr lang="en-IT" dirty="0"/>
              <a:t>B. Immobiliser communication fault.</a:t>
            </a:r>
          </a:p>
          <a:p>
            <a:r>
              <a:rPr lang="en-IT" dirty="0"/>
              <a:t>C. Low battery DTC stored in the KCU.</a:t>
            </a:r>
          </a:p>
          <a:p>
            <a:r>
              <a:rPr lang="en-IT" dirty="0"/>
              <a:t>D. CAN communication fault.</a:t>
            </a:r>
          </a:p>
        </p:txBody>
      </p:sp>
    </p:spTree>
    <p:extLst>
      <p:ext uri="{BB962C8B-B14F-4D97-AF65-F5344CB8AC3E}">
        <p14:creationId xmlns:p14="http://schemas.microsoft.com/office/powerpoint/2010/main" val="2434718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7513</TotalTime>
  <Words>6195</Words>
  <Application>Microsoft Macintosh PowerPoint</Application>
  <PresentationFormat>Widescreen</PresentationFormat>
  <Paragraphs>507</Paragraphs>
  <Slides>60</Slides>
  <Notes>12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9" baseType="lpstr">
      <vt:lpstr>Aptos</vt:lpstr>
      <vt:lpstr>Aptos Display</vt:lpstr>
      <vt:lpstr>Arial</vt:lpstr>
      <vt:lpstr>Calibri</vt:lpstr>
      <vt:lpstr>Symbol</vt:lpstr>
      <vt:lpstr>TriumphBrokman</vt:lpstr>
      <vt:lpstr>TriumphBrokman-Bold</vt:lpstr>
      <vt:lpstr>Office Theme</vt:lpstr>
      <vt:lpstr>Worksheet</vt:lpstr>
      <vt:lpstr>Introduction and Welcome</vt:lpstr>
      <vt:lpstr>Intro text</vt:lpstr>
      <vt:lpstr>Navigation</vt:lpstr>
      <vt:lpstr>Key vs Keyless Immobiliser Comparrison</vt:lpstr>
      <vt:lpstr>Similarities of Key and Keyless Immobiliser</vt:lpstr>
      <vt:lpstr>There are 4 types of immobiliser system used across the model range</vt:lpstr>
      <vt:lpstr>Principal Differences of Key and Keyless Immobiliser / Ignition System</vt:lpstr>
      <vt:lpstr>PowerPoint Presentation</vt:lpstr>
      <vt:lpstr>Summary of the Immobiliser Systems</vt:lpstr>
      <vt:lpstr>Some Principal Differences </vt:lpstr>
      <vt:lpstr>Differences in Components of the Systems</vt:lpstr>
      <vt:lpstr>Key Type Immobiliser Systems</vt:lpstr>
      <vt:lpstr>Some Details</vt:lpstr>
      <vt:lpstr>Keyless intro</vt:lpstr>
      <vt:lpstr>Key to Control Unit Communication</vt:lpstr>
      <vt:lpstr>PowerPoint Presentation</vt:lpstr>
      <vt:lpstr>Key to Control Unit Communication</vt:lpstr>
      <vt:lpstr>PowerPoint Presentation</vt:lpstr>
      <vt:lpstr>PowerPoint Presentation</vt:lpstr>
      <vt:lpstr>PowerPoint Presentation</vt:lpstr>
      <vt:lpstr>Example – keyless system ignition-on process YELLOW - What customer perceives as being the state of bike. BLUE – Actual state of bike. </vt:lpstr>
      <vt:lpstr>Wake Up Sequence – note don’t mix item number up with stage number (Use with previous slide)</vt:lpstr>
      <vt:lpstr>Important Note</vt:lpstr>
      <vt:lpstr>Key Pairing</vt:lpstr>
      <vt:lpstr>Key Pairing Note</vt:lpstr>
      <vt:lpstr>PowerPoint Presentation</vt:lpstr>
      <vt:lpstr>PowerPoint Presentation</vt:lpstr>
      <vt:lpstr>General Key and Keyless Information Points commonly overlooked - 5 Questions </vt:lpstr>
      <vt:lpstr>General Key and Keyless Information Points commonly overlooked - 5 Questions </vt:lpstr>
      <vt:lpstr>General Key and Keyless Information Points commonly overlooked - 5 Questions </vt:lpstr>
      <vt:lpstr>General Key and Keyless Information Points commonly overlooked - 5 Questions </vt:lpstr>
      <vt:lpstr>General Key and Keyless Information Points commonly overlooked - 5 Questions </vt:lpstr>
      <vt:lpstr>Key Signal Function Test - Keyless Ignition Models</vt:lpstr>
      <vt:lpstr>UHF Key Detection</vt:lpstr>
      <vt:lpstr>LF Key Detection</vt:lpstr>
      <vt:lpstr>Cooker Knob Isolator Switch - Ignition Master Switch Link </vt:lpstr>
      <vt:lpstr>Key pairing failure possible causes</vt:lpstr>
      <vt:lpstr>Important Keyless Notes</vt:lpstr>
      <vt:lpstr>PowerPoint Presentation</vt:lpstr>
      <vt:lpstr>TPMS</vt:lpstr>
      <vt:lpstr>TPMS operation</vt:lpstr>
      <vt:lpstr>Keyed TPMS Pairing Flow - Keyed</vt:lpstr>
      <vt:lpstr>TPMS Data Screen</vt:lpstr>
      <vt:lpstr>2 x different frequencies and part numbers to suit - Keys</vt:lpstr>
      <vt:lpstr>TPMS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R</dc:creator>
  <cp:lastModifiedBy>Adam R</cp:lastModifiedBy>
  <cp:revision>9</cp:revision>
  <dcterms:created xsi:type="dcterms:W3CDTF">2026-06-16T08:19:33Z</dcterms:created>
  <dcterms:modified xsi:type="dcterms:W3CDTF">2026-06-25T13:14:54Z</dcterms:modified>
</cp:coreProperties>
</file>